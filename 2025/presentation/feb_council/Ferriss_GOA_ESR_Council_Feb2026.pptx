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
  </p:notesMasterIdLst>
  <p:sldIdLst>
    <p:sldId id="386" r:id="rId2"/>
  </p:sldIdLst>
  <p:sldSz cx="6858000" cy="5143500"/>
  <p:notesSz cx="6858000" cy="9144000"/>
  <p:embeddedFontLst>
    <p:embeddedFont>
      <p:font typeface="Cambria" panose="02040503050406030204" pitchFamily="18"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67F"/>
    <a:srgbClr val="FFEED9"/>
    <a:srgbClr val="92D050"/>
    <a:srgbClr val="68BDCE"/>
    <a:srgbClr val="007434"/>
    <a:srgbClr val="FCD5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49" autoAdjust="0"/>
    <p:restoredTop sz="76392" autoAdjust="0"/>
  </p:normalViewPr>
  <p:slideViewPr>
    <p:cSldViewPr snapToGrid="0">
      <p:cViewPr varScale="1">
        <p:scale>
          <a:sx n="111" d="100"/>
          <a:sy n="111" d="100"/>
        </p:scale>
        <p:origin x="2328" y="12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32B19E6-7E4E-097F-41C1-D9C469062DAE}"/>
            </a:ext>
          </a:extLst>
        </p:cNvPr>
        <p:cNvGrpSpPr/>
        <p:nvPr/>
      </p:nvGrpSpPr>
      <p:grpSpPr>
        <a:xfrm>
          <a:off x="0" y="0"/>
          <a:ext cx="0" cy="0"/>
          <a:chOff x="0" y="0"/>
          <a:chExt cx="0" cy="0"/>
        </a:xfrm>
      </p:grpSpPr>
      <p:sp>
        <p:nvSpPr>
          <p:cNvPr id="180" name="Google Shape;180;g1683a721e02_0_1643:notes">
            <a:extLst>
              <a:ext uri="{FF2B5EF4-FFF2-40B4-BE49-F238E27FC236}">
                <a16:creationId xmlns:a16="http://schemas.microsoft.com/office/drawing/2014/main" id="{50675FFD-F9BF-D8C8-7F2A-D96E57B5259E}"/>
              </a:ext>
            </a:extLst>
          </p:cNvPr>
          <p:cNvSpPr>
            <a:spLocks noGrp="1" noRot="1" noChangeAspect="1"/>
          </p:cNvSpPr>
          <p:nvPr>
            <p:ph type="sldImg" idx="2"/>
          </p:nvPr>
        </p:nvSpPr>
        <p:spPr>
          <a:xfrm>
            <a:off x="1166813" y="693738"/>
            <a:ext cx="4616450" cy="34623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g1683a721e02_0_1643:notes">
            <a:extLst>
              <a:ext uri="{FF2B5EF4-FFF2-40B4-BE49-F238E27FC236}">
                <a16:creationId xmlns:a16="http://schemas.microsoft.com/office/drawing/2014/main" id="{CEE740A1-51BC-DF65-7F9A-EF6779812A48}"/>
              </a:ext>
            </a:extLst>
          </p:cNvPr>
          <p:cNvSpPr txBox="1">
            <a:spLocks noGrp="1"/>
          </p:cNvSpPr>
          <p:nvPr>
            <p:ph type="body" idx="1"/>
          </p:nvPr>
        </p:nvSpPr>
        <p:spPr>
          <a:xfrm>
            <a:off x="695324" y="4387451"/>
            <a:ext cx="5559300" cy="4155300"/>
          </a:xfrm>
          <a:prstGeom prst="rect">
            <a:avLst/>
          </a:prstGeom>
          <a:noFill/>
          <a:ln>
            <a:noFill/>
          </a:ln>
        </p:spPr>
        <p:txBody>
          <a:bodyPr spcFirstLastPara="1" wrap="square" lIns="91425" tIns="91425" rIns="91425" bIns="91425" anchor="t" anchorCtr="0">
            <a:noAutofit/>
          </a:bodyPr>
          <a:lstStyle/>
          <a:p>
            <a:r>
              <a:rPr lang="en-US" b="0" dirty="0">
                <a:effectLst/>
              </a:rPr>
              <a:t>The Gulf of Alaska Ecosystem Status Report for 2025 was used to inform the GOA Pacific cod risk table. The full report is attached to the Council’s e-agenda. </a:t>
            </a:r>
          </a:p>
          <a:p>
            <a:r>
              <a:rPr lang="en-US" b="0" dirty="0">
                <a:effectLst/>
              </a:rPr>
              <a:t>In summary, 2025 Gulf of Alaska had warm water at the surface, at the depth on the shelf and offshore, through most of the seasons except a cooling at the surface in the summer – different this year was the warm water at depth (shelf bottom) persisting throughout the year (similar to 2015 temperatures). </a:t>
            </a:r>
          </a:p>
          <a:p>
            <a:r>
              <a:rPr lang="en-US" sz="1100" b="0" i="0" u="none" strike="noStrike" cap="none" baseline="0" dirty="0">
                <a:solidFill>
                  <a:srgbClr val="000000"/>
                </a:solidFill>
                <a:effectLst/>
                <a:latin typeface="Arial"/>
                <a:ea typeface="Arial"/>
                <a:cs typeface="Arial"/>
                <a:sym typeface="Arial"/>
              </a:rPr>
              <a:t>There were</a:t>
            </a:r>
            <a:r>
              <a:rPr lang="en-US" sz="1100" b="0" i="0" u="none" strike="noStrike" cap="none" baseline="0" dirty="0">
                <a:solidFill>
                  <a:srgbClr val="000000"/>
                </a:solidFill>
                <a:latin typeface="Arial"/>
                <a:ea typeface="Arial"/>
                <a:cs typeface="Arial"/>
                <a:sym typeface="Arial"/>
              </a:rPr>
              <a:t> signs of reduced lower trophic level production, similar to observations at the beginning of the 2014-2016 marine heatwave</a:t>
            </a:r>
          </a:p>
          <a:p>
            <a:r>
              <a:rPr lang="en-US" sz="1100" b="0" i="0" u="none" strike="noStrike" cap="none" baseline="0" dirty="0">
                <a:solidFill>
                  <a:srgbClr val="000000"/>
                </a:solidFill>
                <a:latin typeface="Arial"/>
                <a:ea typeface="Arial"/>
                <a:cs typeface="Arial"/>
                <a:sym typeface="Arial"/>
              </a:rPr>
              <a:t>Fewer signs of warm water impacts were observed in higher trophic levels, (different from the marine heatwave period) </a:t>
            </a:r>
          </a:p>
          <a:p>
            <a:r>
              <a:rPr lang="en-US" sz="1100" b="0" i="0" u="none" strike="noStrike" cap="none" baseline="0" dirty="0">
                <a:solidFill>
                  <a:srgbClr val="000000"/>
                </a:solidFill>
                <a:latin typeface="Arial"/>
                <a:cs typeface="Arial"/>
                <a:sym typeface="Arial"/>
              </a:rPr>
              <a:t>2026 is predicted to experience average to cooler sea surface temperatures in the winter/spring </a:t>
            </a:r>
          </a:p>
          <a:p>
            <a:r>
              <a:rPr lang="en-US" sz="1100" b="0" i="0" u="none" strike="noStrike" cap="none" baseline="0" dirty="0">
                <a:solidFill>
                  <a:srgbClr val="000000"/>
                </a:solidFill>
                <a:latin typeface="Arial"/>
                <a:cs typeface="Arial"/>
                <a:sym typeface="Arial"/>
              </a:rPr>
              <a:t>BUT there are concerns of residual heat in the GOA system that could lead to cumulative ecosystem effects in the marine ecosystem with potentially challenging environmental conditions for cod in 2026. </a:t>
            </a:r>
            <a:endParaRPr dirty="0"/>
          </a:p>
        </p:txBody>
      </p:sp>
      <p:sp>
        <p:nvSpPr>
          <p:cNvPr id="182" name="Google Shape;182;g1683a721e02_0_1643:notes">
            <a:extLst>
              <a:ext uri="{FF2B5EF4-FFF2-40B4-BE49-F238E27FC236}">
                <a16:creationId xmlns:a16="http://schemas.microsoft.com/office/drawing/2014/main" id="{5B958B26-BE5E-0996-3D9B-CDED17D382BB}"/>
              </a:ext>
            </a:extLst>
          </p:cNvPr>
          <p:cNvSpPr txBox="1">
            <a:spLocks noGrp="1"/>
          </p:cNvSpPr>
          <p:nvPr>
            <p:ph type="sldNum" idx="12"/>
          </p:nvPr>
        </p:nvSpPr>
        <p:spPr>
          <a:xfrm>
            <a:off x="3937010" y="8773324"/>
            <a:ext cx="3011400" cy="461100"/>
          </a:xfrm>
          <a:prstGeom prst="rect">
            <a:avLst/>
          </a:prstGeom>
          <a:noFill/>
          <a:ln>
            <a:noFill/>
          </a:ln>
        </p:spPr>
        <p:txBody>
          <a:bodyPr spcFirstLastPara="1" wrap="square" lIns="92475" tIns="46225" rIns="92475" bIns="46225" anchor="b" anchorCtr="0">
            <a:noAutofit/>
          </a:bodyPr>
          <a:lstStyle/>
          <a:p>
            <a:pPr marL="0" lvl="0" indent="0" algn="r" rtl="0">
              <a:lnSpc>
                <a:spcPct val="100000"/>
              </a:lnSpc>
              <a:spcBef>
                <a:spcPts val="0"/>
              </a:spcBef>
              <a:spcAft>
                <a:spcPts val="0"/>
              </a:spcAft>
              <a:buClr>
                <a:schemeClr val="dk1"/>
              </a:buClr>
              <a:buSzPts val="300"/>
              <a:buFont typeface="Arial"/>
              <a:buNone/>
            </a:pPr>
            <a:fld id="{00000000-1234-1234-1234-123412341234}" type="slidenum">
              <a:rPr lang="en"/>
              <a:t>1</a:t>
            </a:fld>
            <a:endParaRPr/>
          </a:p>
        </p:txBody>
      </p:sp>
    </p:spTree>
    <p:extLst>
      <p:ext uri="{BB962C8B-B14F-4D97-AF65-F5344CB8AC3E}">
        <p14:creationId xmlns:p14="http://schemas.microsoft.com/office/powerpoint/2010/main" val="994447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367688" y="450150"/>
            <a:ext cx="477585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3600"/>
            </a:lvl1pPr>
            <a:lvl2pPr lvl="1">
              <a:spcBef>
                <a:spcPts val="0"/>
              </a:spcBef>
              <a:spcAft>
                <a:spcPts val="0"/>
              </a:spcAft>
              <a:buSzPts val="4800"/>
              <a:buNone/>
              <a:defRPr sz="3600"/>
            </a:lvl2pPr>
            <a:lvl3pPr lvl="2">
              <a:spcBef>
                <a:spcPts val="0"/>
              </a:spcBef>
              <a:spcAft>
                <a:spcPts val="0"/>
              </a:spcAft>
              <a:buSzPts val="4800"/>
              <a:buNone/>
              <a:defRPr sz="3600"/>
            </a:lvl3pPr>
            <a:lvl4pPr lvl="3">
              <a:spcBef>
                <a:spcPts val="0"/>
              </a:spcBef>
              <a:spcAft>
                <a:spcPts val="0"/>
              </a:spcAft>
              <a:buSzPts val="4800"/>
              <a:buNone/>
              <a:defRPr sz="3600"/>
            </a:lvl4pPr>
            <a:lvl5pPr lvl="4">
              <a:spcBef>
                <a:spcPts val="0"/>
              </a:spcBef>
              <a:spcAft>
                <a:spcPts val="0"/>
              </a:spcAft>
              <a:buSzPts val="4800"/>
              <a:buNone/>
              <a:defRPr sz="3600"/>
            </a:lvl5pPr>
            <a:lvl6pPr lvl="5">
              <a:spcBef>
                <a:spcPts val="0"/>
              </a:spcBef>
              <a:spcAft>
                <a:spcPts val="0"/>
              </a:spcAft>
              <a:buSzPts val="4800"/>
              <a:buNone/>
              <a:defRPr sz="3600"/>
            </a:lvl6pPr>
            <a:lvl7pPr lvl="6">
              <a:spcBef>
                <a:spcPts val="0"/>
              </a:spcBef>
              <a:spcAft>
                <a:spcPts val="0"/>
              </a:spcAft>
              <a:buSzPts val="4800"/>
              <a:buNone/>
              <a:defRPr sz="3600"/>
            </a:lvl7pPr>
            <a:lvl8pPr lvl="7">
              <a:spcBef>
                <a:spcPts val="0"/>
              </a:spcBef>
              <a:spcAft>
                <a:spcPts val="0"/>
              </a:spcAft>
              <a:buSzPts val="4800"/>
              <a:buNone/>
              <a:defRPr sz="3600"/>
            </a:lvl8pPr>
            <a:lvl9pPr lvl="8">
              <a:spcBef>
                <a:spcPts val="0"/>
              </a:spcBef>
              <a:spcAft>
                <a:spcPts val="0"/>
              </a:spcAft>
              <a:buSzPts val="4800"/>
              <a:buNone/>
              <a:defRPr sz="3600"/>
            </a:lvl9pPr>
          </a:lstStyle>
          <a:p>
            <a:endParaRPr/>
          </a:p>
        </p:txBody>
      </p:sp>
      <p:sp>
        <p:nvSpPr>
          <p:cNvPr id="34" name="Google Shape;34;p8"/>
          <p:cNvSpPr txBox="1">
            <a:spLocks noGrp="1"/>
          </p:cNvSpPr>
          <p:nvPr>
            <p:ph type="sldNum" idx="12"/>
          </p:nvPr>
        </p:nvSpPr>
        <p:spPr>
          <a:xfrm>
            <a:off x="6354344" y="4663217"/>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429000" y="-125"/>
            <a:ext cx="3429000" cy="5143500"/>
          </a:xfrm>
          <a:prstGeom prst="rect">
            <a:avLst/>
          </a:prstGeom>
          <a:solidFill>
            <a:schemeClr val="lt2"/>
          </a:solidFill>
          <a:ln>
            <a:noFill/>
          </a:ln>
        </p:spPr>
        <p:txBody>
          <a:bodyPr spcFirstLastPara="1" wrap="square" lIns="68569" tIns="68569" rIns="68569" bIns="68569" anchor="ctr" anchorCtr="0">
            <a:noAutofit/>
          </a:bodyPr>
          <a:lstStyle/>
          <a:p>
            <a:pPr marL="0" lvl="0" indent="0" algn="l" rtl="0">
              <a:spcBef>
                <a:spcPts val="0"/>
              </a:spcBef>
              <a:spcAft>
                <a:spcPts val="0"/>
              </a:spcAft>
              <a:buNone/>
            </a:pPr>
            <a:endParaRPr sz="1050"/>
          </a:p>
        </p:txBody>
      </p:sp>
      <p:sp>
        <p:nvSpPr>
          <p:cNvPr id="37" name="Google Shape;37;p9"/>
          <p:cNvSpPr txBox="1">
            <a:spLocks noGrp="1"/>
          </p:cNvSpPr>
          <p:nvPr>
            <p:ph type="title"/>
          </p:nvPr>
        </p:nvSpPr>
        <p:spPr>
          <a:xfrm>
            <a:off x="199125" y="1233175"/>
            <a:ext cx="30339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3150"/>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38" name="Google Shape;38;p9"/>
          <p:cNvSpPr txBox="1">
            <a:spLocks noGrp="1"/>
          </p:cNvSpPr>
          <p:nvPr>
            <p:ph type="subTitle" idx="1"/>
          </p:nvPr>
        </p:nvSpPr>
        <p:spPr>
          <a:xfrm>
            <a:off x="199125" y="2803075"/>
            <a:ext cx="30339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1575"/>
            </a:lvl1pPr>
            <a:lvl2pPr lvl="1" algn="ctr">
              <a:lnSpc>
                <a:spcPct val="100000"/>
              </a:lnSpc>
              <a:spcBef>
                <a:spcPts val="0"/>
              </a:spcBef>
              <a:spcAft>
                <a:spcPts val="0"/>
              </a:spcAft>
              <a:buSzPts val="2100"/>
              <a:buNone/>
              <a:defRPr sz="1575"/>
            </a:lvl2pPr>
            <a:lvl3pPr lvl="2" algn="ctr">
              <a:lnSpc>
                <a:spcPct val="100000"/>
              </a:lnSpc>
              <a:spcBef>
                <a:spcPts val="0"/>
              </a:spcBef>
              <a:spcAft>
                <a:spcPts val="0"/>
              </a:spcAft>
              <a:buSzPts val="2100"/>
              <a:buNone/>
              <a:defRPr sz="1575"/>
            </a:lvl3pPr>
            <a:lvl4pPr lvl="3" algn="ctr">
              <a:lnSpc>
                <a:spcPct val="100000"/>
              </a:lnSpc>
              <a:spcBef>
                <a:spcPts val="0"/>
              </a:spcBef>
              <a:spcAft>
                <a:spcPts val="0"/>
              </a:spcAft>
              <a:buSzPts val="2100"/>
              <a:buNone/>
              <a:defRPr sz="1575"/>
            </a:lvl4pPr>
            <a:lvl5pPr lvl="4" algn="ctr">
              <a:lnSpc>
                <a:spcPct val="100000"/>
              </a:lnSpc>
              <a:spcBef>
                <a:spcPts val="0"/>
              </a:spcBef>
              <a:spcAft>
                <a:spcPts val="0"/>
              </a:spcAft>
              <a:buSzPts val="2100"/>
              <a:buNone/>
              <a:defRPr sz="1575"/>
            </a:lvl5pPr>
            <a:lvl6pPr lvl="5" algn="ctr">
              <a:lnSpc>
                <a:spcPct val="100000"/>
              </a:lnSpc>
              <a:spcBef>
                <a:spcPts val="0"/>
              </a:spcBef>
              <a:spcAft>
                <a:spcPts val="0"/>
              </a:spcAft>
              <a:buSzPts val="2100"/>
              <a:buNone/>
              <a:defRPr sz="1575"/>
            </a:lvl6pPr>
            <a:lvl7pPr lvl="6" algn="ctr">
              <a:lnSpc>
                <a:spcPct val="100000"/>
              </a:lnSpc>
              <a:spcBef>
                <a:spcPts val="0"/>
              </a:spcBef>
              <a:spcAft>
                <a:spcPts val="0"/>
              </a:spcAft>
              <a:buSzPts val="2100"/>
              <a:buNone/>
              <a:defRPr sz="1575"/>
            </a:lvl7pPr>
            <a:lvl8pPr lvl="7" algn="ctr">
              <a:lnSpc>
                <a:spcPct val="100000"/>
              </a:lnSpc>
              <a:spcBef>
                <a:spcPts val="0"/>
              </a:spcBef>
              <a:spcAft>
                <a:spcPts val="0"/>
              </a:spcAft>
              <a:buSzPts val="2100"/>
              <a:buNone/>
              <a:defRPr sz="1575"/>
            </a:lvl8pPr>
            <a:lvl9pPr lvl="8" algn="ctr">
              <a:lnSpc>
                <a:spcPct val="100000"/>
              </a:lnSpc>
              <a:spcBef>
                <a:spcPts val="0"/>
              </a:spcBef>
              <a:spcAft>
                <a:spcPts val="0"/>
              </a:spcAft>
              <a:buSzPts val="2100"/>
              <a:buNone/>
              <a:defRPr sz="1575"/>
            </a:lvl9pPr>
          </a:lstStyle>
          <a:p>
            <a:endParaRPr/>
          </a:p>
        </p:txBody>
      </p:sp>
      <p:sp>
        <p:nvSpPr>
          <p:cNvPr id="39" name="Google Shape;39;p9"/>
          <p:cNvSpPr txBox="1">
            <a:spLocks noGrp="1"/>
          </p:cNvSpPr>
          <p:nvPr>
            <p:ph type="body" idx="2"/>
          </p:nvPr>
        </p:nvSpPr>
        <p:spPr>
          <a:xfrm>
            <a:off x="3704625" y="724075"/>
            <a:ext cx="2877750" cy="3695100"/>
          </a:xfrm>
          <a:prstGeom prst="rect">
            <a:avLst/>
          </a:prstGeom>
        </p:spPr>
        <p:txBody>
          <a:bodyPr spcFirstLastPara="1" wrap="square" lIns="91425" tIns="91425" rIns="91425" bIns="91425" anchor="ctr" anchorCtr="0">
            <a:normAutofit/>
          </a:bodyPr>
          <a:lstStyle>
            <a:lvl1pPr marL="342900" lvl="0" indent="-257175">
              <a:spcBef>
                <a:spcPts val="0"/>
              </a:spcBef>
              <a:spcAft>
                <a:spcPts val="0"/>
              </a:spcAft>
              <a:buSzPts val="1800"/>
              <a:buChar char="●"/>
              <a:defRPr/>
            </a:lvl1pPr>
            <a:lvl2pPr marL="685800" lvl="1" indent="-238125">
              <a:spcBef>
                <a:spcPts val="0"/>
              </a:spcBef>
              <a:spcAft>
                <a:spcPts val="0"/>
              </a:spcAft>
              <a:buSzPts val="1400"/>
              <a:buChar char="○"/>
              <a:defRPr/>
            </a:lvl2pPr>
            <a:lvl3pPr marL="1028700" lvl="2" indent="-238125">
              <a:spcBef>
                <a:spcPts val="0"/>
              </a:spcBef>
              <a:spcAft>
                <a:spcPts val="0"/>
              </a:spcAft>
              <a:buSzPts val="1400"/>
              <a:buChar char="■"/>
              <a:defRPr/>
            </a:lvl3pPr>
            <a:lvl4pPr marL="1371600" lvl="3" indent="-238125">
              <a:spcBef>
                <a:spcPts val="0"/>
              </a:spcBef>
              <a:spcAft>
                <a:spcPts val="0"/>
              </a:spcAft>
              <a:buSzPts val="1400"/>
              <a:buChar char="●"/>
              <a:defRPr/>
            </a:lvl4pPr>
            <a:lvl5pPr marL="1714500" lvl="4" indent="-238125">
              <a:spcBef>
                <a:spcPts val="0"/>
              </a:spcBef>
              <a:spcAft>
                <a:spcPts val="0"/>
              </a:spcAft>
              <a:buSzPts val="1400"/>
              <a:buChar char="○"/>
              <a:defRPr/>
            </a:lvl5pPr>
            <a:lvl6pPr marL="2057400" lvl="5" indent="-238125">
              <a:spcBef>
                <a:spcPts val="0"/>
              </a:spcBef>
              <a:spcAft>
                <a:spcPts val="0"/>
              </a:spcAft>
              <a:buSzPts val="1400"/>
              <a:buChar char="■"/>
              <a:defRPr/>
            </a:lvl6pPr>
            <a:lvl7pPr marL="2400300" lvl="6" indent="-238125">
              <a:spcBef>
                <a:spcPts val="0"/>
              </a:spcBef>
              <a:spcAft>
                <a:spcPts val="0"/>
              </a:spcAft>
              <a:buSzPts val="1400"/>
              <a:buChar char="●"/>
              <a:defRPr/>
            </a:lvl7pPr>
            <a:lvl8pPr marL="2743200" lvl="7" indent="-238125">
              <a:spcBef>
                <a:spcPts val="0"/>
              </a:spcBef>
              <a:spcAft>
                <a:spcPts val="0"/>
              </a:spcAft>
              <a:buSzPts val="1400"/>
              <a:buChar char="○"/>
              <a:defRPr/>
            </a:lvl8pPr>
            <a:lvl9pPr marL="3086100" lvl="8" indent="-238125">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6354344" y="4663217"/>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33775" y="4230575"/>
            <a:ext cx="4499100" cy="605100"/>
          </a:xfrm>
          <a:prstGeom prst="rect">
            <a:avLst/>
          </a:prstGeom>
        </p:spPr>
        <p:txBody>
          <a:bodyPr spcFirstLastPara="1" wrap="square" lIns="91425" tIns="91425" rIns="91425" bIns="91425" anchor="ctr" anchorCtr="0">
            <a:normAutofit/>
          </a:bodyPr>
          <a:lstStyle>
            <a:lvl1pPr marL="342900" lvl="0" indent="-17145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6354344" y="4663217"/>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33775" y="1106125"/>
            <a:ext cx="639045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9000"/>
            </a:lvl1pPr>
            <a:lvl2pPr lvl="1" algn="ctr">
              <a:spcBef>
                <a:spcPts val="0"/>
              </a:spcBef>
              <a:spcAft>
                <a:spcPts val="0"/>
              </a:spcAft>
              <a:buSzPts val="12000"/>
              <a:buNone/>
              <a:defRPr sz="9000"/>
            </a:lvl2pPr>
            <a:lvl3pPr lvl="2" algn="ctr">
              <a:spcBef>
                <a:spcPts val="0"/>
              </a:spcBef>
              <a:spcAft>
                <a:spcPts val="0"/>
              </a:spcAft>
              <a:buSzPts val="12000"/>
              <a:buNone/>
              <a:defRPr sz="9000"/>
            </a:lvl3pPr>
            <a:lvl4pPr lvl="3" algn="ctr">
              <a:spcBef>
                <a:spcPts val="0"/>
              </a:spcBef>
              <a:spcAft>
                <a:spcPts val="0"/>
              </a:spcAft>
              <a:buSzPts val="12000"/>
              <a:buNone/>
              <a:defRPr sz="9000"/>
            </a:lvl4pPr>
            <a:lvl5pPr lvl="4" algn="ctr">
              <a:spcBef>
                <a:spcPts val="0"/>
              </a:spcBef>
              <a:spcAft>
                <a:spcPts val="0"/>
              </a:spcAft>
              <a:buSzPts val="12000"/>
              <a:buNone/>
              <a:defRPr sz="9000"/>
            </a:lvl5pPr>
            <a:lvl6pPr lvl="5" algn="ctr">
              <a:spcBef>
                <a:spcPts val="0"/>
              </a:spcBef>
              <a:spcAft>
                <a:spcPts val="0"/>
              </a:spcAft>
              <a:buSzPts val="12000"/>
              <a:buNone/>
              <a:defRPr sz="9000"/>
            </a:lvl6pPr>
            <a:lvl7pPr lvl="6" algn="ctr">
              <a:spcBef>
                <a:spcPts val="0"/>
              </a:spcBef>
              <a:spcAft>
                <a:spcPts val="0"/>
              </a:spcAft>
              <a:buSzPts val="12000"/>
              <a:buNone/>
              <a:defRPr sz="9000"/>
            </a:lvl7pPr>
            <a:lvl8pPr lvl="7" algn="ctr">
              <a:spcBef>
                <a:spcPts val="0"/>
              </a:spcBef>
              <a:spcAft>
                <a:spcPts val="0"/>
              </a:spcAft>
              <a:buSzPts val="12000"/>
              <a:buNone/>
              <a:defRPr sz="9000"/>
            </a:lvl8pPr>
            <a:lvl9pPr lvl="8" algn="ctr">
              <a:spcBef>
                <a:spcPts val="0"/>
              </a:spcBef>
              <a:spcAft>
                <a:spcPts val="0"/>
              </a:spcAft>
              <a:buSzPts val="12000"/>
              <a:buNone/>
              <a:defRPr sz="9000"/>
            </a:lvl9pPr>
          </a:lstStyle>
          <a:p>
            <a:r>
              <a:t>xx%</a:t>
            </a:r>
          </a:p>
        </p:txBody>
      </p:sp>
      <p:sp>
        <p:nvSpPr>
          <p:cNvPr id="46" name="Google Shape;46;p11"/>
          <p:cNvSpPr txBox="1">
            <a:spLocks noGrp="1"/>
          </p:cNvSpPr>
          <p:nvPr>
            <p:ph type="body" idx="1"/>
          </p:nvPr>
        </p:nvSpPr>
        <p:spPr>
          <a:xfrm>
            <a:off x="233775" y="3152225"/>
            <a:ext cx="6390450" cy="1300800"/>
          </a:xfrm>
          <a:prstGeom prst="rect">
            <a:avLst/>
          </a:prstGeom>
        </p:spPr>
        <p:txBody>
          <a:bodyPr spcFirstLastPara="1" wrap="square" lIns="91425" tIns="91425" rIns="91425" bIns="91425" anchor="t" anchorCtr="0">
            <a:normAutofit/>
          </a:bodyPr>
          <a:lstStyle>
            <a:lvl1pPr marL="342900" lvl="0" indent="-257175" algn="ctr">
              <a:spcBef>
                <a:spcPts val="0"/>
              </a:spcBef>
              <a:spcAft>
                <a:spcPts val="0"/>
              </a:spcAft>
              <a:buSzPts val="1800"/>
              <a:buChar char="●"/>
              <a:defRPr/>
            </a:lvl1pPr>
            <a:lvl2pPr marL="685800" lvl="1" indent="-238125" algn="ctr">
              <a:spcBef>
                <a:spcPts val="0"/>
              </a:spcBef>
              <a:spcAft>
                <a:spcPts val="0"/>
              </a:spcAft>
              <a:buSzPts val="1400"/>
              <a:buChar char="○"/>
              <a:defRPr/>
            </a:lvl2pPr>
            <a:lvl3pPr marL="1028700" lvl="2" indent="-238125" algn="ctr">
              <a:spcBef>
                <a:spcPts val="0"/>
              </a:spcBef>
              <a:spcAft>
                <a:spcPts val="0"/>
              </a:spcAft>
              <a:buSzPts val="1400"/>
              <a:buChar char="■"/>
              <a:defRPr/>
            </a:lvl3pPr>
            <a:lvl4pPr marL="1371600" lvl="3" indent="-238125" algn="ctr">
              <a:spcBef>
                <a:spcPts val="0"/>
              </a:spcBef>
              <a:spcAft>
                <a:spcPts val="0"/>
              </a:spcAft>
              <a:buSzPts val="1400"/>
              <a:buChar char="●"/>
              <a:defRPr/>
            </a:lvl4pPr>
            <a:lvl5pPr marL="1714500" lvl="4" indent="-238125" algn="ctr">
              <a:spcBef>
                <a:spcPts val="0"/>
              </a:spcBef>
              <a:spcAft>
                <a:spcPts val="0"/>
              </a:spcAft>
              <a:buSzPts val="1400"/>
              <a:buChar char="○"/>
              <a:defRPr/>
            </a:lvl5pPr>
            <a:lvl6pPr marL="2057400" lvl="5" indent="-238125" algn="ctr">
              <a:spcBef>
                <a:spcPts val="0"/>
              </a:spcBef>
              <a:spcAft>
                <a:spcPts val="0"/>
              </a:spcAft>
              <a:buSzPts val="1400"/>
              <a:buChar char="■"/>
              <a:defRPr/>
            </a:lvl6pPr>
            <a:lvl7pPr marL="2400300" lvl="6" indent="-238125" algn="ctr">
              <a:spcBef>
                <a:spcPts val="0"/>
              </a:spcBef>
              <a:spcAft>
                <a:spcPts val="0"/>
              </a:spcAft>
              <a:buSzPts val="1400"/>
              <a:buChar char="●"/>
              <a:defRPr/>
            </a:lvl7pPr>
            <a:lvl8pPr marL="2743200" lvl="7" indent="-238125" algn="ctr">
              <a:spcBef>
                <a:spcPts val="0"/>
              </a:spcBef>
              <a:spcAft>
                <a:spcPts val="0"/>
              </a:spcAft>
              <a:buSzPts val="1400"/>
              <a:buChar char="○"/>
              <a:defRPr/>
            </a:lvl8pPr>
            <a:lvl9pPr marL="3086100" lvl="8" indent="-238125"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6354344" y="4663217"/>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6354344" y="4663217"/>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3775" y="445025"/>
            <a:ext cx="639045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33775" y="1152475"/>
            <a:ext cx="639045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6354344" y="4663217"/>
            <a:ext cx="411525" cy="393600"/>
          </a:xfrm>
          <a:prstGeom prst="rect">
            <a:avLst/>
          </a:prstGeom>
          <a:noFill/>
          <a:ln>
            <a:noFill/>
          </a:ln>
        </p:spPr>
        <p:txBody>
          <a:bodyPr spcFirstLastPara="1" wrap="square" lIns="91425" tIns="91425" rIns="91425" bIns="91425" anchor="ctr" anchorCtr="0">
            <a:normAutofit/>
          </a:bodyPr>
          <a:lstStyle>
            <a:lvl1pPr lvl="0" algn="r">
              <a:buNone/>
              <a:defRPr sz="750">
                <a:solidFill>
                  <a:schemeClr val="dk2"/>
                </a:solidFill>
              </a:defRPr>
            </a:lvl1pPr>
            <a:lvl2pPr lvl="1" algn="r">
              <a:buNone/>
              <a:defRPr sz="750">
                <a:solidFill>
                  <a:schemeClr val="dk2"/>
                </a:solidFill>
              </a:defRPr>
            </a:lvl2pPr>
            <a:lvl3pPr lvl="2" algn="r">
              <a:buNone/>
              <a:defRPr sz="750">
                <a:solidFill>
                  <a:schemeClr val="dk2"/>
                </a:solidFill>
              </a:defRPr>
            </a:lvl3pPr>
            <a:lvl4pPr lvl="3" algn="r">
              <a:buNone/>
              <a:defRPr sz="750">
                <a:solidFill>
                  <a:schemeClr val="dk2"/>
                </a:solidFill>
              </a:defRPr>
            </a:lvl4pPr>
            <a:lvl5pPr lvl="4" algn="r">
              <a:buNone/>
              <a:defRPr sz="750">
                <a:solidFill>
                  <a:schemeClr val="dk2"/>
                </a:solidFill>
              </a:defRPr>
            </a:lvl5pPr>
            <a:lvl6pPr lvl="5" algn="r">
              <a:buNone/>
              <a:defRPr sz="750">
                <a:solidFill>
                  <a:schemeClr val="dk2"/>
                </a:solidFill>
              </a:defRPr>
            </a:lvl6pPr>
            <a:lvl7pPr lvl="6" algn="r">
              <a:buNone/>
              <a:defRPr sz="750">
                <a:solidFill>
                  <a:schemeClr val="dk2"/>
                </a:solidFill>
              </a:defRPr>
            </a:lvl7pPr>
            <a:lvl8pPr lvl="7" algn="r">
              <a:buNone/>
              <a:defRPr sz="750">
                <a:solidFill>
                  <a:schemeClr val="dk2"/>
                </a:solidFill>
              </a:defRPr>
            </a:lvl8pPr>
            <a:lvl9pPr lvl="8" algn="r">
              <a:buNone/>
              <a:defRPr sz="75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3" Type="http://schemas.openxmlformats.org/officeDocument/2006/relationships/image" Target="../media/image1.gif"/><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8E1FC31-F0CC-0A0A-FB85-0BD80D6DB1DC}"/>
            </a:ext>
          </a:extLst>
        </p:cNvPr>
        <p:cNvGrpSpPr/>
        <p:nvPr/>
      </p:nvGrpSpPr>
      <p:grpSpPr>
        <a:xfrm>
          <a:off x="0" y="0"/>
          <a:ext cx="0" cy="0"/>
          <a:chOff x="0" y="0"/>
          <a:chExt cx="0" cy="0"/>
        </a:xfrm>
      </p:grpSpPr>
      <p:sp>
        <p:nvSpPr>
          <p:cNvPr id="184" name="Google Shape;184;p30">
            <a:extLst>
              <a:ext uri="{FF2B5EF4-FFF2-40B4-BE49-F238E27FC236}">
                <a16:creationId xmlns:a16="http://schemas.microsoft.com/office/drawing/2014/main" id="{AEB44BF0-B738-D7E4-E679-E84E84BF5026}"/>
              </a:ext>
            </a:extLst>
          </p:cNvPr>
          <p:cNvSpPr txBox="1"/>
          <p:nvPr/>
        </p:nvSpPr>
        <p:spPr>
          <a:xfrm>
            <a:off x="796689" y="1287602"/>
            <a:ext cx="6023293" cy="3701364"/>
          </a:xfrm>
          <a:prstGeom prst="rect">
            <a:avLst/>
          </a:prstGeom>
          <a:noFill/>
          <a:ln>
            <a:noFill/>
          </a:ln>
        </p:spPr>
        <p:txBody>
          <a:bodyPr spcFirstLastPara="1" wrap="square" lIns="68569" tIns="68569" rIns="68569" bIns="68569" anchor="t" anchorCtr="0">
            <a:noAutofit/>
          </a:bodyPr>
          <a:lstStyle/>
          <a:p>
            <a:pPr lvl="0"/>
            <a:r>
              <a:rPr lang="en-US" sz="1600" b="1" dirty="0">
                <a:solidFill>
                  <a:schemeClr val="bg2"/>
                </a:solidFill>
                <a:latin typeface="Calibri"/>
                <a:ea typeface="Calibri"/>
                <a:cs typeface="Calibri"/>
                <a:sym typeface="Calibri"/>
              </a:rPr>
              <a:t>1. Warm at surface and depth, winter, spring and fall </a:t>
            </a:r>
          </a:p>
          <a:p>
            <a:pPr marL="214313" indent="-214313">
              <a:buClr>
                <a:schemeClr val="bg2"/>
              </a:buClr>
              <a:buFont typeface="Arial" panose="020B0604020202020204" pitchFamily="34" charset="0"/>
              <a:buChar char="•"/>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a:t>
            </a:r>
            <a:r>
              <a:rPr lang="en-US" sz="1600" i="1" dirty="0">
                <a:solidFill>
                  <a:schemeClr val="bg2"/>
                </a:solidFill>
                <a:latin typeface="Calibri" panose="020F0502020204030204" pitchFamily="34" charset="0"/>
                <a:ea typeface="Calibri" panose="020F0502020204030204" pitchFamily="34" charset="0"/>
                <a:cs typeface="Calibri" panose="020F0502020204030204" pitchFamily="34" charset="0"/>
              </a:rPr>
              <a:t>winter spawning; egg/larval survival; incr. demand for prey</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a:t>
            </a: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sym typeface="Calibri"/>
            </a:endParaRPr>
          </a:p>
          <a:p>
            <a:pPr lvl="0"/>
            <a:endParaRPr lang="en-US" sz="1600" b="1" dirty="0">
              <a:solidFill>
                <a:schemeClr val="bg2"/>
              </a:solidFill>
              <a:latin typeface="Calibri"/>
              <a:ea typeface="Calibri"/>
              <a:cs typeface="Calibri"/>
              <a:sym typeface="Calibri"/>
            </a:endParaRPr>
          </a:p>
          <a:p>
            <a:pPr lvl="0"/>
            <a:r>
              <a:rPr lang="en-US" sz="1600" b="1" dirty="0">
                <a:solidFill>
                  <a:schemeClr val="bg2"/>
                </a:solidFill>
                <a:latin typeface="Calibri"/>
                <a:ea typeface="Calibri"/>
                <a:cs typeface="Calibri"/>
                <a:sym typeface="Calibri"/>
              </a:rPr>
              <a:t>2. Similarities to 2014-2016 in reduced lower trophic level productivity</a:t>
            </a:r>
          </a:p>
          <a:p>
            <a:pPr marL="214313" indent="-214313">
              <a:buClr>
                <a:schemeClr val="bg2"/>
              </a:buClr>
              <a:buFont typeface="Arial" panose="020B0604020202020204" pitchFamily="34" charset="0"/>
              <a:buChar char="•"/>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a:t>
            </a:r>
            <a:r>
              <a:rPr lang="en-US" sz="1600" i="1" dirty="0">
                <a:solidFill>
                  <a:schemeClr val="bg2"/>
                </a:solidFill>
                <a:latin typeface="Calibri" panose="020F0502020204030204" pitchFamily="34" charset="0"/>
                <a:ea typeface="Calibri" panose="020F0502020204030204" pitchFamily="34" charset="0"/>
                <a:cs typeface="Calibri" panose="020F0502020204030204" pitchFamily="34" charset="0"/>
              </a:rPr>
              <a:t>less productive food web to directly and indirectly support cod prey]</a:t>
            </a: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nSpc>
                <a:spcPct val="115000"/>
              </a:lnSpc>
            </a:pPr>
            <a:endParaRPr sz="1600" b="1" dirty="0">
              <a:solidFill>
                <a:schemeClr val="bg2"/>
              </a:solidFill>
              <a:latin typeface="Calibri"/>
              <a:ea typeface="Calibri"/>
              <a:cs typeface="Calibri"/>
              <a:sym typeface="Calibri"/>
            </a:endParaRPr>
          </a:p>
          <a:p>
            <a:r>
              <a:rPr lang="en" sz="1600" b="1" dirty="0">
                <a:solidFill>
                  <a:schemeClr val="bg2"/>
                </a:solidFill>
                <a:latin typeface="Calibri"/>
                <a:ea typeface="Calibri"/>
                <a:cs typeface="Calibri"/>
                <a:sym typeface="Calibri"/>
              </a:rPr>
              <a:t>3. </a:t>
            </a:r>
            <a:r>
              <a:rPr lang="en-US" sz="1600" b="1" dirty="0">
                <a:solidFill>
                  <a:schemeClr val="bg2"/>
                </a:solidFill>
                <a:latin typeface="Calibri" panose="020F0502020204030204" pitchFamily="34" charset="0"/>
                <a:ea typeface="Calibri"/>
                <a:cs typeface="Calibri" panose="020F0502020204030204" pitchFamily="34" charset="0"/>
                <a:sym typeface="Calibri"/>
              </a:rPr>
              <a:t>Mixed upper trophic &amp; ecosystem metrics</a:t>
            </a:r>
            <a:endParaRPr lang="en-US" sz="1600" b="1" dirty="0">
              <a:solidFill>
                <a:schemeClr val="bg2"/>
              </a:solidFill>
              <a:latin typeface="Calibri"/>
              <a:ea typeface="Calibri"/>
              <a:cs typeface="Calibri"/>
              <a:sym typeface="Calibri"/>
            </a:endParaRPr>
          </a:p>
          <a:p>
            <a:pPr marL="214313" indent="-214313">
              <a:buClr>
                <a:schemeClr val="bg2"/>
              </a:buClr>
              <a:buFont typeface="Arial" panose="020B0604020202020204" pitchFamily="34" charset="0"/>
              <a:buChar char="•"/>
            </a:pP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a:t>
            </a:r>
            <a:r>
              <a:rPr lang="en-US" sz="1600" i="1" dirty="0">
                <a:solidFill>
                  <a:schemeClr val="bg2"/>
                </a:solidFill>
                <a:latin typeface="Calibri" panose="020F0502020204030204" pitchFamily="34" charset="0"/>
                <a:ea typeface="Calibri" panose="020F0502020204030204" pitchFamily="34" charset="0"/>
                <a:cs typeface="Calibri" panose="020F0502020204030204" pitchFamily="34" charset="0"/>
              </a:rPr>
              <a:t>cod body condition below average but some prey base and upper trophic indicators ok]</a:t>
            </a:r>
          </a:p>
          <a:p>
            <a:endParaRPr lang="en-US" sz="1600" b="1" dirty="0">
              <a:solidFill>
                <a:schemeClr val="bg2"/>
              </a:solidFill>
              <a:latin typeface="Calibri"/>
              <a:ea typeface="Calibri"/>
              <a:cs typeface="Calibri"/>
              <a:sym typeface="Calibri"/>
            </a:endParaRPr>
          </a:p>
          <a:p>
            <a:pPr lvl="0"/>
            <a:r>
              <a:rPr lang="en" sz="1600" b="1" dirty="0">
                <a:solidFill>
                  <a:schemeClr val="bg2"/>
                </a:solidFill>
                <a:latin typeface="Calibri"/>
                <a:ea typeface="Calibri"/>
                <a:cs typeface="Calibri"/>
                <a:sym typeface="Calibri"/>
              </a:rPr>
              <a:t>4. </a:t>
            </a:r>
            <a:r>
              <a:rPr lang="en-US" sz="1600" b="1" dirty="0">
                <a:solidFill>
                  <a:schemeClr val="bg2"/>
                </a:solidFill>
                <a:latin typeface="Calibri"/>
                <a:ea typeface="Calibri"/>
                <a:cs typeface="Calibri"/>
                <a:sym typeface="Calibri"/>
              </a:rPr>
              <a:t>Cooling in 2026 but concerns of residual heat &amp; cumulative ecosystem effects</a:t>
            </a: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214313" indent="-214313">
              <a:buClr>
                <a:schemeClr val="bg2"/>
              </a:buClr>
              <a:buFont typeface="Arial" panose="020B0604020202020204" pitchFamily="34" charset="0"/>
              <a:buChar char="•"/>
            </a:pPr>
            <a:r>
              <a:rPr lang="en-US" sz="1600" dirty="0">
                <a:solidFill>
                  <a:schemeClr val="bg2"/>
                </a:solidFill>
                <a:latin typeface="Calibri"/>
                <a:ea typeface="Calibri"/>
                <a:cs typeface="Calibri"/>
                <a:sym typeface="Calibri"/>
              </a:rPr>
              <a:t>[</a:t>
            </a:r>
            <a:r>
              <a:rPr lang="en-US" sz="1600" i="1" dirty="0">
                <a:solidFill>
                  <a:schemeClr val="bg2"/>
                </a:solidFill>
                <a:latin typeface="Calibri"/>
                <a:ea typeface="Calibri"/>
                <a:cs typeface="Calibri"/>
                <a:sym typeface="Calibri"/>
              </a:rPr>
              <a:t>elevated concerns of cumulative ecosystem response to warm year</a:t>
            </a:r>
            <a:r>
              <a:rPr lang="en-US" sz="1600" dirty="0">
                <a:solidFill>
                  <a:schemeClr val="bg2"/>
                </a:solidFill>
                <a:latin typeface="Calibri"/>
                <a:ea typeface="Calibri"/>
                <a:cs typeface="Calibri"/>
                <a:sym typeface="Calibri"/>
              </a:rPr>
              <a:t>]</a:t>
            </a:r>
          </a:p>
          <a:p>
            <a:pPr marL="214313" indent="-214313">
              <a:buFont typeface="Arial" panose="020B0604020202020204" pitchFamily="34" charset="0"/>
              <a:buChar char="•"/>
            </a:pPr>
            <a:endParaRPr lang="en" sz="105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188" name="Google Shape;188;p30">
            <a:extLst>
              <a:ext uri="{FF2B5EF4-FFF2-40B4-BE49-F238E27FC236}">
                <a16:creationId xmlns:a16="http://schemas.microsoft.com/office/drawing/2014/main" id="{0309ECD9-E597-2E9F-866E-8F36E8549AF7}"/>
              </a:ext>
            </a:extLst>
          </p:cNvPr>
          <p:cNvSpPr txBox="1">
            <a:spLocks noGrp="1"/>
          </p:cNvSpPr>
          <p:nvPr>
            <p:ph type="sldNum" idx="12"/>
          </p:nvPr>
        </p:nvSpPr>
        <p:spPr>
          <a:xfrm>
            <a:off x="6424876" y="4878266"/>
            <a:ext cx="411525" cy="221400"/>
          </a:xfrm>
          <a:prstGeom prst="rect">
            <a:avLst/>
          </a:prstGeom>
          <a:noFill/>
          <a:ln>
            <a:noFill/>
          </a:ln>
        </p:spPr>
        <p:txBody>
          <a:bodyPr spcFirstLastPara="1" wrap="square" lIns="68569" tIns="34275" rIns="68569" bIns="34275" anchor="t" anchorCtr="0">
            <a:noAutofit/>
          </a:bodyPr>
          <a:lstStyle/>
          <a:p>
            <a:fld id="{00000000-1234-1234-1234-123412341234}" type="slidenum">
              <a:rPr lang="en"/>
              <a:pPr/>
              <a:t>1</a:t>
            </a:fld>
            <a:endParaRPr dirty="0"/>
          </a:p>
        </p:txBody>
      </p:sp>
      <p:pic>
        <p:nvPicPr>
          <p:cNvPr id="190" name="Google Shape;190;p30">
            <a:extLst>
              <a:ext uri="{FF2B5EF4-FFF2-40B4-BE49-F238E27FC236}">
                <a16:creationId xmlns:a16="http://schemas.microsoft.com/office/drawing/2014/main" id="{A56C1D85-3D9C-E6E1-2CDC-AA35C0EF080C}"/>
              </a:ext>
            </a:extLst>
          </p:cNvPr>
          <p:cNvPicPr preferRelativeResize="0"/>
          <p:nvPr/>
        </p:nvPicPr>
        <p:blipFill rotWithShape="1">
          <a:blip r:embed="rId3">
            <a:alphaModFix/>
          </a:blip>
          <a:srcRect/>
          <a:stretch/>
        </p:blipFill>
        <p:spPr>
          <a:xfrm>
            <a:off x="3426321" y="2569741"/>
            <a:ext cx="4019" cy="4019"/>
          </a:xfrm>
          <a:prstGeom prst="rect">
            <a:avLst/>
          </a:prstGeom>
          <a:noFill/>
          <a:ln>
            <a:noFill/>
          </a:ln>
        </p:spPr>
      </p:pic>
      <p:grpSp>
        <p:nvGrpSpPr>
          <p:cNvPr id="56" name="Group 55">
            <a:extLst>
              <a:ext uri="{FF2B5EF4-FFF2-40B4-BE49-F238E27FC236}">
                <a16:creationId xmlns:a16="http://schemas.microsoft.com/office/drawing/2014/main" id="{78BF476F-EB3B-FCBC-6604-73970D3152DA}"/>
              </a:ext>
            </a:extLst>
          </p:cNvPr>
          <p:cNvGrpSpPr>
            <a:grpSpLocks noChangeAspect="1"/>
          </p:cNvGrpSpPr>
          <p:nvPr/>
        </p:nvGrpSpPr>
        <p:grpSpPr>
          <a:xfrm>
            <a:off x="38018" y="1404948"/>
            <a:ext cx="731520" cy="692120"/>
            <a:chOff x="12474156" y="4335599"/>
            <a:chExt cx="2415208" cy="2434438"/>
          </a:xfrm>
        </p:grpSpPr>
        <p:sp>
          <p:nvSpPr>
            <p:cNvPr id="58" name="Oval 57">
              <a:extLst>
                <a:ext uri="{FF2B5EF4-FFF2-40B4-BE49-F238E27FC236}">
                  <a16:creationId xmlns:a16="http://schemas.microsoft.com/office/drawing/2014/main" id="{6DA5EDB8-DF8C-AE29-5E65-88ABBE7DB9E2}"/>
                </a:ext>
              </a:extLst>
            </p:cNvPr>
            <p:cNvSpPr/>
            <p:nvPr/>
          </p:nvSpPr>
          <p:spPr>
            <a:xfrm flipH="1">
              <a:off x="12474156" y="4335599"/>
              <a:ext cx="2415208" cy="2434438"/>
            </a:xfrm>
            <a:prstGeom prst="ellipse">
              <a:avLst/>
            </a:prstGeom>
            <a:gradFill>
              <a:gsLst>
                <a:gs pos="0">
                  <a:schemeClr val="accent4">
                    <a:lumMod val="50000"/>
                  </a:schemeClr>
                </a:gs>
                <a:gs pos="38000">
                  <a:schemeClr val="accent5"/>
                </a:gs>
                <a:gs pos="100000">
                  <a:schemeClr val="accent4">
                    <a:lumMod val="75000"/>
                  </a:schemeClr>
                </a:gs>
                <a:gs pos="46000">
                  <a:schemeClr val="accent5">
                    <a:lumMod val="40000"/>
                    <a:lumOff val="60000"/>
                  </a:schemeClr>
                </a:gs>
              </a:gsLst>
              <a:lin ang="5400000" scaled="0"/>
            </a:gradFill>
            <a:ln w="5715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59" name="Graphic 58">
              <a:extLst>
                <a:ext uri="{FF2B5EF4-FFF2-40B4-BE49-F238E27FC236}">
                  <a16:creationId xmlns:a16="http://schemas.microsoft.com/office/drawing/2014/main" id="{F55083EC-09C0-ADB4-8188-2A86BEBF22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2918341" y="6006525"/>
              <a:ext cx="1490456" cy="581545"/>
            </a:xfrm>
            <a:prstGeom prst="rect">
              <a:avLst/>
            </a:prstGeom>
          </p:spPr>
        </p:pic>
        <p:pic>
          <p:nvPicPr>
            <p:cNvPr id="60" name="Graphic 59">
              <a:extLst>
                <a:ext uri="{FF2B5EF4-FFF2-40B4-BE49-F238E27FC236}">
                  <a16:creationId xmlns:a16="http://schemas.microsoft.com/office/drawing/2014/main" id="{FA850D34-57DA-6E18-5CD0-719CC3DDB9EA}"/>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632125" y="5189710"/>
              <a:ext cx="1213631" cy="1292053"/>
            </a:xfrm>
            <a:prstGeom prst="rect">
              <a:avLst/>
            </a:prstGeom>
          </p:spPr>
        </p:pic>
        <p:pic>
          <p:nvPicPr>
            <p:cNvPr id="61" name="Graphic 60">
              <a:extLst>
                <a:ext uri="{FF2B5EF4-FFF2-40B4-BE49-F238E27FC236}">
                  <a16:creationId xmlns:a16="http://schemas.microsoft.com/office/drawing/2014/main" id="{219E1266-6F88-63DD-5119-0ECCF433EC5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12861781" y="4408603"/>
              <a:ext cx="1579667" cy="1293834"/>
            </a:xfrm>
            <a:prstGeom prst="rect">
              <a:avLst/>
            </a:prstGeom>
          </p:spPr>
        </p:pic>
      </p:grpSp>
      <p:pic>
        <p:nvPicPr>
          <p:cNvPr id="15" name="Google Shape;353;p2">
            <a:extLst>
              <a:ext uri="{FF2B5EF4-FFF2-40B4-BE49-F238E27FC236}">
                <a16:creationId xmlns:a16="http://schemas.microsoft.com/office/drawing/2014/main" id="{7AFC674E-4D17-4FDB-CE38-154F829652B2}"/>
              </a:ext>
            </a:extLst>
          </p:cNvPr>
          <p:cNvPicPr preferRelativeResize="0">
            <a:picLocks noChangeAspect="1"/>
          </p:cNvPicPr>
          <p:nvPr/>
        </p:nvPicPr>
        <p:blipFill rotWithShape="1">
          <a:blip r:embed="rId10">
            <a:alphaModFix/>
          </a:blip>
          <a:srcRect/>
          <a:stretch/>
        </p:blipFill>
        <p:spPr>
          <a:xfrm>
            <a:off x="104384" y="4114365"/>
            <a:ext cx="731520" cy="655024"/>
          </a:xfrm>
          <a:prstGeom prst="rect">
            <a:avLst/>
          </a:prstGeom>
          <a:noFill/>
          <a:ln>
            <a:noFill/>
          </a:ln>
        </p:spPr>
      </p:pic>
      <p:pic>
        <p:nvPicPr>
          <p:cNvPr id="2" name="Picture 1">
            <a:extLst>
              <a:ext uri="{FF2B5EF4-FFF2-40B4-BE49-F238E27FC236}">
                <a16:creationId xmlns:a16="http://schemas.microsoft.com/office/drawing/2014/main" id="{C66E9E90-D126-195B-0688-0731B1E0CB33}"/>
              </a:ext>
            </a:extLst>
          </p:cNvPr>
          <p:cNvPicPr>
            <a:picLocks noChangeAspect="1"/>
          </p:cNvPicPr>
          <p:nvPr/>
        </p:nvPicPr>
        <p:blipFill>
          <a:blip r:embed="rId11"/>
          <a:stretch>
            <a:fillRect/>
          </a:stretch>
        </p:blipFill>
        <p:spPr>
          <a:xfrm>
            <a:off x="-83544" y="3179986"/>
            <a:ext cx="1073986" cy="723588"/>
          </a:xfrm>
          <a:prstGeom prst="rect">
            <a:avLst/>
          </a:prstGeom>
        </p:spPr>
      </p:pic>
      <p:grpSp>
        <p:nvGrpSpPr>
          <p:cNvPr id="30" name="Group 29">
            <a:extLst>
              <a:ext uri="{FF2B5EF4-FFF2-40B4-BE49-F238E27FC236}">
                <a16:creationId xmlns:a16="http://schemas.microsoft.com/office/drawing/2014/main" id="{04FDDDC6-44C8-A5AC-21C9-E2CAE92FB7FC}"/>
              </a:ext>
            </a:extLst>
          </p:cNvPr>
          <p:cNvGrpSpPr>
            <a:grpSpLocks noChangeAspect="1"/>
          </p:cNvGrpSpPr>
          <p:nvPr/>
        </p:nvGrpSpPr>
        <p:grpSpPr>
          <a:xfrm flipH="1">
            <a:off x="47371" y="2312938"/>
            <a:ext cx="703284" cy="684544"/>
            <a:chOff x="8037829" y="7133454"/>
            <a:chExt cx="1663907" cy="1626298"/>
          </a:xfrm>
        </p:grpSpPr>
        <p:grpSp>
          <p:nvGrpSpPr>
            <p:cNvPr id="31" name="Group 30">
              <a:extLst>
                <a:ext uri="{FF2B5EF4-FFF2-40B4-BE49-F238E27FC236}">
                  <a16:creationId xmlns:a16="http://schemas.microsoft.com/office/drawing/2014/main" id="{D21AF700-3699-BC02-4D81-F8415EB12B35}"/>
                </a:ext>
              </a:extLst>
            </p:cNvPr>
            <p:cNvGrpSpPr/>
            <p:nvPr/>
          </p:nvGrpSpPr>
          <p:grpSpPr>
            <a:xfrm>
              <a:off x="8071118" y="7133454"/>
              <a:ext cx="1630618" cy="1626298"/>
              <a:chOff x="8071118" y="7133454"/>
              <a:chExt cx="1630618" cy="1626298"/>
            </a:xfrm>
          </p:grpSpPr>
          <p:sp>
            <p:nvSpPr>
              <p:cNvPr id="33" name="Oval 32">
                <a:extLst>
                  <a:ext uri="{FF2B5EF4-FFF2-40B4-BE49-F238E27FC236}">
                    <a16:creationId xmlns:a16="http://schemas.microsoft.com/office/drawing/2014/main" id="{F9CCE612-D792-68C1-F682-F6E982C2FC3C}"/>
                  </a:ext>
                </a:extLst>
              </p:cNvPr>
              <p:cNvSpPr>
                <a:spLocks noChangeAspect="1"/>
              </p:cNvSpPr>
              <p:nvPr/>
            </p:nvSpPr>
            <p:spPr>
              <a:xfrm>
                <a:off x="8075438" y="7133454"/>
                <a:ext cx="1626298" cy="1626298"/>
              </a:xfrm>
              <a:prstGeom prst="ellipse">
                <a:avLst/>
              </a:prstGeom>
              <a:solidFill>
                <a:srgbClr val="FF8300">
                  <a:lumMod val="20000"/>
                  <a:lumOff val="80000"/>
                </a:srgbClr>
              </a:solidFill>
              <a:ln w="57150" cap="flat" cmpd="sng" algn="ctr">
                <a:solidFill>
                  <a:srgbClr val="FF8300"/>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mbria" panose="02040503050406030204"/>
                  <a:ea typeface="+mn-ea"/>
                  <a:cs typeface="+mn-cs"/>
                </a:endParaRPr>
              </a:p>
            </p:txBody>
          </p:sp>
          <p:pic>
            <p:nvPicPr>
              <p:cNvPr id="34" name="Graphic 33">
                <a:extLst>
                  <a:ext uri="{FF2B5EF4-FFF2-40B4-BE49-F238E27FC236}">
                    <a16:creationId xmlns:a16="http://schemas.microsoft.com/office/drawing/2014/main" id="{68DB0CD8-BE34-568C-A06B-3407CFC4DF9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rot="15978033" flipH="1">
                <a:off x="8176827" y="7826562"/>
                <a:ext cx="718822" cy="930240"/>
              </a:xfrm>
              <a:prstGeom prst="rect">
                <a:avLst/>
              </a:prstGeom>
            </p:spPr>
          </p:pic>
          <p:pic>
            <p:nvPicPr>
              <p:cNvPr id="35" name="Graphic 34">
                <a:extLst>
                  <a:ext uri="{FF2B5EF4-FFF2-40B4-BE49-F238E27FC236}">
                    <a16:creationId xmlns:a16="http://schemas.microsoft.com/office/drawing/2014/main" id="{DA238FEA-E2D9-ECBE-3FDC-3CA36478C19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931073" y="7891252"/>
                <a:ext cx="635776" cy="510623"/>
              </a:xfrm>
              <a:prstGeom prst="rect">
                <a:avLst/>
              </a:prstGeom>
            </p:spPr>
          </p:pic>
        </p:grpSp>
        <p:pic>
          <p:nvPicPr>
            <p:cNvPr id="32" name="Graphic 31">
              <a:extLst>
                <a:ext uri="{FF2B5EF4-FFF2-40B4-BE49-F238E27FC236}">
                  <a16:creationId xmlns:a16="http://schemas.microsoft.com/office/drawing/2014/main" id="{E7217120-29FB-5DB7-1D60-C7802A7AA3F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20528225">
              <a:off x="8037829" y="7162449"/>
              <a:ext cx="1484234" cy="944513"/>
            </a:xfrm>
            <a:prstGeom prst="rect">
              <a:avLst/>
            </a:prstGeom>
          </p:spPr>
        </p:pic>
      </p:grpSp>
      <p:sp>
        <p:nvSpPr>
          <p:cNvPr id="6" name="Google Shape;139;p27">
            <a:extLst>
              <a:ext uri="{FF2B5EF4-FFF2-40B4-BE49-F238E27FC236}">
                <a16:creationId xmlns:a16="http://schemas.microsoft.com/office/drawing/2014/main" id="{4C375F9E-EF27-4F9B-C04F-9478EE41CEA3}"/>
              </a:ext>
            </a:extLst>
          </p:cNvPr>
          <p:cNvSpPr txBox="1"/>
          <p:nvPr/>
        </p:nvSpPr>
        <p:spPr>
          <a:xfrm>
            <a:off x="-38018" y="-784"/>
            <a:ext cx="6858000" cy="432788"/>
          </a:xfrm>
          <a:prstGeom prst="rect">
            <a:avLst/>
          </a:prstGeom>
          <a:noFill/>
          <a:ln>
            <a:noFill/>
          </a:ln>
        </p:spPr>
        <p:txBody>
          <a:bodyPr spcFirstLastPara="1" wrap="square" lIns="51413" tIns="25706" rIns="51413" bIns="25706" anchor="t" anchorCtr="0">
            <a:spAutoFit/>
          </a:bodyPr>
          <a:lstStyle/>
          <a:p>
            <a:pPr algn="ctr"/>
            <a:r>
              <a:rPr lang="en" sz="2475" b="1" dirty="0">
                <a:solidFill>
                  <a:srgbClr val="00467F"/>
                </a:solidFill>
                <a:latin typeface="Calibri" panose="020F0502020204030204" pitchFamily="34" charset="0"/>
                <a:ea typeface="Corbel"/>
                <a:cs typeface="Calibri" panose="020F0502020204030204" pitchFamily="34" charset="0"/>
                <a:sym typeface="Corbel"/>
              </a:rPr>
              <a:t>Ecosystem Status Report: Gulf of Alaska</a:t>
            </a:r>
            <a:r>
              <a:rPr lang="en" sz="2475" dirty="0">
                <a:solidFill>
                  <a:srgbClr val="00467F"/>
                </a:solidFill>
                <a:latin typeface="Calibri" panose="020F0502020204030204" pitchFamily="34" charset="0"/>
                <a:ea typeface="Corbel"/>
                <a:cs typeface="Calibri" panose="020F0502020204030204" pitchFamily="34" charset="0"/>
              </a:rPr>
              <a:t> </a:t>
            </a:r>
            <a:r>
              <a:rPr lang="en" sz="2475" b="1" dirty="0">
                <a:solidFill>
                  <a:srgbClr val="00467F"/>
                </a:solidFill>
                <a:latin typeface="Calibri" panose="020F0502020204030204" pitchFamily="34" charset="0"/>
                <a:ea typeface="Corbel"/>
                <a:cs typeface="Calibri" panose="020F0502020204030204" pitchFamily="34" charset="0"/>
                <a:sym typeface="Corbel"/>
              </a:rPr>
              <a:t>2025</a:t>
            </a:r>
            <a:endParaRPr sz="2475" b="1" dirty="0">
              <a:solidFill>
                <a:srgbClr val="00467F"/>
              </a:solidFill>
              <a:latin typeface="Calibri" panose="020F0502020204030204" pitchFamily="34" charset="0"/>
              <a:ea typeface="Corbel"/>
              <a:cs typeface="Calibri" panose="020F0502020204030204" pitchFamily="34" charset="0"/>
              <a:sym typeface="Corbel"/>
            </a:endParaRPr>
          </a:p>
        </p:txBody>
      </p:sp>
      <p:sp>
        <p:nvSpPr>
          <p:cNvPr id="7" name="Google Shape;141;p27">
            <a:extLst>
              <a:ext uri="{FF2B5EF4-FFF2-40B4-BE49-F238E27FC236}">
                <a16:creationId xmlns:a16="http://schemas.microsoft.com/office/drawing/2014/main" id="{05F9269A-36CD-9CC4-AC70-98E3B924C10D}"/>
              </a:ext>
            </a:extLst>
          </p:cNvPr>
          <p:cNvSpPr txBox="1"/>
          <p:nvPr/>
        </p:nvSpPr>
        <p:spPr>
          <a:xfrm>
            <a:off x="47371" y="373143"/>
            <a:ext cx="6833122" cy="636690"/>
          </a:xfrm>
          <a:prstGeom prst="rect">
            <a:avLst/>
          </a:prstGeom>
          <a:noFill/>
          <a:ln>
            <a:noFill/>
          </a:ln>
        </p:spPr>
        <p:txBody>
          <a:bodyPr spcFirstLastPara="1" wrap="square" lIns="51413" tIns="25706" rIns="51413" bIns="25706" anchor="t" anchorCtr="0">
            <a:spAutoFit/>
          </a:bodyPr>
          <a:lstStyle/>
          <a:p>
            <a:pPr algn="ctr"/>
            <a:r>
              <a:rPr lang="en" sz="1350" dirty="0">
                <a:solidFill>
                  <a:srgbClr val="00467F"/>
                </a:solidFill>
                <a:latin typeface="+mn-lt"/>
                <a:ea typeface="Corbel"/>
                <a:cs typeface="Corbel"/>
                <a:sym typeface="Corbel"/>
              </a:rPr>
              <a:t>Bridget Ferriss</a:t>
            </a:r>
          </a:p>
          <a:p>
            <a:pPr algn="ctr"/>
            <a:r>
              <a:rPr lang="en-US" sz="1050" dirty="0">
                <a:solidFill>
                  <a:srgbClr val="00467F"/>
                </a:solidFill>
                <a:latin typeface="+mn-lt"/>
                <a:ea typeface="Corbel"/>
                <a:cs typeface="Corbel"/>
                <a:sym typeface="Corbel"/>
              </a:rPr>
              <a:t>Alaska Fisheries Science Center, NOAA Fisheries</a:t>
            </a:r>
          </a:p>
          <a:p>
            <a:pPr algn="ctr"/>
            <a:r>
              <a:rPr lang="en-US" dirty="0">
                <a:solidFill>
                  <a:srgbClr val="00467F"/>
                </a:solidFill>
                <a:latin typeface="+mn-lt"/>
                <a:ea typeface="Corbel"/>
                <a:cs typeface="Corbel"/>
                <a:sym typeface="Corbel"/>
              </a:rPr>
              <a:t>[</a:t>
            </a:r>
            <a:r>
              <a:rPr lang="en-US" i="1" dirty="0">
                <a:solidFill>
                  <a:srgbClr val="00467F"/>
                </a:solidFill>
                <a:latin typeface="+mn-lt"/>
                <a:ea typeface="Corbel"/>
                <a:cs typeface="Corbel"/>
                <a:sym typeface="Corbel"/>
              </a:rPr>
              <a:t>full ESR attached to e-agenda: list of contributors p.1; Ecosystem Assessment p.4</a:t>
            </a:r>
            <a:r>
              <a:rPr lang="en-US" dirty="0">
                <a:solidFill>
                  <a:srgbClr val="00467F"/>
                </a:solidFill>
                <a:latin typeface="+mn-lt"/>
                <a:ea typeface="Corbel"/>
                <a:cs typeface="Corbel"/>
                <a:sym typeface="Corbel"/>
              </a:rPr>
              <a:t>]</a:t>
            </a:r>
            <a:endParaRPr dirty="0">
              <a:solidFill>
                <a:srgbClr val="00467F"/>
              </a:solidFill>
              <a:latin typeface="+mn-lt"/>
              <a:ea typeface="Corbel"/>
              <a:cs typeface="Corbel"/>
              <a:sym typeface="Corbel"/>
            </a:endParaRPr>
          </a:p>
        </p:txBody>
      </p:sp>
    </p:spTree>
    <p:extLst>
      <p:ext uri="{BB962C8B-B14F-4D97-AF65-F5344CB8AC3E}">
        <p14:creationId xmlns:p14="http://schemas.microsoft.com/office/powerpoint/2010/main" val="154260353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41804</TotalTime>
  <Words>321</Words>
  <Application>Microsoft Office PowerPoint</Application>
  <PresentationFormat>Custom</PresentationFormat>
  <Paragraphs>23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Bridget.Ferriss</dc:creator>
  <cp:lastModifiedBy>Bridget.Ferriss</cp:lastModifiedBy>
  <cp:revision>482</cp:revision>
  <dcterms:modified xsi:type="dcterms:W3CDTF">2026-02-03T23:21:04Z</dcterms:modified>
</cp:coreProperties>
</file>