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81" r:id="rId2"/>
    <p:sldId id="451" r:id="rId3"/>
    <p:sldId id="453" r:id="rId4"/>
    <p:sldId id="285" r:id="rId5"/>
    <p:sldId id="454" r:id="rId6"/>
    <p:sldId id="286" r:id="rId7"/>
    <p:sldId id="455" r:id="rId8"/>
    <p:sldId id="452" r:id="rId9"/>
    <p:sldId id="469" r:id="rId10"/>
    <p:sldId id="470" r:id="rId11"/>
    <p:sldId id="287" r:id="rId12"/>
    <p:sldId id="468" r:id="rId13"/>
    <p:sldId id="462" r:id="rId14"/>
    <p:sldId id="461" r:id="rId15"/>
    <p:sldId id="456" r:id="rId16"/>
    <p:sldId id="471" r:id="rId17"/>
    <p:sldId id="457" r:id="rId18"/>
    <p:sldId id="458" r:id="rId19"/>
    <p:sldId id="476" r:id="rId20"/>
    <p:sldId id="473" r:id="rId21"/>
    <p:sldId id="472" r:id="rId22"/>
    <p:sldId id="474" r:id="rId23"/>
    <p:sldId id="475" r:id="rId24"/>
    <p:sldId id="283"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361" autoAdjust="0"/>
    <p:restoredTop sz="94660"/>
  </p:normalViewPr>
  <p:slideViewPr>
    <p:cSldViewPr snapToGrid="0">
      <p:cViewPr varScale="1">
        <p:scale>
          <a:sx n="94" d="100"/>
          <a:sy n="94" d="100"/>
        </p:scale>
        <p:origin x="182" y="11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EFADC4-8D0D-4073-A9AA-9CF1A349B263}" type="datetimeFigureOut">
              <a:rPr lang="en-US" smtClean="0"/>
              <a:t>9/6/2026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454BF67-D9DF-4CC2-9A83-535BA7D1ED5B}" type="slidenum">
              <a:rPr lang="en-US" smtClean="0"/>
              <a:t>‹#›</a:t>
            </a:fld>
            <a:endParaRPr lang="en-US"/>
          </a:p>
        </p:txBody>
      </p:sp>
    </p:spTree>
    <p:extLst>
      <p:ext uri="{BB962C8B-B14F-4D97-AF65-F5344CB8AC3E}">
        <p14:creationId xmlns:p14="http://schemas.microsoft.com/office/powerpoint/2010/main" val="4706397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Touching on the prehistory of pacific cod. </a:t>
            </a:r>
          </a:p>
          <a:p>
            <a:endParaRPr lang="en-US" dirty="0"/>
          </a:p>
          <a:p>
            <a:r>
              <a:rPr lang="en-US" dirty="0"/>
              <a:t>Both Pacific cod and walleye pollock</a:t>
            </a:r>
            <a:r>
              <a:rPr lang="en-US" baseline="0" dirty="0"/>
              <a:t> are derived from a common Atlantic cod ancestor. </a:t>
            </a:r>
          </a:p>
          <a:p>
            <a:r>
              <a:rPr lang="en-US" baseline="0" dirty="0"/>
              <a:t>Walleye pollock is more closely related to Atlantic cod than Pacific cod, with Pacific cod diverging from Atlantic cod about 4 million years ago and pollock diverging from Atlantic cod about 3.8 million years ago (click). </a:t>
            </a:r>
          </a:p>
          <a:p>
            <a:endParaRPr lang="en-US" baseline="0" dirty="0"/>
          </a:p>
          <a:p>
            <a:r>
              <a:rPr lang="en-US" baseline="0" dirty="0"/>
              <a:t>This was during the Pliocene when temperatures were a bit warmer than current conditions, and the Atlantic cod progenitors were found in the Arctic Ocean. </a:t>
            </a:r>
          </a:p>
          <a:p>
            <a:endParaRPr lang="en-US" baseline="0" dirty="0"/>
          </a:p>
          <a:p>
            <a:r>
              <a:rPr lang="en-US" baseline="0" dirty="0"/>
              <a:t>This was before the Ice Ages 2.4 million to 10,700 years ago (click) and before the first Homo sapiens were thought to have emerged in Africa 200 to 180 thousand years ago (click). </a:t>
            </a:r>
          </a:p>
          <a:p>
            <a:endParaRPr lang="en-US" baseline="0" dirty="0"/>
          </a:p>
          <a:p>
            <a:r>
              <a:rPr lang="en-US" baseline="0" dirty="0"/>
              <a:t>This pre-history of cod has been discovered through genetics and the estimated rates of mutations within its genome. </a:t>
            </a:r>
            <a:endParaRPr lang="en-US" dirty="0"/>
          </a:p>
        </p:txBody>
      </p:sp>
      <p:sp>
        <p:nvSpPr>
          <p:cNvPr id="4" name="Slide Number Placeholder 3"/>
          <p:cNvSpPr>
            <a:spLocks noGrp="1"/>
          </p:cNvSpPr>
          <p:nvPr>
            <p:ph type="sldNum" sz="quarter" idx="10"/>
          </p:nvPr>
        </p:nvSpPr>
        <p:spPr/>
        <p:txBody>
          <a:bodyPr/>
          <a:lstStyle/>
          <a:p>
            <a:fld id="{4FF68CC5-9B2F-654B-A985-9D929854450A}" type="slidenum">
              <a:rPr lang="en-US" smtClean="0"/>
              <a:t>2</a:t>
            </a:fld>
            <a:endParaRPr lang="en-US"/>
          </a:p>
        </p:txBody>
      </p:sp>
    </p:spTree>
    <p:extLst>
      <p:ext uri="{BB962C8B-B14F-4D97-AF65-F5344CB8AC3E}">
        <p14:creationId xmlns:p14="http://schemas.microsoft.com/office/powerpoint/2010/main" val="22478789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418A32-DC4A-4DF0-8388-CA2AACAE7F1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2FB213F-8244-4DB0-829F-435121ED5EE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DA2B943-9A94-48E3-885A-B8B0154C1B97}"/>
              </a:ext>
            </a:extLst>
          </p:cNvPr>
          <p:cNvSpPr>
            <a:spLocks noGrp="1"/>
          </p:cNvSpPr>
          <p:nvPr>
            <p:ph type="dt" sz="half" idx="10"/>
          </p:nvPr>
        </p:nvSpPr>
        <p:spPr/>
        <p:txBody>
          <a:bodyPr/>
          <a:lstStyle/>
          <a:p>
            <a:fld id="{3490C5E9-B3E8-4794-83EA-537C35117230}" type="datetimeFigureOut">
              <a:rPr lang="en-US" smtClean="0"/>
              <a:t>9/6/2026</a:t>
            </a:fld>
            <a:endParaRPr lang="en-US"/>
          </a:p>
        </p:txBody>
      </p:sp>
      <p:sp>
        <p:nvSpPr>
          <p:cNvPr id="5" name="Footer Placeholder 4">
            <a:extLst>
              <a:ext uri="{FF2B5EF4-FFF2-40B4-BE49-F238E27FC236}">
                <a16:creationId xmlns:a16="http://schemas.microsoft.com/office/drawing/2014/main" id="{85CCE7AD-F9A0-44ED-9DEA-CC7A0BB881F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50349F-DBA7-4E6B-B7EE-6E1A05442001}"/>
              </a:ext>
            </a:extLst>
          </p:cNvPr>
          <p:cNvSpPr>
            <a:spLocks noGrp="1"/>
          </p:cNvSpPr>
          <p:nvPr>
            <p:ph type="sldNum" sz="quarter" idx="12"/>
          </p:nvPr>
        </p:nvSpPr>
        <p:spPr/>
        <p:txBody>
          <a:bodyPr/>
          <a:lstStyle/>
          <a:p>
            <a:fld id="{5BD53C23-F9DB-4784-9357-0643AAC21A46}" type="slidenum">
              <a:rPr lang="en-US" smtClean="0"/>
              <a:t>‹#›</a:t>
            </a:fld>
            <a:endParaRPr lang="en-US"/>
          </a:p>
        </p:txBody>
      </p:sp>
    </p:spTree>
    <p:extLst>
      <p:ext uri="{BB962C8B-B14F-4D97-AF65-F5344CB8AC3E}">
        <p14:creationId xmlns:p14="http://schemas.microsoft.com/office/powerpoint/2010/main" val="14088466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24D8D2-2636-4266-9E52-22F84C5F1EA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C52CCFE-5809-479F-938D-408F1675037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30C4A2D-B690-4DE4-A5C8-C9BEC00905E1}"/>
              </a:ext>
            </a:extLst>
          </p:cNvPr>
          <p:cNvSpPr>
            <a:spLocks noGrp="1"/>
          </p:cNvSpPr>
          <p:nvPr>
            <p:ph type="dt" sz="half" idx="10"/>
          </p:nvPr>
        </p:nvSpPr>
        <p:spPr/>
        <p:txBody>
          <a:bodyPr/>
          <a:lstStyle/>
          <a:p>
            <a:fld id="{3490C5E9-B3E8-4794-83EA-537C35117230}" type="datetimeFigureOut">
              <a:rPr lang="en-US" smtClean="0"/>
              <a:t>9/6/2026</a:t>
            </a:fld>
            <a:endParaRPr lang="en-US"/>
          </a:p>
        </p:txBody>
      </p:sp>
      <p:sp>
        <p:nvSpPr>
          <p:cNvPr id="5" name="Footer Placeholder 4">
            <a:extLst>
              <a:ext uri="{FF2B5EF4-FFF2-40B4-BE49-F238E27FC236}">
                <a16:creationId xmlns:a16="http://schemas.microsoft.com/office/drawing/2014/main" id="{9F0C51B6-427F-41B2-AB23-B7E58308E8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C0DA7E7-7070-4B30-B0C2-01294708B752}"/>
              </a:ext>
            </a:extLst>
          </p:cNvPr>
          <p:cNvSpPr>
            <a:spLocks noGrp="1"/>
          </p:cNvSpPr>
          <p:nvPr>
            <p:ph type="sldNum" sz="quarter" idx="12"/>
          </p:nvPr>
        </p:nvSpPr>
        <p:spPr/>
        <p:txBody>
          <a:bodyPr/>
          <a:lstStyle/>
          <a:p>
            <a:fld id="{5BD53C23-F9DB-4784-9357-0643AAC21A46}" type="slidenum">
              <a:rPr lang="en-US" smtClean="0"/>
              <a:t>‹#›</a:t>
            </a:fld>
            <a:endParaRPr lang="en-US"/>
          </a:p>
        </p:txBody>
      </p:sp>
    </p:spTree>
    <p:extLst>
      <p:ext uri="{BB962C8B-B14F-4D97-AF65-F5344CB8AC3E}">
        <p14:creationId xmlns:p14="http://schemas.microsoft.com/office/powerpoint/2010/main" val="37862519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BB336C-696E-4A4F-910C-5B8FBA49CFB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E5BBF85-0C3B-4B8B-A4FD-F7FDC5F3234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3ECA961-9F87-4E18-A974-E0829DA6CD04}"/>
              </a:ext>
            </a:extLst>
          </p:cNvPr>
          <p:cNvSpPr>
            <a:spLocks noGrp="1"/>
          </p:cNvSpPr>
          <p:nvPr>
            <p:ph type="dt" sz="half" idx="10"/>
          </p:nvPr>
        </p:nvSpPr>
        <p:spPr/>
        <p:txBody>
          <a:bodyPr/>
          <a:lstStyle/>
          <a:p>
            <a:fld id="{3490C5E9-B3E8-4794-83EA-537C35117230}" type="datetimeFigureOut">
              <a:rPr lang="en-US" smtClean="0"/>
              <a:t>9/6/2026</a:t>
            </a:fld>
            <a:endParaRPr lang="en-US"/>
          </a:p>
        </p:txBody>
      </p:sp>
      <p:sp>
        <p:nvSpPr>
          <p:cNvPr id="5" name="Footer Placeholder 4">
            <a:extLst>
              <a:ext uri="{FF2B5EF4-FFF2-40B4-BE49-F238E27FC236}">
                <a16:creationId xmlns:a16="http://schemas.microsoft.com/office/drawing/2014/main" id="{18870E7E-03E8-478E-A2A1-E5323AE98BE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BB1931C-8D0B-4481-8B9C-0F10BD72510E}"/>
              </a:ext>
            </a:extLst>
          </p:cNvPr>
          <p:cNvSpPr>
            <a:spLocks noGrp="1"/>
          </p:cNvSpPr>
          <p:nvPr>
            <p:ph type="sldNum" sz="quarter" idx="12"/>
          </p:nvPr>
        </p:nvSpPr>
        <p:spPr/>
        <p:txBody>
          <a:bodyPr/>
          <a:lstStyle/>
          <a:p>
            <a:fld id="{5BD53C23-F9DB-4784-9357-0643AAC21A46}" type="slidenum">
              <a:rPr lang="en-US" smtClean="0"/>
              <a:t>‹#›</a:t>
            </a:fld>
            <a:endParaRPr lang="en-US"/>
          </a:p>
        </p:txBody>
      </p:sp>
    </p:spTree>
    <p:extLst>
      <p:ext uri="{BB962C8B-B14F-4D97-AF65-F5344CB8AC3E}">
        <p14:creationId xmlns:p14="http://schemas.microsoft.com/office/powerpoint/2010/main" val="10343761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247688-423D-4D6A-8902-50563E2C455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5674005-0D30-4E6C-9E9C-49DDEA2DD9C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11B56E0-2110-494E-BADB-82E8032B03A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74488AE-8463-403B-87FC-79AD97798D12}"/>
              </a:ext>
            </a:extLst>
          </p:cNvPr>
          <p:cNvSpPr>
            <a:spLocks noGrp="1"/>
          </p:cNvSpPr>
          <p:nvPr>
            <p:ph type="dt" sz="half" idx="10"/>
          </p:nvPr>
        </p:nvSpPr>
        <p:spPr/>
        <p:txBody>
          <a:bodyPr/>
          <a:lstStyle/>
          <a:p>
            <a:fld id="{3490C5E9-B3E8-4794-83EA-537C35117230}" type="datetimeFigureOut">
              <a:rPr lang="en-US" smtClean="0"/>
              <a:t>9/6/2026</a:t>
            </a:fld>
            <a:endParaRPr lang="en-US"/>
          </a:p>
        </p:txBody>
      </p:sp>
      <p:sp>
        <p:nvSpPr>
          <p:cNvPr id="6" name="Footer Placeholder 5">
            <a:extLst>
              <a:ext uri="{FF2B5EF4-FFF2-40B4-BE49-F238E27FC236}">
                <a16:creationId xmlns:a16="http://schemas.microsoft.com/office/drawing/2014/main" id="{CCA4411A-DB81-4F5F-B80D-1CEAD084011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248E5BC-138C-4AFB-BC2F-C0514D26BAF8}"/>
              </a:ext>
            </a:extLst>
          </p:cNvPr>
          <p:cNvSpPr>
            <a:spLocks noGrp="1"/>
          </p:cNvSpPr>
          <p:nvPr>
            <p:ph type="sldNum" sz="quarter" idx="12"/>
          </p:nvPr>
        </p:nvSpPr>
        <p:spPr/>
        <p:txBody>
          <a:bodyPr/>
          <a:lstStyle/>
          <a:p>
            <a:fld id="{5BD53C23-F9DB-4784-9357-0643AAC21A46}" type="slidenum">
              <a:rPr lang="en-US" smtClean="0"/>
              <a:t>‹#›</a:t>
            </a:fld>
            <a:endParaRPr lang="en-US"/>
          </a:p>
        </p:txBody>
      </p:sp>
    </p:spTree>
    <p:extLst>
      <p:ext uri="{BB962C8B-B14F-4D97-AF65-F5344CB8AC3E}">
        <p14:creationId xmlns:p14="http://schemas.microsoft.com/office/powerpoint/2010/main" val="37181769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D7E3B-A830-443F-8942-1A729B8CA80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64D8679-E483-482C-A12A-B5D81C8B278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1BDDBBB-DC62-41B7-811E-EC25C1AED79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75123AD-95AD-4A40-A52B-43FCF695535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C3076A4-BC5B-4675-B564-184D96E886E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CE82514-86C5-42C1-8236-246F8A133089}"/>
              </a:ext>
            </a:extLst>
          </p:cNvPr>
          <p:cNvSpPr>
            <a:spLocks noGrp="1"/>
          </p:cNvSpPr>
          <p:nvPr>
            <p:ph type="dt" sz="half" idx="10"/>
          </p:nvPr>
        </p:nvSpPr>
        <p:spPr/>
        <p:txBody>
          <a:bodyPr/>
          <a:lstStyle/>
          <a:p>
            <a:fld id="{3490C5E9-B3E8-4794-83EA-537C35117230}" type="datetimeFigureOut">
              <a:rPr lang="en-US" smtClean="0"/>
              <a:t>9/6/2026</a:t>
            </a:fld>
            <a:endParaRPr lang="en-US"/>
          </a:p>
        </p:txBody>
      </p:sp>
      <p:sp>
        <p:nvSpPr>
          <p:cNvPr id="8" name="Footer Placeholder 7">
            <a:extLst>
              <a:ext uri="{FF2B5EF4-FFF2-40B4-BE49-F238E27FC236}">
                <a16:creationId xmlns:a16="http://schemas.microsoft.com/office/drawing/2014/main" id="{A60A66F4-D544-460E-BB4C-89076A607C5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628D7B3-3CFE-428A-8530-6927C1D92BC0}"/>
              </a:ext>
            </a:extLst>
          </p:cNvPr>
          <p:cNvSpPr>
            <a:spLocks noGrp="1"/>
          </p:cNvSpPr>
          <p:nvPr>
            <p:ph type="sldNum" sz="quarter" idx="12"/>
          </p:nvPr>
        </p:nvSpPr>
        <p:spPr/>
        <p:txBody>
          <a:bodyPr/>
          <a:lstStyle/>
          <a:p>
            <a:fld id="{5BD53C23-F9DB-4784-9357-0643AAC21A46}" type="slidenum">
              <a:rPr lang="en-US" smtClean="0"/>
              <a:t>‹#›</a:t>
            </a:fld>
            <a:endParaRPr lang="en-US"/>
          </a:p>
        </p:txBody>
      </p:sp>
    </p:spTree>
    <p:extLst>
      <p:ext uri="{BB962C8B-B14F-4D97-AF65-F5344CB8AC3E}">
        <p14:creationId xmlns:p14="http://schemas.microsoft.com/office/powerpoint/2010/main" val="15769316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C09539-0B59-42C5-9752-6F0DE47D24D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9D2C645-C42A-4FDC-89AA-E1E6D157C68E}"/>
              </a:ext>
            </a:extLst>
          </p:cNvPr>
          <p:cNvSpPr>
            <a:spLocks noGrp="1"/>
          </p:cNvSpPr>
          <p:nvPr>
            <p:ph type="dt" sz="half" idx="10"/>
          </p:nvPr>
        </p:nvSpPr>
        <p:spPr/>
        <p:txBody>
          <a:bodyPr/>
          <a:lstStyle/>
          <a:p>
            <a:fld id="{3490C5E9-B3E8-4794-83EA-537C35117230}" type="datetimeFigureOut">
              <a:rPr lang="en-US" smtClean="0"/>
              <a:t>9/6/2026</a:t>
            </a:fld>
            <a:endParaRPr lang="en-US"/>
          </a:p>
        </p:txBody>
      </p:sp>
      <p:sp>
        <p:nvSpPr>
          <p:cNvPr id="4" name="Footer Placeholder 3">
            <a:extLst>
              <a:ext uri="{FF2B5EF4-FFF2-40B4-BE49-F238E27FC236}">
                <a16:creationId xmlns:a16="http://schemas.microsoft.com/office/drawing/2014/main" id="{688746F4-456C-4D50-B484-3AACA9121D2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C0AE429-72D3-4C6F-8671-5C65B7A0B836}"/>
              </a:ext>
            </a:extLst>
          </p:cNvPr>
          <p:cNvSpPr>
            <a:spLocks noGrp="1"/>
          </p:cNvSpPr>
          <p:nvPr>
            <p:ph type="sldNum" sz="quarter" idx="12"/>
          </p:nvPr>
        </p:nvSpPr>
        <p:spPr/>
        <p:txBody>
          <a:bodyPr/>
          <a:lstStyle/>
          <a:p>
            <a:fld id="{5BD53C23-F9DB-4784-9357-0643AAC21A46}" type="slidenum">
              <a:rPr lang="en-US" smtClean="0"/>
              <a:t>‹#›</a:t>
            </a:fld>
            <a:endParaRPr lang="en-US"/>
          </a:p>
        </p:txBody>
      </p:sp>
    </p:spTree>
    <p:extLst>
      <p:ext uri="{BB962C8B-B14F-4D97-AF65-F5344CB8AC3E}">
        <p14:creationId xmlns:p14="http://schemas.microsoft.com/office/powerpoint/2010/main" val="24175740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DDFEF3E-0170-47EB-8EC3-CA44C9B428F7}"/>
              </a:ext>
            </a:extLst>
          </p:cNvPr>
          <p:cNvSpPr>
            <a:spLocks noGrp="1"/>
          </p:cNvSpPr>
          <p:nvPr>
            <p:ph type="dt" sz="half" idx="10"/>
          </p:nvPr>
        </p:nvSpPr>
        <p:spPr/>
        <p:txBody>
          <a:bodyPr/>
          <a:lstStyle/>
          <a:p>
            <a:fld id="{3490C5E9-B3E8-4794-83EA-537C35117230}" type="datetimeFigureOut">
              <a:rPr lang="en-US" smtClean="0"/>
              <a:t>9/6/2026</a:t>
            </a:fld>
            <a:endParaRPr lang="en-US"/>
          </a:p>
        </p:txBody>
      </p:sp>
      <p:sp>
        <p:nvSpPr>
          <p:cNvPr id="3" name="Footer Placeholder 2">
            <a:extLst>
              <a:ext uri="{FF2B5EF4-FFF2-40B4-BE49-F238E27FC236}">
                <a16:creationId xmlns:a16="http://schemas.microsoft.com/office/drawing/2014/main" id="{4E32BFB6-E9DB-4247-B3A5-710131EB70A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512009E-B0B1-4260-AAA4-CF08834A7BEA}"/>
              </a:ext>
            </a:extLst>
          </p:cNvPr>
          <p:cNvSpPr>
            <a:spLocks noGrp="1"/>
          </p:cNvSpPr>
          <p:nvPr>
            <p:ph type="sldNum" sz="quarter" idx="12"/>
          </p:nvPr>
        </p:nvSpPr>
        <p:spPr/>
        <p:txBody>
          <a:bodyPr/>
          <a:lstStyle/>
          <a:p>
            <a:fld id="{5BD53C23-F9DB-4784-9357-0643AAC21A46}" type="slidenum">
              <a:rPr lang="en-US" smtClean="0"/>
              <a:t>‹#›</a:t>
            </a:fld>
            <a:endParaRPr lang="en-US"/>
          </a:p>
        </p:txBody>
      </p:sp>
    </p:spTree>
    <p:extLst>
      <p:ext uri="{BB962C8B-B14F-4D97-AF65-F5344CB8AC3E}">
        <p14:creationId xmlns:p14="http://schemas.microsoft.com/office/powerpoint/2010/main" val="2259915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819A27-232E-4FBA-BDF0-150DFF1A986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D4BAF69-7838-4433-9556-B6F61978262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6095CA0-DF8C-4AEB-BD46-00EF55B53A8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7DC1A39-19DF-42F3-BC7B-BFD210F1A513}"/>
              </a:ext>
            </a:extLst>
          </p:cNvPr>
          <p:cNvSpPr>
            <a:spLocks noGrp="1"/>
          </p:cNvSpPr>
          <p:nvPr>
            <p:ph type="dt" sz="half" idx="10"/>
          </p:nvPr>
        </p:nvSpPr>
        <p:spPr/>
        <p:txBody>
          <a:bodyPr/>
          <a:lstStyle/>
          <a:p>
            <a:fld id="{3490C5E9-B3E8-4794-83EA-537C35117230}" type="datetimeFigureOut">
              <a:rPr lang="en-US" smtClean="0"/>
              <a:t>9/6/2026</a:t>
            </a:fld>
            <a:endParaRPr lang="en-US"/>
          </a:p>
        </p:txBody>
      </p:sp>
      <p:sp>
        <p:nvSpPr>
          <p:cNvPr id="6" name="Footer Placeholder 5">
            <a:extLst>
              <a:ext uri="{FF2B5EF4-FFF2-40B4-BE49-F238E27FC236}">
                <a16:creationId xmlns:a16="http://schemas.microsoft.com/office/drawing/2014/main" id="{A0FD5FB7-8352-4B5F-8404-4B95E35F031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08CE4E9-AD23-4105-9760-EE6A7AFBCAF2}"/>
              </a:ext>
            </a:extLst>
          </p:cNvPr>
          <p:cNvSpPr>
            <a:spLocks noGrp="1"/>
          </p:cNvSpPr>
          <p:nvPr>
            <p:ph type="sldNum" sz="quarter" idx="12"/>
          </p:nvPr>
        </p:nvSpPr>
        <p:spPr/>
        <p:txBody>
          <a:bodyPr/>
          <a:lstStyle/>
          <a:p>
            <a:fld id="{5BD53C23-F9DB-4784-9357-0643AAC21A46}" type="slidenum">
              <a:rPr lang="en-US" smtClean="0"/>
              <a:t>‹#›</a:t>
            </a:fld>
            <a:endParaRPr lang="en-US"/>
          </a:p>
        </p:txBody>
      </p:sp>
    </p:spTree>
    <p:extLst>
      <p:ext uri="{BB962C8B-B14F-4D97-AF65-F5344CB8AC3E}">
        <p14:creationId xmlns:p14="http://schemas.microsoft.com/office/powerpoint/2010/main" val="14217251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4C38E7-CDE0-45A3-A147-82B8BFD522E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E2CCFBD-9312-4E4E-B420-93A5D226591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F511424-7302-426B-9B26-4BCD2EC3E83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ECD0D24-7E2F-476A-9D20-5964CC285DF9}"/>
              </a:ext>
            </a:extLst>
          </p:cNvPr>
          <p:cNvSpPr>
            <a:spLocks noGrp="1"/>
          </p:cNvSpPr>
          <p:nvPr>
            <p:ph type="dt" sz="half" idx="10"/>
          </p:nvPr>
        </p:nvSpPr>
        <p:spPr/>
        <p:txBody>
          <a:bodyPr/>
          <a:lstStyle/>
          <a:p>
            <a:fld id="{3490C5E9-B3E8-4794-83EA-537C35117230}" type="datetimeFigureOut">
              <a:rPr lang="en-US" smtClean="0"/>
              <a:t>9/6/2026</a:t>
            </a:fld>
            <a:endParaRPr lang="en-US"/>
          </a:p>
        </p:txBody>
      </p:sp>
      <p:sp>
        <p:nvSpPr>
          <p:cNvPr id="6" name="Footer Placeholder 5">
            <a:extLst>
              <a:ext uri="{FF2B5EF4-FFF2-40B4-BE49-F238E27FC236}">
                <a16:creationId xmlns:a16="http://schemas.microsoft.com/office/drawing/2014/main" id="{FE2D4B0F-D976-4998-BCF8-DEDBD2FC303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62B86E6-3222-49A4-90B7-5A8273361BFB}"/>
              </a:ext>
            </a:extLst>
          </p:cNvPr>
          <p:cNvSpPr>
            <a:spLocks noGrp="1"/>
          </p:cNvSpPr>
          <p:nvPr>
            <p:ph type="sldNum" sz="quarter" idx="12"/>
          </p:nvPr>
        </p:nvSpPr>
        <p:spPr/>
        <p:txBody>
          <a:bodyPr/>
          <a:lstStyle/>
          <a:p>
            <a:fld id="{5BD53C23-F9DB-4784-9357-0643AAC21A46}" type="slidenum">
              <a:rPr lang="en-US" smtClean="0"/>
              <a:t>‹#›</a:t>
            </a:fld>
            <a:endParaRPr lang="en-US"/>
          </a:p>
        </p:txBody>
      </p:sp>
    </p:spTree>
    <p:extLst>
      <p:ext uri="{BB962C8B-B14F-4D97-AF65-F5344CB8AC3E}">
        <p14:creationId xmlns:p14="http://schemas.microsoft.com/office/powerpoint/2010/main" val="32450581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6DAFB4-69F9-4155-A244-4D7F250649C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7077FD3-FED3-41A7-A9B3-DA8DA4A7215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2D75833-7DFC-40ED-B078-7700CECD6F6C}"/>
              </a:ext>
            </a:extLst>
          </p:cNvPr>
          <p:cNvSpPr>
            <a:spLocks noGrp="1"/>
          </p:cNvSpPr>
          <p:nvPr>
            <p:ph type="dt" sz="half" idx="10"/>
          </p:nvPr>
        </p:nvSpPr>
        <p:spPr/>
        <p:txBody>
          <a:bodyPr/>
          <a:lstStyle/>
          <a:p>
            <a:fld id="{3490C5E9-B3E8-4794-83EA-537C35117230}" type="datetimeFigureOut">
              <a:rPr lang="en-US" smtClean="0"/>
              <a:t>9/6/2026</a:t>
            </a:fld>
            <a:endParaRPr lang="en-US"/>
          </a:p>
        </p:txBody>
      </p:sp>
      <p:sp>
        <p:nvSpPr>
          <p:cNvPr id="5" name="Footer Placeholder 4">
            <a:extLst>
              <a:ext uri="{FF2B5EF4-FFF2-40B4-BE49-F238E27FC236}">
                <a16:creationId xmlns:a16="http://schemas.microsoft.com/office/drawing/2014/main" id="{EC878065-35F2-497A-AE7B-AC68389DBD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2CED0B7-8C03-4619-B016-DAB23DFF04E6}"/>
              </a:ext>
            </a:extLst>
          </p:cNvPr>
          <p:cNvSpPr>
            <a:spLocks noGrp="1"/>
          </p:cNvSpPr>
          <p:nvPr>
            <p:ph type="sldNum" sz="quarter" idx="12"/>
          </p:nvPr>
        </p:nvSpPr>
        <p:spPr/>
        <p:txBody>
          <a:bodyPr/>
          <a:lstStyle/>
          <a:p>
            <a:fld id="{5BD53C23-F9DB-4784-9357-0643AAC21A46}" type="slidenum">
              <a:rPr lang="en-US" smtClean="0"/>
              <a:t>‹#›</a:t>
            </a:fld>
            <a:endParaRPr lang="en-US"/>
          </a:p>
        </p:txBody>
      </p:sp>
    </p:spTree>
    <p:extLst>
      <p:ext uri="{BB962C8B-B14F-4D97-AF65-F5344CB8AC3E}">
        <p14:creationId xmlns:p14="http://schemas.microsoft.com/office/powerpoint/2010/main" val="13121956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E4881D7-42AA-4FBA-8C1E-37D480585FE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3876BA8-977F-438E-9F5D-41D7871A11A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0538856-70C7-4C14-9053-E92186809314}"/>
              </a:ext>
            </a:extLst>
          </p:cNvPr>
          <p:cNvSpPr>
            <a:spLocks noGrp="1"/>
          </p:cNvSpPr>
          <p:nvPr>
            <p:ph type="dt" sz="half" idx="10"/>
          </p:nvPr>
        </p:nvSpPr>
        <p:spPr/>
        <p:txBody>
          <a:bodyPr/>
          <a:lstStyle/>
          <a:p>
            <a:fld id="{3490C5E9-B3E8-4794-83EA-537C35117230}" type="datetimeFigureOut">
              <a:rPr lang="en-US" smtClean="0"/>
              <a:t>9/6/2026</a:t>
            </a:fld>
            <a:endParaRPr lang="en-US"/>
          </a:p>
        </p:txBody>
      </p:sp>
      <p:sp>
        <p:nvSpPr>
          <p:cNvPr id="5" name="Footer Placeholder 4">
            <a:extLst>
              <a:ext uri="{FF2B5EF4-FFF2-40B4-BE49-F238E27FC236}">
                <a16:creationId xmlns:a16="http://schemas.microsoft.com/office/drawing/2014/main" id="{8844276D-C927-465B-BFB7-AB416831693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B5D8D68-E6A7-4205-8BE7-81A529517F54}"/>
              </a:ext>
            </a:extLst>
          </p:cNvPr>
          <p:cNvSpPr>
            <a:spLocks noGrp="1"/>
          </p:cNvSpPr>
          <p:nvPr>
            <p:ph type="sldNum" sz="quarter" idx="12"/>
          </p:nvPr>
        </p:nvSpPr>
        <p:spPr/>
        <p:txBody>
          <a:bodyPr/>
          <a:lstStyle/>
          <a:p>
            <a:fld id="{5BD53C23-F9DB-4784-9357-0643AAC21A46}" type="slidenum">
              <a:rPr lang="en-US" smtClean="0"/>
              <a:t>‹#›</a:t>
            </a:fld>
            <a:endParaRPr lang="en-US"/>
          </a:p>
        </p:txBody>
      </p:sp>
    </p:spTree>
    <p:extLst>
      <p:ext uri="{BB962C8B-B14F-4D97-AF65-F5344CB8AC3E}">
        <p14:creationId xmlns:p14="http://schemas.microsoft.com/office/powerpoint/2010/main" val="13970305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2E24D63-3C60-4BBE-B616-0BD773C16C7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91F1AC2-2325-43F7-96D3-F5A99FA6373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82C16A-A986-4E3F-97A0-D7B983587F7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490C5E9-B3E8-4794-83EA-537C35117230}" type="datetimeFigureOut">
              <a:rPr lang="en-US" smtClean="0"/>
              <a:t>9/6/2026</a:t>
            </a:fld>
            <a:endParaRPr lang="en-US"/>
          </a:p>
        </p:txBody>
      </p:sp>
      <p:sp>
        <p:nvSpPr>
          <p:cNvPr id="5" name="Footer Placeholder 4">
            <a:extLst>
              <a:ext uri="{FF2B5EF4-FFF2-40B4-BE49-F238E27FC236}">
                <a16:creationId xmlns:a16="http://schemas.microsoft.com/office/drawing/2014/main" id="{1FF8A871-8932-478B-A3CE-683F0E7C535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0724700-F3EA-46E5-A578-E9F662B5CC0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BD53C23-F9DB-4784-9357-0643AAC21A46}" type="slidenum">
              <a:rPr lang="en-US" smtClean="0"/>
              <a:t>‹#›</a:t>
            </a:fld>
            <a:endParaRPr lang="en-US"/>
          </a:p>
        </p:txBody>
      </p:sp>
    </p:spTree>
    <p:extLst>
      <p:ext uri="{BB962C8B-B14F-4D97-AF65-F5344CB8AC3E}">
        <p14:creationId xmlns:p14="http://schemas.microsoft.com/office/powerpoint/2010/main" val="15329250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1.xml"/><Relationship Id="rId5" Type="http://schemas.openxmlformats.org/officeDocument/2006/relationships/image" Target="../media/image4.png"/><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hyperlink" Target="https://doi.org/10.1111/eva.70174Digital%20Object%20Identifier%20(DOI)" TargetMode="External"/></Relationships>
</file>

<file path=ppt/slides/_rels/slide5.xml.rels><?xml version="1.0" encoding="UTF-8" standalone="yes"?>
<Relationships xmlns="http://schemas.openxmlformats.org/package/2006/relationships"><Relationship Id="rId3" Type="http://schemas.openxmlformats.org/officeDocument/2006/relationships/hyperlink" Target="https://doi.org/10.1111/eva.70174Digital%20Object%20Identifier%20(DOI)" TargetMode="External"/><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6.png"/><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1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0.png"/><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2.png"/><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0512AF8-6D64-4C27-A074-B0543CB41AB4}"/>
              </a:ext>
            </a:extLst>
          </p:cNvPr>
          <p:cNvSpPr txBox="1"/>
          <p:nvPr/>
        </p:nvSpPr>
        <p:spPr>
          <a:xfrm>
            <a:off x="266766" y="2183217"/>
            <a:ext cx="4576959" cy="1938992"/>
          </a:xfrm>
          <a:prstGeom prst="rect">
            <a:avLst/>
          </a:prstGeom>
          <a:noFill/>
        </p:spPr>
        <p:txBody>
          <a:bodyPr wrap="none" rtlCol="0">
            <a:spAutoFit/>
          </a:bodyPr>
          <a:lstStyle/>
          <a:p>
            <a:pPr algn="ctr"/>
            <a:r>
              <a:rPr lang="en-US" sz="2400" dirty="0"/>
              <a:t>Steve Barbeaux and Pete </a:t>
            </a:r>
            <a:r>
              <a:rPr lang="en-US" sz="2400" dirty="0" err="1"/>
              <a:t>Hulson</a:t>
            </a:r>
            <a:endParaRPr lang="en-US" sz="2400" dirty="0"/>
          </a:p>
          <a:p>
            <a:pPr algn="ctr"/>
            <a:endParaRPr lang="en-US" sz="2400" dirty="0"/>
          </a:p>
          <a:p>
            <a:pPr algn="ctr"/>
            <a:endParaRPr lang="en-US" sz="2400" dirty="0"/>
          </a:p>
          <a:p>
            <a:pPr algn="ctr"/>
            <a:r>
              <a:rPr lang="en-US" sz="2400" dirty="0"/>
              <a:t>Joint NPFMC Groundfish Plan Team</a:t>
            </a:r>
          </a:p>
          <a:p>
            <a:pPr algn="ctr"/>
            <a:r>
              <a:rPr lang="en-US" sz="2400" dirty="0"/>
              <a:t>September 9, 2026</a:t>
            </a:r>
          </a:p>
        </p:txBody>
      </p:sp>
      <p:pic>
        <p:nvPicPr>
          <p:cNvPr id="6" name="Picture 5">
            <a:extLst>
              <a:ext uri="{FF2B5EF4-FFF2-40B4-BE49-F238E27FC236}">
                <a16:creationId xmlns:a16="http://schemas.microsoft.com/office/drawing/2014/main" id="{5873B909-69B7-4FDE-9C59-619F1433826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65093" y="4436115"/>
            <a:ext cx="2180303" cy="2180303"/>
          </a:xfrm>
          <a:prstGeom prst="rect">
            <a:avLst/>
          </a:prstGeom>
        </p:spPr>
      </p:pic>
      <p:sp>
        <p:nvSpPr>
          <p:cNvPr id="9" name="TextBox 8">
            <a:extLst>
              <a:ext uri="{FF2B5EF4-FFF2-40B4-BE49-F238E27FC236}">
                <a16:creationId xmlns:a16="http://schemas.microsoft.com/office/drawing/2014/main" id="{5E8693C1-6DDC-4112-9730-BE6650E4195E}"/>
              </a:ext>
            </a:extLst>
          </p:cNvPr>
          <p:cNvSpPr txBox="1"/>
          <p:nvPr/>
        </p:nvSpPr>
        <p:spPr>
          <a:xfrm>
            <a:off x="266766" y="449036"/>
            <a:ext cx="4792436" cy="1200329"/>
          </a:xfrm>
          <a:prstGeom prst="rect">
            <a:avLst/>
          </a:prstGeom>
          <a:noFill/>
        </p:spPr>
        <p:txBody>
          <a:bodyPr wrap="square" rtlCol="0">
            <a:spAutoFit/>
          </a:bodyPr>
          <a:lstStyle/>
          <a:p>
            <a:r>
              <a:rPr lang="en-US" sz="3600" b="1" dirty="0">
                <a:latin typeface="Georgia" panose="02040502050405020303" pitchFamily="18" charset="0"/>
              </a:rPr>
              <a:t>Pacific cod </a:t>
            </a:r>
          </a:p>
          <a:p>
            <a:r>
              <a:rPr lang="en-US" sz="3600" b="1" dirty="0">
                <a:latin typeface="Georgia" panose="02040502050405020303" pitchFamily="18" charset="0"/>
              </a:rPr>
              <a:t>in Space and Time</a:t>
            </a:r>
          </a:p>
        </p:txBody>
      </p:sp>
      <p:pic>
        <p:nvPicPr>
          <p:cNvPr id="10" name="Picture 9">
            <a:extLst>
              <a:ext uri="{FF2B5EF4-FFF2-40B4-BE49-F238E27FC236}">
                <a16:creationId xmlns:a16="http://schemas.microsoft.com/office/drawing/2014/main" id="{CBB116DF-23E2-4CEB-80A6-36D760F59761}"/>
              </a:ext>
            </a:extLst>
          </p:cNvPr>
          <p:cNvPicPr>
            <a:picLocks noChangeAspect="1"/>
          </p:cNvPicPr>
          <p:nvPr/>
        </p:nvPicPr>
        <p:blipFill>
          <a:blip r:embed="rId3"/>
          <a:stretch>
            <a:fillRect/>
          </a:stretch>
        </p:blipFill>
        <p:spPr>
          <a:xfrm>
            <a:off x="5334000" y="0"/>
            <a:ext cx="6858000" cy="6858000"/>
          </a:xfrm>
          <a:prstGeom prst="rect">
            <a:avLst/>
          </a:prstGeom>
        </p:spPr>
      </p:pic>
    </p:spTree>
    <p:extLst>
      <p:ext uri="{BB962C8B-B14F-4D97-AF65-F5344CB8AC3E}">
        <p14:creationId xmlns:p14="http://schemas.microsoft.com/office/powerpoint/2010/main" val="37972985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2" descr="https://www.pnas.org/content/pnas/115/52/13288/F1.large.jpg?width=800&amp;height=600&amp;carousel=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03446" y="2945761"/>
            <a:ext cx="6826606" cy="2773308"/>
          </a:xfrm>
          <a:prstGeom prst="rect">
            <a:avLst/>
          </a:prstGeom>
          <a:noFill/>
          <a:extLst>
            <a:ext uri="{909E8E84-426E-40DD-AFC4-6F175D3DCCD1}">
              <a14:hiddenFill xmlns:a14="http://schemas.microsoft.com/office/drawing/2010/main">
                <a:solidFill>
                  <a:srgbClr val="FFFFFF"/>
                </a:solidFill>
              </a14:hiddenFill>
            </a:ext>
          </a:extLst>
        </p:spPr>
      </p:pic>
      <p:sp>
        <p:nvSpPr>
          <p:cNvPr id="30" name="Rectangle 29">
            <a:extLst>
              <a:ext uri="{FF2B5EF4-FFF2-40B4-BE49-F238E27FC236}">
                <a16:creationId xmlns:a16="http://schemas.microsoft.com/office/drawing/2014/main" id="{D5ACFFA3-436C-4D52-91AB-75C23FB683A4}"/>
              </a:ext>
            </a:extLst>
          </p:cNvPr>
          <p:cNvSpPr/>
          <p:nvPr/>
        </p:nvSpPr>
        <p:spPr>
          <a:xfrm>
            <a:off x="8639248" y="3936152"/>
            <a:ext cx="550923" cy="23527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3DD7F6B2-9458-4631-9818-C9425A6E01B8}"/>
              </a:ext>
            </a:extLst>
          </p:cNvPr>
          <p:cNvSpPr/>
          <p:nvPr/>
        </p:nvSpPr>
        <p:spPr>
          <a:xfrm>
            <a:off x="6985200" y="3893127"/>
            <a:ext cx="550923" cy="23527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p:cNvPicPr>
            <a:picLocks noChangeAspect="1"/>
          </p:cNvPicPr>
          <p:nvPr/>
        </p:nvPicPr>
        <p:blipFill>
          <a:blip r:embed="rId5"/>
          <a:stretch>
            <a:fillRect/>
          </a:stretch>
        </p:blipFill>
        <p:spPr>
          <a:xfrm>
            <a:off x="97286" y="55719"/>
            <a:ext cx="4273868" cy="4243341"/>
          </a:xfrm>
          <a:prstGeom prst="rect">
            <a:avLst/>
          </a:prstGeom>
        </p:spPr>
      </p:pic>
      <p:sp>
        <p:nvSpPr>
          <p:cNvPr id="7" name="Text Placeholder 3"/>
          <p:cNvSpPr txBox="1">
            <a:spLocks/>
          </p:cNvSpPr>
          <p:nvPr/>
        </p:nvSpPr>
        <p:spPr>
          <a:xfrm>
            <a:off x="2209802" y="5506520"/>
            <a:ext cx="6375399" cy="1173511"/>
          </a:xfrm>
          <a:prstGeom prst="rect">
            <a:avLst/>
          </a:prstGeom>
        </p:spPr>
        <p:txBody>
          <a:bodyPr>
            <a:noAutofit/>
          </a:bodyPr>
          <a:lstStyle>
            <a:lvl1pPr marL="182875" indent="-182875" algn="l" defTabSz="914377" rtl="0" eaLnBrk="1" latinLnBrk="0" hangingPunct="1">
              <a:lnSpc>
                <a:spcPct val="95000"/>
              </a:lnSpc>
              <a:spcBef>
                <a:spcPts val="1400"/>
              </a:spcBef>
              <a:spcAft>
                <a:spcPts val="200"/>
              </a:spcAft>
              <a:buClr>
                <a:schemeClr val="accent1"/>
              </a:buClr>
              <a:buSzPct val="80000"/>
              <a:buFont typeface="Arial" pitchFamily="34" charset="0"/>
              <a:buChar char="•"/>
              <a:defRPr sz="1800" b="0" i="0" kern="1200" spc="11" baseline="0">
                <a:solidFill>
                  <a:schemeClr val="tx1"/>
                </a:solidFill>
                <a:latin typeface="Cambria" panose="02040503050406030204" pitchFamily="18" charset="0"/>
                <a:ea typeface="+mn-ea"/>
                <a:cs typeface="+mn-cs"/>
              </a:defRPr>
            </a:lvl1pPr>
            <a:lvl2pPr marL="457189" indent="-182875" algn="l" defTabSz="914377" rtl="0" eaLnBrk="1" latinLnBrk="0" hangingPunct="1">
              <a:lnSpc>
                <a:spcPct val="90000"/>
              </a:lnSpc>
              <a:spcBef>
                <a:spcPts val="300"/>
              </a:spcBef>
              <a:spcAft>
                <a:spcPts val="300"/>
              </a:spcAft>
              <a:buClr>
                <a:schemeClr val="accent1"/>
              </a:buClr>
              <a:buFont typeface="Wingdings 2" pitchFamily="18" charset="2"/>
              <a:buChar char=""/>
              <a:defRPr sz="1600" b="0" i="0" kern="1200">
                <a:solidFill>
                  <a:schemeClr val="tx1">
                    <a:lumMod val="85000"/>
                    <a:lumOff val="15000"/>
                  </a:schemeClr>
                </a:solidFill>
                <a:latin typeface="Cambria" panose="02040503050406030204" pitchFamily="18" charset="0"/>
                <a:ea typeface="+mn-ea"/>
                <a:cs typeface="+mn-cs"/>
              </a:defRPr>
            </a:lvl2pPr>
            <a:lvl3pPr marL="731502" indent="-182875" algn="l" defTabSz="914377" rtl="0" eaLnBrk="1" latinLnBrk="0" hangingPunct="1">
              <a:lnSpc>
                <a:spcPct val="90000"/>
              </a:lnSpc>
              <a:spcBef>
                <a:spcPts val="300"/>
              </a:spcBef>
              <a:spcAft>
                <a:spcPts val="300"/>
              </a:spcAft>
              <a:buClr>
                <a:schemeClr val="accent1"/>
              </a:buClr>
              <a:buFont typeface="Wingdings 2" pitchFamily="18" charset="2"/>
              <a:buChar char=""/>
              <a:defRPr sz="1400" b="0" i="0" kern="1200">
                <a:solidFill>
                  <a:schemeClr val="tx1">
                    <a:lumMod val="85000"/>
                    <a:lumOff val="15000"/>
                  </a:schemeClr>
                </a:solidFill>
                <a:latin typeface="Cambria" panose="02040503050406030204" pitchFamily="18" charset="0"/>
                <a:ea typeface="+mn-ea"/>
                <a:cs typeface="+mn-cs"/>
              </a:defRPr>
            </a:lvl3pPr>
            <a:lvl4pPr marL="1005815" indent="-182875" algn="l" defTabSz="914377" rtl="0" eaLnBrk="1" latinLnBrk="0" hangingPunct="1">
              <a:lnSpc>
                <a:spcPct val="90000"/>
              </a:lnSpc>
              <a:spcBef>
                <a:spcPts val="300"/>
              </a:spcBef>
              <a:spcAft>
                <a:spcPts val="300"/>
              </a:spcAft>
              <a:buClr>
                <a:schemeClr val="accent1"/>
              </a:buClr>
              <a:buFont typeface="Wingdings 2" pitchFamily="18" charset="2"/>
              <a:buChar char=""/>
              <a:defRPr sz="1400" b="0" i="0" kern="1200">
                <a:solidFill>
                  <a:schemeClr val="tx1">
                    <a:lumMod val="85000"/>
                    <a:lumOff val="15000"/>
                  </a:schemeClr>
                </a:solidFill>
                <a:latin typeface="Cambria" panose="02040503050406030204" pitchFamily="18" charset="0"/>
                <a:ea typeface="+mn-ea"/>
                <a:cs typeface="+mn-cs"/>
              </a:defRPr>
            </a:lvl4pPr>
            <a:lvl5pPr marL="1280128" indent="-182875" algn="l" defTabSz="914377" rtl="0" eaLnBrk="1" latinLnBrk="0" hangingPunct="1">
              <a:lnSpc>
                <a:spcPct val="90000"/>
              </a:lnSpc>
              <a:spcBef>
                <a:spcPts val="300"/>
              </a:spcBef>
              <a:spcAft>
                <a:spcPts val="300"/>
              </a:spcAft>
              <a:buClr>
                <a:schemeClr val="accent1"/>
              </a:buClr>
              <a:buFont typeface="Wingdings 2" pitchFamily="18" charset="2"/>
              <a:buChar char=""/>
              <a:defRPr sz="1400" b="0" i="0" kern="1200">
                <a:solidFill>
                  <a:schemeClr val="tx1">
                    <a:lumMod val="85000"/>
                    <a:lumOff val="15000"/>
                  </a:schemeClr>
                </a:solidFill>
                <a:latin typeface="Cambria" panose="02040503050406030204" pitchFamily="18" charset="0"/>
                <a:ea typeface="+mn-ea"/>
                <a:cs typeface="+mn-cs"/>
              </a:defRPr>
            </a:lvl5pPr>
            <a:lvl6pPr marL="1599960" indent="-228594" algn="l" defTabSz="914377"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899953" indent="-228594" algn="l" defTabSz="914377"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199945" indent="-228594" algn="l" defTabSz="914377"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499938" indent="-228594" algn="l" defTabSz="914377"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a:lnSpc>
                <a:spcPct val="100000"/>
              </a:lnSpc>
              <a:spcBef>
                <a:spcPts val="600"/>
              </a:spcBef>
              <a:spcAft>
                <a:spcPts val="0"/>
              </a:spcAft>
              <a:buClr>
                <a:srgbClr val="008998"/>
              </a:buClr>
              <a:defRPr/>
            </a:pPr>
            <a:endParaRPr lang="en-US" dirty="0">
              <a:solidFill>
                <a:srgbClr val="FFFFFF"/>
              </a:solidFill>
            </a:endParaRPr>
          </a:p>
        </p:txBody>
      </p:sp>
      <p:sp>
        <p:nvSpPr>
          <p:cNvPr id="8" name="Title 1"/>
          <p:cNvSpPr txBox="1">
            <a:spLocks/>
          </p:cNvSpPr>
          <p:nvPr/>
        </p:nvSpPr>
        <p:spPr>
          <a:xfrm>
            <a:off x="4502926" y="-354899"/>
            <a:ext cx="8823569" cy="821236"/>
          </a:xfrm>
          <a:prstGeom prst="rect">
            <a:avLst/>
          </a:prstGeom>
        </p:spPr>
        <p:txBody>
          <a:bodyPr vert="horz" lIns="91440" tIns="45720" rIns="91440" bIns="45720" rtlCol="0" anchor="b">
            <a:noAutofit/>
          </a:bodyPr>
          <a:lstStyle>
            <a:lvl1pPr algn="l" defTabSz="914377" rtl="0" eaLnBrk="1" latinLnBrk="0" hangingPunct="1">
              <a:lnSpc>
                <a:spcPct val="90000"/>
              </a:lnSpc>
              <a:spcBef>
                <a:spcPct val="0"/>
              </a:spcBef>
              <a:buNone/>
              <a:defRPr sz="4400" kern="1200" spc="-51" baseline="0">
                <a:solidFill>
                  <a:schemeClr val="tx2"/>
                </a:solidFill>
                <a:latin typeface="Cambria" panose="02040503050406030204" pitchFamily="18" charset="0"/>
                <a:ea typeface="+mj-ea"/>
                <a:cs typeface="+mj-cs"/>
              </a:defRPr>
            </a:lvl1pPr>
          </a:lstStyle>
          <a:p>
            <a:pPr>
              <a:defRPr/>
            </a:pPr>
            <a:r>
              <a:rPr lang="en-US" sz="2800" b="1" dirty="0">
                <a:solidFill>
                  <a:schemeClr val="tx1"/>
                </a:solidFill>
              </a:rPr>
              <a:t>Pre-history of </a:t>
            </a:r>
            <a:r>
              <a:rPr lang="en-US" sz="2800" b="1" dirty="0" err="1">
                <a:solidFill>
                  <a:schemeClr val="tx1"/>
                </a:solidFill>
              </a:rPr>
              <a:t>gadids</a:t>
            </a:r>
            <a:r>
              <a:rPr lang="en-US" sz="2800" b="1" dirty="0">
                <a:solidFill>
                  <a:schemeClr val="tx1"/>
                </a:solidFill>
              </a:rPr>
              <a:t> in the Pacific Ocean</a:t>
            </a:r>
          </a:p>
        </p:txBody>
      </p:sp>
      <p:sp>
        <p:nvSpPr>
          <p:cNvPr id="6" name="TextBox 5"/>
          <p:cNvSpPr txBox="1"/>
          <p:nvPr/>
        </p:nvSpPr>
        <p:spPr>
          <a:xfrm>
            <a:off x="5057364" y="481544"/>
            <a:ext cx="6971151" cy="1938992"/>
          </a:xfrm>
          <a:prstGeom prst="rect">
            <a:avLst/>
          </a:prstGeom>
          <a:noFill/>
        </p:spPr>
        <p:txBody>
          <a:bodyPr wrap="square" rtlCol="0">
            <a:spAutoFit/>
          </a:bodyPr>
          <a:lstStyle/>
          <a:p>
            <a:pPr marL="285750" indent="-285750">
              <a:buFont typeface="Arial" panose="020B0604020202020204" pitchFamily="34" charset="0"/>
              <a:buChar char="•"/>
            </a:pPr>
            <a:r>
              <a:rPr lang="en-US" sz="2400" dirty="0"/>
              <a:t>Pacific cod and walleye pollock are both derived from an Atlantic cod common ancestor</a:t>
            </a:r>
          </a:p>
          <a:p>
            <a:pPr marL="285750" indent="-285750">
              <a:buFont typeface="Arial" panose="020B0604020202020204" pitchFamily="34" charset="0"/>
              <a:buChar char="•"/>
            </a:pPr>
            <a:r>
              <a:rPr lang="en-US" sz="2400" dirty="0"/>
              <a:t>Pliocene divergence</a:t>
            </a:r>
          </a:p>
          <a:p>
            <a:pPr marL="628650" lvl="1" indent="-285750">
              <a:buFont typeface="Arial" panose="020B0604020202020204" pitchFamily="34" charset="0"/>
              <a:buChar char="•"/>
            </a:pPr>
            <a:r>
              <a:rPr lang="en-US" sz="2400" dirty="0"/>
              <a:t>Pacific cod ~4 million years</a:t>
            </a:r>
          </a:p>
          <a:p>
            <a:pPr marL="628650" lvl="1" indent="-285750">
              <a:buFont typeface="Arial" panose="020B0604020202020204" pitchFamily="34" charset="0"/>
              <a:buChar char="•"/>
            </a:pPr>
            <a:r>
              <a:rPr lang="en-US" sz="2400" dirty="0"/>
              <a:t>Pollock ~3.8 million years</a:t>
            </a:r>
          </a:p>
        </p:txBody>
      </p:sp>
      <p:sp>
        <p:nvSpPr>
          <p:cNvPr id="9" name="TextBox 8"/>
          <p:cNvSpPr txBox="1"/>
          <p:nvPr/>
        </p:nvSpPr>
        <p:spPr>
          <a:xfrm>
            <a:off x="30783" y="5807927"/>
            <a:ext cx="11997732" cy="1908215"/>
          </a:xfrm>
          <a:prstGeom prst="rect">
            <a:avLst/>
          </a:prstGeom>
          <a:noFill/>
        </p:spPr>
        <p:txBody>
          <a:bodyPr wrap="square" rtlCol="0">
            <a:spAutoFit/>
          </a:bodyPr>
          <a:lstStyle/>
          <a:p>
            <a:r>
              <a:rPr lang="en-US" dirty="0"/>
              <a:t>Pre-history from genetic studies</a:t>
            </a:r>
          </a:p>
          <a:p>
            <a:endParaRPr lang="en-US" sz="1000" dirty="0"/>
          </a:p>
          <a:p>
            <a:r>
              <a:rPr lang="en-US" sz="1100" dirty="0"/>
              <a:t>Coulson, M.W., Marshall, H.D., Pepin, P. and </a:t>
            </a:r>
            <a:r>
              <a:rPr lang="en-US" sz="1100" dirty="0" err="1"/>
              <a:t>Carr</a:t>
            </a:r>
            <a:r>
              <a:rPr lang="en-US" sz="1100" dirty="0"/>
              <a:t>, S.M., 2006. Mitochondrial genomics of </a:t>
            </a:r>
            <a:r>
              <a:rPr lang="en-US" sz="1100" dirty="0" err="1"/>
              <a:t>gadine</a:t>
            </a:r>
            <a:r>
              <a:rPr lang="en-US" sz="1100" dirty="0"/>
              <a:t> fishes: implications for taxonomy and biogeographic origins from whole-genome data sets. Genome, 49(9), pp.1115-1130</a:t>
            </a:r>
          </a:p>
          <a:p>
            <a:r>
              <a:rPr lang="en-US" sz="1100" dirty="0" err="1"/>
              <a:t>Árnason</a:t>
            </a:r>
            <a:r>
              <a:rPr lang="en-US" sz="1100" dirty="0"/>
              <a:t>, E. and </a:t>
            </a:r>
            <a:r>
              <a:rPr lang="en-US" sz="1100" dirty="0" err="1"/>
              <a:t>Halldórsdóttir</a:t>
            </a:r>
            <a:r>
              <a:rPr lang="en-US" sz="1100" dirty="0"/>
              <a:t>, K., 2019. </a:t>
            </a:r>
            <a:r>
              <a:rPr lang="en-US" sz="1100" dirty="0" err="1"/>
              <a:t>Codweb</a:t>
            </a:r>
            <a:r>
              <a:rPr lang="en-US" sz="1100" dirty="0"/>
              <a:t>: Whole-genome sequencing uncovers extensive reticulations fueling adaptation among Atlantic, Arctic, and Pacific </a:t>
            </a:r>
            <a:r>
              <a:rPr lang="en-US" sz="1100" dirty="0" err="1"/>
              <a:t>gadids</a:t>
            </a:r>
            <a:r>
              <a:rPr lang="en-US" sz="1100" dirty="0"/>
              <a:t>. Science advances, 5(3), p.eaat8788.</a:t>
            </a:r>
          </a:p>
          <a:p>
            <a:endParaRPr lang="en-US" sz="1000" dirty="0"/>
          </a:p>
          <a:p>
            <a:r>
              <a:rPr lang="en-US" sz="1000" dirty="0">
                <a:solidFill>
                  <a:schemeClr val="bg1"/>
                </a:solidFill>
              </a:rPr>
              <a:t>.</a:t>
            </a:r>
          </a:p>
          <a:p>
            <a:endParaRPr lang="en-US" sz="1000" dirty="0">
              <a:solidFill>
                <a:schemeClr val="bg1"/>
              </a:solidFill>
            </a:endParaRPr>
          </a:p>
          <a:p>
            <a:endParaRPr lang="en-US" sz="900" dirty="0">
              <a:solidFill>
                <a:schemeClr val="bg1"/>
              </a:solidFill>
            </a:endParaRPr>
          </a:p>
          <a:p>
            <a:pPr marL="285750" indent="-285750">
              <a:buFont typeface="Arial" panose="020B0604020202020204" pitchFamily="34" charset="0"/>
              <a:buChar char="•"/>
            </a:pPr>
            <a:endParaRPr lang="en-US" dirty="0">
              <a:solidFill>
                <a:schemeClr val="bg1"/>
              </a:solidFill>
            </a:endParaRPr>
          </a:p>
        </p:txBody>
      </p:sp>
      <p:sp>
        <p:nvSpPr>
          <p:cNvPr id="12" name="TextBox 11"/>
          <p:cNvSpPr txBox="1"/>
          <p:nvPr/>
        </p:nvSpPr>
        <p:spPr>
          <a:xfrm>
            <a:off x="10724273" y="5684816"/>
            <a:ext cx="1205779" cy="246221"/>
          </a:xfrm>
          <a:prstGeom prst="rect">
            <a:avLst/>
          </a:prstGeom>
          <a:noFill/>
        </p:spPr>
        <p:txBody>
          <a:bodyPr wrap="none" rtlCol="0">
            <a:spAutoFit/>
          </a:bodyPr>
          <a:lstStyle/>
          <a:p>
            <a:r>
              <a:rPr lang="en-US" sz="1000" dirty="0"/>
              <a:t>Burke et al. (2018.) </a:t>
            </a:r>
            <a:endParaRPr lang="en-US" dirty="0"/>
          </a:p>
        </p:txBody>
      </p:sp>
      <p:sp>
        <p:nvSpPr>
          <p:cNvPr id="13" name="TextBox 12"/>
          <p:cNvSpPr txBox="1"/>
          <p:nvPr/>
        </p:nvSpPr>
        <p:spPr>
          <a:xfrm>
            <a:off x="326191" y="3828511"/>
            <a:ext cx="1782860" cy="230832"/>
          </a:xfrm>
          <a:prstGeom prst="rect">
            <a:avLst/>
          </a:prstGeom>
          <a:noFill/>
        </p:spPr>
        <p:txBody>
          <a:bodyPr wrap="none" rtlCol="0">
            <a:spAutoFit/>
          </a:bodyPr>
          <a:lstStyle/>
          <a:p>
            <a:r>
              <a:rPr lang="en-US" sz="900" dirty="0" err="1"/>
              <a:t>Árnason</a:t>
            </a:r>
            <a:r>
              <a:rPr lang="en-US" sz="900" dirty="0"/>
              <a:t> and </a:t>
            </a:r>
            <a:r>
              <a:rPr lang="en-US" sz="900" dirty="0" err="1"/>
              <a:t>Halldórsdóttir</a:t>
            </a:r>
            <a:r>
              <a:rPr lang="en-US" sz="900" dirty="0"/>
              <a:t> (2019)</a:t>
            </a:r>
          </a:p>
        </p:txBody>
      </p:sp>
      <p:cxnSp>
        <p:nvCxnSpPr>
          <p:cNvPr id="34" name="Straight Connector 33"/>
          <p:cNvCxnSpPr/>
          <p:nvPr/>
        </p:nvCxnSpPr>
        <p:spPr>
          <a:xfrm flipH="1" flipV="1">
            <a:off x="3068321" y="1072343"/>
            <a:ext cx="184728" cy="840509"/>
          </a:xfrm>
          <a:prstGeom prst="line">
            <a:avLst/>
          </a:prstGeom>
          <a:ln w="38100"/>
        </p:spPr>
        <p:style>
          <a:lnRef idx="1">
            <a:schemeClr val="accent6"/>
          </a:lnRef>
          <a:fillRef idx="0">
            <a:schemeClr val="accent6"/>
          </a:fillRef>
          <a:effectRef idx="0">
            <a:schemeClr val="accent6"/>
          </a:effectRef>
          <a:fontRef idx="minor">
            <a:schemeClr val="tx1"/>
          </a:fontRef>
        </p:style>
      </p:cxnSp>
      <p:cxnSp>
        <p:nvCxnSpPr>
          <p:cNvPr id="37" name="Straight Connector 36"/>
          <p:cNvCxnSpPr/>
          <p:nvPr/>
        </p:nvCxnSpPr>
        <p:spPr>
          <a:xfrm flipH="1" flipV="1">
            <a:off x="3132976" y="1349700"/>
            <a:ext cx="127089" cy="586508"/>
          </a:xfrm>
          <a:prstGeom prst="line">
            <a:avLst/>
          </a:prstGeom>
          <a:ln w="19050">
            <a:solidFill>
              <a:srgbClr val="FFC000"/>
            </a:solidFill>
          </a:ln>
        </p:spPr>
        <p:style>
          <a:lnRef idx="1">
            <a:schemeClr val="accent6"/>
          </a:lnRef>
          <a:fillRef idx="0">
            <a:schemeClr val="accent6"/>
          </a:fillRef>
          <a:effectRef idx="0">
            <a:schemeClr val="accent6"/>
          </a:effectRef>
          <a:fontRef idx="minor">
            <a:schemeClr val="tx1"/>
          </a:fontRef>
        </p:style>
      </p:cxnSp>
      <p:cxnSp>
        <p:nvCxnSpPr>
          <p:cNvPr id="42" name="Straight Arrow Connector 41"/>
          <p:cNvCxnSpPr/>
          <p:nvPr/>
        </p:nvCxnSpPr>
        <p:spPr>
          <a:xfrm flipH="1" flipV="1">
            <a:off x="888541" y="869142"/>
            <a:ext cx="2179781" cy="212436"/>
          </a:xfrm>
          <a:prstGeom prst="straightConnector1">
            <a:avLst/>
          </a:prstGeom>
          <a:ln w="3175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p:nvPr/>
        </p:nvCxnSpPr>
        <p:spPr>
          <a:xfrm flipH="1">
            <a:off x="990141" y="1364371"/>
            <a:ext cx="2142834" cy="40481"/>
          </a:xfrm>
          <a:prstGeom prst="straightConnector1">
            <a:avLst/>
          </a:prstGeom>
          <a:ln w="25400">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49" name="Rectangle 48"/>
          <p:cNvSpPr/>
          <p:nvPr/>
        </p:nvSpPr>
        <p:spPr>
          <a:xfrm>
            <a:off x="5347856" y="3740727"/>
            <a:ext cx="341745" cy="203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p:cNvSpPr/>
          <p:nvPr/>
        </p:nvSpPr>
        <p:spPr>
          <a:xfrm>
            <a:off x="7775162" y="3672624"/>
            <a:ext cx="341745" cy="203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p:cNvSpPr/>
          <p:nvPr/>
        </p:nvSpPr>
        <p:spPr>
          <a:xfrm>
            <a:off x="8743839" y="3689927"/>
            <a:ext cx="341745" cy="203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p:cNvSpPr/>
          <p:nvPr/>
        </p:nvSpPr>
        <p:spPr>
          <a:xfrm>
            <a:off x="9265445" y="4225361"/>
            <a:ext cx="269081" cy="14423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7008360" y="3060361"/>
            <a:ext cx="128816" cy="2403084"/>
          </a:xfrm>
          <a:prstGeom prst="rect">
            <a:avLst/>
          </a:prstGeom>
          <a:solidFill>
            <a:schemeClr val="accent6">
              <a:lumMod val="7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p:cNvSpPr/>
          <p:nvPr/>
        </p:nvSpPr>
        <p:spPr>
          <a:xfrm>
            <a:off x="7071956" y="3039319"/>
            <a:ext cx="55449" cy="2403084"/>
          </a:xfrm>
          <a:prstGeom prst="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p:cNvSpPr/>
          <p:nvPr/>
        </p:nvSpPr>
        <p:spPr>
          <a:xfrm>
            <a:off x="9931246" y="3929404"/>
            <a:ext cx="550923" cy="23527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57"/>
          <p:cNvSpPr/>
          <p:nvPr/>
        </p:nvSpPr>
        <p:spPr>
          <a:xfrm>
            <a:off x="9143999" y="4297680"/>
            <a:ext cx="92869" cy="600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0" name="Straight Connector 59"/>
          <p:cNvCxnSpPr>
            <a:cxnSpLocks/>
          </p:cNvCxnSpPr>
          <p:nvPr/>
        </p:nvCxnSpPr>
        <p:spPr>
          <a:xfrm flipH="1">
            <a:off x="9177338" y="4357686"/>
            <a:ext cx="88107" cy="102395"/>
          </a:xfrm>
          <a:prstGeom prst="line">
            <a:avLst/>
          </a:prstGeom>
          <a:ln>
            <a:solidFill>
              <a:srgbClr val="9B9B9B"/>
            </a:solidFill>
          </a:ln>
        </p:spPr>
        <p:style>
          <a:lnRef idx="1">
            <a:schemeClr val="accent1"/>
          </a:lnRef>
          <a:fillRef idx="0">
            <a:schemeClr val="accent1"/>
          </a:fillRef>
          <a:effectRef idx="0">
            <a:schemeClr val="accent1"/>
          </a:effectRef>
          <a:fontRef idx="minor">
            <a:schemeClr val="tx1"/>
          </a:fontRef>
        </p:style>
      </p:cxnSp>
      <p:sp>
        <p:nvSpPr>
          <p:cNvPr id="61" name="Rectangle 60"/>
          <p:cNvSpPr/>
          <p:nvPr/>
        </p:nvSpPr>
        <p:spPr>
          <a:xfrm>
            <a:off x="8639248" y="3077433"/>
            <a:ext cx="140789" cy="2404148"/>
          </a:xfrm>
          <a:prstGeom prst="rect">
            <a:avLst/>
          </a:prstGeom>
          <a:solidFill>
            <a:schemeClr val="tx1">
              <a:alpha val="3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39FD6B5D-C84F-4F19-8475-33E6492DD810}"/>
              </a:ext>
            </a:extLst>
          </p:cNvPr>
          <p:cNvSpPr/>
          <p:nvPr/>
        </p:nvSpPr>
        <p:spPr>
          <a:xfrm>
            <a:off x="5440104" y="4045316"/>
            <a:ext cx="550923" cy="23527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7303403" y="3078805"/>
            <a:ext cx="2559684" cy="2366159"/>
          </a:xfrm>
          <a:prstGeom prst="rect">
            <a:avLst/>
          </a:prstGeom>
          <a:solidFill>
            <a:schemeClr val="accent1">
              <a:lumMod val="60000"/>
              <a:lumOff val="4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1"/>
                </a:solidFill>
              </a:rPr>
              <a:t>Ice Ages</a:t>
            </a:r>
          </a:p>
        </p:txBody>
      </p:sp>
      <p:sp>
        <p:nvSpPr>
          <p:cNvPr id="31" name="Rectangle 30">
            <a:extLst>
              <a:ext uri="{FF2B5EF4-FFF2-40B4-BE49-F238E27FC236}">
                <a16:creationId xmlns:a16="http://schemas.microsoft.com/office/drawing/2014/main" id="{2ED04BE3-EA09-4463-97F6-A982FC879E6E}"/>
              </a:ext>
            </a:extLst>
          </p:cNvPr>
          <p:cNvSpPr/>
          <p:nvPr/>
        </p:nvSpPr>
        <p:spPr>
          <a:xfrm>
            <a:off x="10530457" y="4646815"/>
            <a:ext cx="550923" cy="32419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CB479ED7-12D8-4567-9484-CA8F2D1E5AE1}"/>
              </a:ext>
            </a:extLst>
          </p:cNvPr>
          <p:cNvSpPr/>
          <p:nvPr/>
        </p:nvSpPr>
        <p:spPr>
          <a:xfrm>
            <a:off x="9949673" y="4722708"/>
            <a:ext cx="550923" cy="32419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a:extLst>
              <a:ext uri="{FF2B5EF4-FFF2-40B4-BE49-F238E27FC236}">
                <a16:creationId xmlns:a16="http://schemas.microsoft.com/office/drawing/2014/main" id="{83C69C53-9088-42B6-A874-A7C1DEE266D0}"/>
              </a:ext>
            </a:extLst>
          </p:cNvPr>
          <p:cNvSpPr txBox="1"/>
          <p:nvPr/>
        </p:nvSpPr>
        <p:spPr>
          <a:xfrm>
            <a:off x="8695864" y="3784920"/>
            <a:ext cx="1503681" cy="523220"/>
          </a:xfrm>
          <a:prstGeom prst="rect">
            <a:avLst/>
          </a:prstGeom>
          <a:noFill/>
        </p:spPr>
        <p:txBody>
          <a:bodyPr wrap="none" rtlCol="0">
            <a:spAutoFit/>
          </a:bodyPr>
          <a:lstStyle/>
          <a:p>
            <a:r>
              <a:rPr lang="en-US" sz="1400" dirty="0"/>
              <a:t>Homo sapiens </a:t>
            </a:r>
          </a:p>
          <a:p>
            <a:r>
              <a:rPr lang="en-US" sz="1400" dirty="0"/>
              <a:t>walk out of Africa </a:t>
            </a:r>
          </a:p>
        </p:txBody>
      </p:sp>
      <p:sp>
        <p:nvSpPr>
          <p:cNvPr id="36" name="TextBox 35">
            <a:extLst>
              <a:ext uri="{FF2B5EF4-FFF2-40B4-BE49-F238E27FC236}">
                <a16:creationId xmlns:a16="http://schemas.microsoft.com/office/drawing/2014/main" id="{AEEB5B08-3B11-4513-A40F-6D2474446203}"/>
              </a:ext>
            </a:extLst>
          </p:cNvPr>
          <p:cNvSpPr txBox="1"/>
          <p:nvPr/>
        </p:nvSpPr>
        <p:spPr>
          <a:xfrm>
            <a:off x="6994784" y="3391692"/>
            <a:ext cx="1415131" cy="523220"/>
          </a:xfrm>
          <a:prstGeom prst="rect">
            <a:avLst/>
          </a:prstGeom>
          <a:noFill/>
        </p:spPr>
        <p:txBody>
          <a:bodyPr wrap="none" rtlCol="0">
            <a:spAutoFit/>
          </a:bodyPr>
          <a:lstStyle/>
          <a:p>
            <a:r>
              <a:rPr lang="en-US" sz="1400" dirty="0"/>
              <a:t>Pacific cod arrive</a:t>
            </a:r>
          </a:p>
          <a:p>
            <a:r>
              <a:rPr lang="en-US" sz="1400" dirty="0"/>
              <a:t>from Atlantic</a:t>
            </a:r>
          </a:p>
        </p:txBody>
      </p:sp>
    </p:spTree>
    <p:custDataLst>
      <p:tags r:id="rId1"/>
    </p:custDataLst>
    <p:extLst>
      <p:ext uri="{BB962C8B-B14F-4D97-AF65-F5344CB8AC3E}">
        <p14:creationId xmlns:p14="http://schemas.microsoft.com/office/powerpoint/2010/main" val="990400807"/>
      </p:ext>
    </p:extLst>
  </p:cSld>
  <p:clrMapOvr>
    <a:masterClrMapping/>
  </p:clrMapOvr>
  <p:transition spd="slow" advClick="0" advTm="40384">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500"/>
                                  </p:stCondLst>
                                  <p:childTnLst>
                                    <p:set>
                                      <p:cBhvr>
                                        <p:cTn id="8" dur="1" fill="hold">
                                          <p:stCondLst>
                                            <p:cond delay="0"/>
                                          </p:stCondLst>
                                        </p:cTn>
                                        <p:tgtEl>
                                          <p:spTgt spid="5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2"/>
                                        </p:tgtEl>
                                        <p:attrNameLst>
                                          <p:attrName>style.visibility</p:attrName>
                                        </p:attrNameLst>
                                      </p:cBhvr>
                                      <p:to>
                                        <p:strVal val="visible"/>
                                      </p:to>
                                    </p:set>
                                  </p:childTnLst>
                                </p:cTn>
                              </p:par>
                              <p:par>
                                <p:cTn id="13" presetID="1" presetClass="entr" presetSubtype="0" fill="hold" nodeType="withEffect">
                                  <p:stCondLst>
                                    <p:cond delay="500"/>
                                  </p:stCondLst>
                                  <p:childTnLst>
                                    <p:set>
                                      <p:cBhvr>
                                        <p:cTn id="14" dur="1" fill="hold">
                                          <p:stCondLst>
                                            <p:cond delay="0"/>
                                          </p:stCondLst>
                                        </p:cTn>
                                        <p:tgtEl>
                                          <p:spTgt spid="44"/>
                                        </p:tgtEl>
                                        <p:attrNameLst>
                                          <p:attrName>style.visibility</p:attrName>
                                        </p:attrNameLst>
                                      </p:cBhvr>
                                      <p:to>
                                        <p:strVal val="visible"/>
                                      </p:to>
                                    </p:set>
                                  </p:childTnLst>
                                </p:cTn>
                              </p:par>
                              <p:par>
                                <p:cTn id="15" presetID="1" presetClass="entr" presetSubtype="0" fill="hold" nodeType="withEffect">
                                  <p:stCondLst>
                                    <p:cond delay="500"/>
                                  </p:stCondLst>
                                  <p:childTnLst>
                                    <p:set>
                                      <p:cBhvr>
                                        <p:cTn id="16" dur="1" fill="hold">
                                          <p:stCondLst>
                                            <p:cond delay="0"/>
                                          </p:stCondLst>
                                        </p:cTn>
                                        <p:tgtEl>
                                          <p:spTgt spid="3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50" grpId="0" animBg="1"/>
      <p:bldP spid="61" grpId="0" animBg="1"/>
      <p:bldP spid="32"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9763CAF-1B74-4DA7-A280-259F132BD71F}"/>
              </a:ext>
            </a:extLst>
          </p:cNvPr>
          <p:cNvPicPr>
            <a:picLocks noChangeAspect="1"/>
          </p:cNvPicPr>
          <p:nvPr/>
        </p:nvPicPr>
        <p:blipFill>
          <a:blip r:embed="rId2"/>
          <a:stretch>
            <a:fillRect/>
          </a:stretch>
        </p:blipFill>
        <p:spPr>
          <a:xfrm>
            <a:off x="-11593" y="8164"/>
            <a:ext cx="12192000" cy="6858000"/>
          </a:xfrm>
          <a:prstGeom prst="rect">
            <a:avLst/>
          </a:prstGeom>
        </p:spPr>
      </p:pic>
      <p:pic>
        <p:nvPicPr>
          <p:cNvPr id="9" name="Picture 8">
            <a:extLst>
              <a:ext uri="{FF2B5EF4-FFF2-40B4-BE49-F238E27FC236}">
                <a16:creationId xmlns:a16="http://schemas.microsoft.com/office/drawing/2014/main" id="{3F597CD3-F633-4216-AA8C-84E80D20D72F}"/>
              </a:ext>
            </a:extLst>
          </p:cNvPr>
          <p:cNvPicPr>
            <a:picLocks noChangeAspect="1"/>
          </p:cNvPicPr>
          <p:nvPr/>
        </p:nvPicPr>
        <p:blipFill rotWithShape="1">
          <a:blip r:embed="rId3">
            <a:extLst>
              <a:ext uri="{28A0092B-C50C-407E-A947-70E740481C1C}">
                <a14:useLocalDpi xmlns:a14="http://schemas.microsoft.com/office/drawing/2010/main" val="0"/>
              </a:ext>
            </a:extLst>
          </a:blip>
          <a:srcRect l="11998" t="31072" r="12819" b="34047"/>
          <a:stretch/>
        </p:blipFill>
        <p:spPr>
          <a:xfrm>
            <a:off x="2792186" y="681037"/>
            <a:ext cx="6644367" cy="5495926"/>
          </a:xfrm>
          <a:prstGeom prst="rect">
            <a:avLst/>
          </a:prstGeom>
        </p:spPr>
      </p:pic>
      <p:sp>
        <p:nvSpPr>
          <p:cNvPr id="12" name="Arrow: Right 11">
            <a:extLst>
              <a:ext uri="{FF2B5EF4-FFF2-40B4-BE49-F238E27FC236}">
                <a16:creationId xmlns:a16="http://schemas.microsoft.com/office/drawing/2014/main" id="{11CC6FB7-7504-4020-A099-FDE52C964784}"/>
              </a:ext>
            </a:extLst>
          </p:cNvPr>
          <p:cNvSpPr/>
          <p:nvPr/>
        </p:nvSpPr>
        <p:spPr>
          <a:xfrm rot="3032345">
            <a:off x="5430079" y="4918704"/>
            <a:ext cx="520117" cy="245854"/>
          </a:xfrm>
          <a:prstGeom prst="rightArrow">
            <a:avLst/>
          </a:prstGeom>
          <a:solidFill>
            <a:srgbClr val="FF0000">
              <a:alpha val="7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5765472B-CC23-4E88-B596-77C9673C0B19}"/>
              </a:ext>
            </a:extLst>
          </p:cNvPr>
          <p:cNvPicPr>
            <a:picLocks noChangeAspect="1"/>
          </p:cNvPicPr>
          <p:nvPr/>
        </p:nvPicPr>
        <p:blipFill>
          <a:blip r:embed="rId4"/>
          <a:stretch>
            <a:fillRect/>
          </a:stretch>
        </p:blipFill>
        <p:spPr>
          <a:xfrm>
            <a:off x="4865635" y="3358827"/>
            <a:ext cx="647790" cy="257211"/>
          </a:xfrm>
          <a:prstGeom prst="rect">
            <a:avLst/>
          </a:prstGeom>
        </p:spPr>
      </p:pic>
      <p:pic>
        <p:nvPicPr>
          <p:cNvPr id="17" name="Picture 16">
            <a:extLst>
              <a:ext uri="{FF2B5EF4-FFF2-40B4-BE49-F238E27FC236}">
                <a16:creationId xmlns:a16="http://schemas.microsoft.com/office/drawing/2014/main" id="{5F136E59-4BDA-42AD-8BC6-FA9BFE6D7997}"/>
              </a:ext>
            </a:extLst>
          </p:cNvPr>
          <p:cNvPicPr>
            <a:picLocks noChangeAspect="1"/>
          </p:cNvPicPr>
          <p:nvPr/>
        </p:nvPicPr>
        <p:blipFill>
          <a:blip r:embed="rId4">
            <a:alphaModFix amt="82000"/>
          </a:blip>
          <a:stretch>
            <a:fillRect/>
          </a:stretch>
        </p:blipFill>
        <p:spPr>
          <a:xfrm>
            <a:off x="5189530" y="4344039"/>
            <a:ext cx="494174" cy="196216"/>
          </a:xfrm>
          <a:prstGeom prst="rect">
            <a:avLst/>
          </a:prstGeom>
        </p:spPr>
      </p:pic>
      <p:pic>
        <p:nvPicPr>
          <p:cNvPr id="18" name="Picture 17">
            <a:extLst>
              <a:ext uri="{FF2B5EF4-FFF2-40B4-BE49-F238E27FC236}">
                <a16:creationId xmlns:a16="http://schemas.microsoft.com/office/drawing/2014/main" id="{25234A09-B7CB-40C7-933F-324F266D1015}"/>
              </a:ext>
            </a:extLst>
          </p:cNvPr>
          <p:cNvPicPr>
            <a:picLocks noChangeAspect="1"/>
          </p:cNvPicPr>
          <p:nvPr/>
        </p:nvPicPr>
        <p:blipFill>
          <a:blip r:embed="rId4">
            <a:alphaModFix amt="85000"/>
          </a:blip>
          <a:stretch>
            <a:fillRect/>
          </a:stretch>
        </p:blipFill>
        <p:spPr>
          <a:xfrm>
            <a:off x="5760512" y="4297022"/>
            <a:ext cx="647790" cy="257211"/>
          </a:xfrm>
          <a:prstGeom prst="rect">
            <a:avLst/>
          </a:prstGeom>
        </p:spPr>
      </p:pic>
      <p:pic>
        <p:nvPicPr>
          <p:cNvPr id="19" name="Picture 18">
            <a:extLst>
              <a:ext uri="{FF2B5EF4-FFF2-40B4-BE49-F238E27FC236}">
                <a16:creationId xmlns:a16="http://schemas.microsoft.com/office/drawing/2014/main" id="{532A7277-A5AA-4238-984D-DDEC4B6E2F30}"/>
              </a:ext>
            </a:extLst>
          </p:cNvPr>
          <p:cNvPicPr>
            <a:picLocks noChangeAspect="1"/>
          </p:cNvPicPr>
          <p:nvPr/>
        </p:nvPicPr>
        <p:blipFill>
          <a:blip r:embed="rId4"/>
          <a:stretch>
            <a:fillRect/>
          </a:stretch>
        </p:blipFill>
        <p:spPr>
          <a:xfrm>
            <a:off x="5112722" y="2794557"/>
            <a:ext cx="647790" cy="257211"/>
          </a:xfrm>
          <a:prstGeom prst="rect">
            <a:avLst/>
          </a:prstGeom>
        </p:spPr>
      </p:pic>
      <p:sp>
        <p:nvSpPr>
          <p:cNvPr id="21" name="Arrow: Right 20">
            <a:extLst>
              <a:ext uri="{FF2B5EF4-FFF2-40B4-BE49-F238E27FC236}">
                <a16:creationId xmlns:a16="http://schemas.microsoft.com/office/drawing/2014/main" id="{5192989D-D5FF-41A6-AAF6-993BEF769A98}"/>
              </a:ext>
            </a:extLst>
          </p:cNvPr>
          <p:cNvSpPr/>
          <p:nvPr/>
        </p:nvSpPr>
        <p:spPr>
          <a:xfrm rot="13913147">
            <a:off x="5673497" y="4736421"/>
            <a:ext cx="496065" cy="232819"/>
          </a:xfrm>
          <a:prstGeom prst="rightArrow">
            <a:avLst/>
          </a:prstGeom>
          <a:solidFill>
            <a:schemeClr val="accent1">
              <a:alpha val="7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3" name="Picture 22">
            <a:extLst>
              <a:ext uri="{FF2B5EF4-FFF2-40B4-BE49-F238E27FC236}">
                <a16:creationId xmlns:a16="http://schemas.microsoft.com/office/drawing/2014/main" id="{B3051E38-38C3-4E93-8CEE-432B3DC32838}"/>
              </a:ext>
            </a:extLst>
          </p:cNvPr>
          <p:cNvPicPr>
            <a:picLocks noChangeAspect="1"/>
          </p:cNvPicPr>
          <p:nvPr/>
        </p:nvPicPr>
        <p:blipFill>
          <a:blip r:embed="rId5">
            <a:alphaModFix amt="76000"/>
          </a:blip>
          <a:stretch>
            <a:fillRect/>
          </a:stretch>
        </p:blipFill>
        <p:spPr>
          <a:xfrm>
            <a:off x="5891508" y="5127289"/>
            <a:ext cx="571580" cy="266737"/>
          </a:xfrm>
          <a:prstGeom prst="rect">
            <a:avLst/>
          </a:prstGeom>
        </p:spPr>
      </p:pic>
      <p:sp>
        <p:nvSpPr>
          <p:cNvPr id="24" name="TextBox 23">
            <a:extLst>
              <a:ext uri="{FF2B5EF4-FFF2-40B4-BE49-F238E27FC236}">
                <a16:creationId xmlns:a16="http://schemas.microsoft.com/office/drawing/2014/main" id="{D18AA84E-AC23-44B3-A2DE-64EE705B69B1}"/>
              </a:ext>
            </a:extLst>
          </p:cNvPr>
          <p:cNvSpPr txBox="1"/>
          <p:nvPr/>
        </p:nvSpPr>
        <p:spPr>
          <a:xfrm>
            <a:off x="5621244" y="4660668"/>
            <a:ext cx="375424" cy="584775"/>
          </a:xfrm>
          <a:prstGeom prst="rect">
            <a:avLst/>
          </a:prstGeom>
          <a:noFill/>
        </p:spPr>
        <p:txBody>
          <a:bodyPr wrap="none" rtlCol="0">
            <a:spAutoFit/>
          </a:bodyPr>
          <a:lstStyle/>
          <a:p>
            <a:r>
              <a:rPr lang="en-US" sz="3200" b="1" dirty="0"/>
              <a:t>?</a:t>
            </a:r>
          </a:p>
        </p:txBody>
      </p:sp>
      <p:sp>
        <p:nvSpPr>
          <p:cNvPr id="20" name="Arrow: Right 19">
            <a:extLst>
              <a:ext uri="{FF2B5EF4-FFF2-40B4-BE49-F238E27FC236}">
                <a16:creationId xmlns:a16="http://schemas.microsoft.com/office/drawing/2014/main" id="{A96AD861-9F12-430A-9180-342AAA39CA15}"/>
              </a:ext>
            </a:extLst>
          </p:cNvPr>
          <p:cNvSpPr/>
          <p:nvPr/>
        </p:nvSpPr>
        <p:spPr>
          <a:xfrm rot="8631462">
            <a:off x="6229382" y="4727929"/>
            <a:ext cx="496065" cy="232819"/>
          </a:xfrm>
          <a:prstGeom prst="rightArrow">
            <a:avLst/>
          </a:prstGeom>
          <a:solidFill>
            <a:schemeClr val="accent1">
              <a:alpha val="7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Arrow: Right 21">
            <a:extLst>
              <a:ext uri="{FF2B5EF4-FFF2-40B4-BE49-F238E27FC236}">
                <a16:creationId xmlns:a16="http://schemas.microsoft.com/office/drawing/2014/main" id="{67C5BCDF-96D6-4F6A-B47F-7340107A820E}"/>
              </a:ext>
            </a:extLst>
          </p:cNvPr>
          <p:cNvSpPr/>
          <p:nvPr/>
        </p:nvSpPr>
        <p:spPr>
          <a:xfrm rot="19390171">
            <a:off x="6322461" y="4842032"/>
            <a:ext cx="520117" cy="245854"/>
          </a:xfrm>
          <a:prstGeom prst="rightArrow">
            <a:avLst/>
          </a:prstGeom>
          <a:solidFill>
            <a:srgbClr val="FF0000">
              <a:alpha val="7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99BD1AF5-0FC4-4398-9A19-AC3780751CC1}"/>
              </a:ext>
            </a:extLst>
          </p:cNvPr>
          <p:cNvSpPr txBox="1"/>
          <p:nvPr/>
        </p:nvSpPr>
        <p:spPr>
          <a:xfrm>
            <a:off x="6341496" y="4647829"/>
            <a:ext cx="375424" cy="584775"/>
          </a:xfrm>
          <a:prstGeom prst="rect">
            <a:avLst/>
          </a:prstGeom>
          <a:noFill/>
        </p:spPr>
        <p:txBody>
          <a:bodyPr wrap="none" rtlCol="0">
            <a:spAutoFit/>
          </a:bodyPr>
          <a:lstStyle/>
          <a:p>
            <a:r>
              <a:rPr lang="en-US" sz="3200" b="1" dirty="0"/>
              <a:t>?</a:t>
            </a:r>
          </a:p>
        </p:txBody>
      </p:sp>
    </p:spTree>
    <p:extLst>
      <p:ext uri="{BB962C8B-B14F-4D97-AF65-F5344CB8AC3E}">
        <p14:creationId xmlns:p14="http://schemas.microsoft.com/office/powerpoint/2010/main" val="31857004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0D22FD-AE52-4352-A8D5-62623D35DE96}"/>
              </a:ext>
            </a:extLst>
          </p:cNvPr>
          <p:cNvSpPr>
            <a:spLocks noGrp="1"/>
          </p:cNvSpPr>
          <p:nvPr>
            <p:ph type="title"/>
          </p:nvPr>
        </p:nvSpPr>
        <p:spPr>
          <a:xfrm>
            <a:off x="0" y="0"/>
            <a:ext cx="10515600" cy="1325563"/>
          </a:xfrm>
        </p:spPr>
        <p:txBody>
          <a:bodyPr/>
          <a:lstStyle/>
          <a:p>
            <a:r>
              <a:rPr lang="en-US" b="1" dirty="0"/>
              <a:t>What does Genetics tell us?</a:t>
            </a:r>
          </a:p>
        </p:txBody>
      </p:sp>
      <p:sp>
        <p:nvSpPr>
          <p:cNvPr id="6" name="Content Placeholder 2">
            <a:extLst>
              <a:ext uri="{FF2B5EF4-FFF2-40B4-BE49-F238E27FC236}">
                <a16:creationId xmlns:a16="http://schemas.microsoft.com/office/drawing/2014/main" id="{215F6CBA-E1ED-4EF4-853F-9FE6D004F963}"/>
              </a:ext>
            </a:extLst>
          </p:cNvPr>
          <p:cNvSpPr>
            <a:spLocks noGrp="1"/>
          </p:cNvSpPr>
          <p:nvPr>
            <p:ph idx="1"/>
          </p:nvPr>
        </p:nvSpPr>
        <p:spPr>
          <a:xfrm>
            <a:off x="838200" y="1477874"/>
            <a:ext cx="5090546" cy="4841183"/>
          </a:xfrm>
        </p:spPr>
        <p:txBody>
          <a:bodyPr>
            <a:normAutofit/>
          </a:bodyPr>
          <a:lstStyle/>
          <a:p>
            <a:r>
              <a:rPr lang="en-US" dirty="0"/>
              <a:t>Genetic break between Aleutian Islands and Eastern Bering Sea</a:t>
            </a:r>
          </a:p>
          <a:p>
            <a:r>
              <a:rPr lang="en-US" dirty="0"/>
              <a:t>Genetic break from Eastern Bering Sea to NBS/Russia </a:t>
            </a:r>
          </a:p>
          <a:p>
            <a:r>
              <a:rPr lang="en-US" dirty="0"/>
              <a:t>Genetic break from Eastern GOA to Western GOA</a:t>
            </a:r>
          </a:p>
          <a:p>
            <a:r>
              <a:rPr lang="en-US" dirty="0"/>
              <a:t> No break in genetic structure between the Central GOA, Western GOA, and EBS</a:t>
            </a:r>
          </a:p>
        </p:txBody>
      </p:sp>
      <p:pic>
        <p:nvPicPr>
          <p:cNvPr id="8" name="Picture 7">
            <a:extLst>
              <a:ext uri="{FF2B5EF4-FFF2-40B4-BE49-F238E27FC236}">
                <a16:creationId xmlns:a16="http://schemas.microsoft.com/office/drawing/2014/main" id="{292B5342-C56A-4878-9993-3DA926578F65}"/>
              </a:ext>
            </a:extLst>
          </p:cNvPr>
          <p:cNvPicPr>
            <a:picLocks noChangeAspect="1"/>
          </p:cNvPicPr>
          <p:nvPr/>
        </p:nvPicPr>
        <p:blipFill>
          <a:blip r:embed="rId2"/>
          <a:stretch>
            <a:fillRect/>
          </a:stretch>
        </p:blipFill>
        <p:spPr>
          <a:xfrm>
            <a:off x="6643440" y="1251403"/>
            <a:ext cx="5425055" cy="4912632"/>
          </a:xfrm>
          <a:prstGeom prst="rect">
            <a:avLst/>
          </a:prstGeom>
        </p:spPr>
      </p:pic>
      <p:pic>
        <p:nvPicPr>
          <p:cNvPr id="4" name="Picture 3">
            <a:extLst>
              <a:ext uri="{FF2B5EF4-FFF2-40B4-BE49-F238E27FC236}">
                <a16:creationId xmlns:a16="http://schemas.microsoft.com/office/drawing/2014/main" id="{F93E1023-EAEE-4B76-A8F5-5E4275E9122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07505" y="-161652"/>
            <a:ext cx="3160990" cy="2139969"/>
          </a:xfrm>
          <a:prstGeom prst="rect">
            <a:avLst/>
          </a:prstGeom>
        </p:spPr>
      </p:pic>
      <p:sp>
        <p:nvSpPr>
          <p:cNvPr id="9" name="TextBox 8">
            <a:extLst>
              <a:ext uri="{FF2B5EF4-FFF2-40B4-BE49-F238E27FC236}">
                <a16:creationId xmlns:a16="http://schemas.microsoft.com/office/drawing/2014/main" id="{B0716204-6028-48AB-83DB-4228C468B3D2}"/>
              </a:ext>
            </a:extLst>
          </p:cNvPr>
          <p:cNvSpPr txBox="1"/>
          <p:nvPr/>
        </p:nvSpPr>
        <p:spPr>
          <a:xfrm>
            <a:off x="6581503" y="6294563"/>
            <a:ext cx="5682935" cy="553998"/>
          </a:xfrm>
          <a:prstGeom prst="rect">
            <a:avLst/>
          </a:prstGeom>
          <a:noFill/>
        </p:spPr>
        <p:txBody>
          <a:bodyPr wrap="square" rtlCol="0">
            <a:spAutoFit/>
          </a:bodyPr>
          <a:lstStyle/>
          <a:p>
            <a:r>
              <a:rPr lang="en-US" sz="1000" dirty="0" err="1"/>
              <a:t>Schaal</a:t>
            </a:r>
            <a:r>
              <a:rPr lang="en-US" sz="1000" dirty="0"/>
              <a:t> et al. 2026. Genetic Data Reveal Nonlocal Juvenile Recruitment and Variable Seasonal Movement of a Highly Mobile Marine Fish Across Alaska. Evolutionary Applications 19:1 </a:t>
            </a:r>
            <a:r>
              <a:rPr lang="fr-FR" sz="1000" dirty="0"/>
              <a:t> </a:t>
            </a:r>
            <a:r>
              <a:rPr lang="fr-FR" sz="1000" dirty="0">
                <a:hlinkClick r:id="rId4"/>
              </a:rPr>
              <a:t>https://doi.org/10.1111/eva.70174Digital Object Identifier (DOI)</a:t>
            </a:r>
            <a:endParaRPr lang="en-US" sz="1000" dirty="0"/>
          </a:p>
        </p:txBody>
      </p:sp>
      <p:sp>
        <p:nvSpPr>
          <p:cNvPr id="10" name="Oval 9">
            <a:extLst>
              <a:ext uri="{FF2B5EF4-FFF2-40B4-BE49-F238E27FC236}">
                <a16:creationId xmlns:a16="http://schemas.microsoft.com/office/drawing/2014/main" id="{7222E102-DA89-4646-9967-262F3F0D149D}"/>
              </a:ext>
            </a:extLst>
          </p:cNvPr>
          <p:cNvSpPr/>
          <p:nvPr/>
        </p:nvSpPr>
        <p:spPr>
          <a:xfrm>
            <a:off x="6996793" y="4106636"/>
            <a:ext cx="677636" cy="75927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B865B517-30D4-4561-8EA6-072A11B4635F}"/>
              </a:ext>
            </a:extLst>
          </p:cNvPr>
          <p:cNvSpPr/>
          <p:nvPr/>
        </p:nvSpPr>
        <p:spPr>
          <a:xfrm>
            <a:off x="8365672" y="5312229"/>
            <a:ext cx="677636" cy="75927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0DB9BD84-B5AA-4660-8B30-05728031A338}"/>
              </a:ext>
            </a:extLst>
          </p:cNvPr>
          <p:cNvSpPr/>
          <p:nvPr/>
        </p:nvSpPr>
        <p:spPr>
          <a:xfrm>
            <a:off x="8297636" y="3803519"/>
            <a:ext cx="677636" cy="75927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6F521B2C-DEC2-43CF-B31C-9FFFCF34853D}"/>
              </a:ext>
            </a:extLst>
          </p:cNvPr>
          <p:cNvSpPr/>
          <p:nvPr/>
        </p:nvSpPr>
        <p:spPr>
          <a:xfrm>
            <a:off x="7620000" y="3868783"/>
            <a:ext cx="677636" cy="75927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838257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0D22FD-AE52-4352-A8D5-62623D35DE96}"/>
              </a:ext>
            </a:extLst>
          </p:cNvPr>
          <p:cNvSpPr>
            <a:spLocks noGrp="1"/>
          </p:cNvSpPr>
          <p:nvPr>
            <p:ph type="title"/>
          </p:nvPr>
        </p:nvSpPr>
        <p:spPr>
          <a:xfrm>
            <a:off x="0" y="9439"/>
            <a:ext cx="10515600" cy="1325563"/>
          </a:xfrm>
        </p:spPr>
        <p:txBody>
          <a:bodyPr/>
          <a:lstStyle/>
          <a:p>
            <a:r>
              <a:rPr lang="en-US" b="1" dirty="0"/>
              <a:t>What does Genetics tell us?</a:t>
            </a:r>
          </a:p>
        </p:txBody>
      </p:sp>
      <p:sp>
        <p:nvSpPr>
          <p:cNvPr id="6" name="Content Placeholder 2">
            <a:extLst>
              <a:ext uri="{FF2B5EF4-FFF2-40B4-BE49-F238E27FC236}">
                <a16:creationId xmlns:a16="http://schemas.microsoft.com/office/drawing/2014/main" id="{215F6CBA-E1ED-4EF4-853F-9FE6D004F963}"/>
              </a:ext>
            </a:extLst>
          </p:cNvPr>
          <p:cNvSpPr>
            <a:spLocks noGrp="1"/>
          </p:cNvSpPr>
          <p:nvPr>
            <p:ph idx="1"/>
          </p:nvPr>
        </p:nvSpPr>
        <p:spPr>
          <a:xfrm>
            <a:off x="838199" y="1477874"/>
            <a:ext cx="5073783" cy="4841183"/>
          </a:xfrm>
        </p:spPr>
        <p:txBody>
          <a:bodyPr>
            <a:normAutofit/>
          </a:bodyPr>
          <a:lstStyle/>
          <a:p>
            <a:r>
              <a:rPr lang="en-US" dirty="0"/>
              <a:t>Genetic break between Aleutian Islands and Eastern Bering Sea</a:t>
            </a:r>
          </a:p>
          <a:p>
            <a:r>
              <a:rPr lang="en-US" dirty="0"/>
              <a:t>Genetic break from Eastern Bering Sea to NBS/Russia </a:t>
            </a:r>
          </a:p>
          <a:p>
            <a:r>
              <a:rPr lang="en-US" dirty="0"/>
              <a:t>Genetic break from Eastern GOA to Western GOA</a:t>
            </a:r>
          </a:p>
          <a:p>
            <a:r>
              <a:rPr lang="en-US" dirty="0"/>
              <a:t> No break in genetic structure between the Central GOA, Western GOA, and EBS</a:t>
            </a:r>
          </a:p>
        </p:txBody>
      </p:sp>
      <p:pic>
        <p:nvPicPr>
          <p:cNvPr id="4" name="Picture 3">
            <a:extLst>
              <a:ext uri="{FF2B5EF4-FFF2-40B4-BE49-F238E27FC236}">
                <a16:creationId xmlns:a16="http://schemas.microsoft.com/office/drawing/2014/main" id="{F93E1023-EAEE-4B76-A8F5-5E4275E9122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07505" y="-161652"/>
            <a:ext cx="3160990" cy="2139969"/>
          </a:xfrm>
          <a:prstGeom prst="rect">
            <a:avLst/>
          </a:prstGeom>
        </p:spPr>
      </p:pic>
      <p:sp>
        <p:nvSpPr>
          <p:cNvPr id="9" name="TextBox 8">
            <a:extLst>
              <a:ext uri="{FF2B5EF4-FFF2-40B4-BE49-F238E27FC236}">
                <a16:creationId xmlns:a16="http://schemas.microsoft.com/office/drawing/2014/main" id="{B0716204-6028-48AB-83DB-4228C468B3D2}"/>
              </a:ext>
            </a:extLst>
          </p:cNvPr>
          <p:cNvSpPr txBox="1"/>
          <p:nvPr/>
        </p:nvSpPr>
        <p:spPr>
          <a:xfrm>
            <a:off x="6581503" y="6294563"/>
            <a:ext cx="5682935" cy="553998"/>
          </a:xfrm>
          <a:prstGeom prst="rect">
            <a:avLst/>
          </a:prstGeom>
          <a:noFill/>
        </p:spPr>
        <p:txBody>
          <a:bodyPr wrap="square" rtlCol="0">
            <a:spAutoFit/>
          </a:bodyPr>
          <a:lstStyle/>
          <a:p>
            <a:r>
              <a:rPr lang="en-US" sz="1000" dirty="0" err="1"/>
              <a:t>Schaal</a:t>
            </a:r>
            <a:r>
              <a:rPr lang="en-US" sz="1000" dirty="0"/>
              <a:t> et al. 2026. Genetic Data Reveal Nonlocal Juvenile Recruitment and Variable Seasonal Movement of a Highly Mobile Marine Fish Across Alaska. Evolutionary Applications 19:1 </a:t>
            </a:r>
            <a:r>
              <a:rPr lang="fr-FR" sz="1000" dirty="0"/>
              <a:t> </a:t>
            </a:r>
            <a:r>
              <a:rPr lang="fr-FR" sz="1000" dirty="0">
                <a:hlinkClick r:id="rId3"/>
              </a:rPr>
              <a:t>https://doi.org/10.1111/eva.70174Digital Object Identifier (DOI)</a:t>
            </a:r>
            <a:endParaRPr lang="en-US" sz="1000" dirty="0"/>
          </a:p>
        </p:txBody>
      </p:sp>
      <p:pic>
        <p:nvPicPr>
          <p:cNvPr id="3" name="Picture 2">
            <a:extLst>
              <a:ext uri="{FF2B5EF4-FFF2-40B4-BE49-F238E27FC236}">
                <a16:creationId xmlns:a16="http://schemas.microsoft.com/office/drawing/2014/main" id="{E9B27BF5-F8A8-449F-8AC4-4E93EC6593CA}"/>
              </a:ext>
            </a:extLst>
          </p:cNvPr>
          <p:cNvPicPr>
            <a:picLocks noChangeAspect="1"/>
          </p:cNvPicPr>
          <p:nvPr/>
        </p:nvPicPr>
        <p:blipFill>
          <a:blip r:embed="rId4"/>
          <a:stretch>
            <a:fillRect/>
          </a:stretch>
        </p:blipFill>
        <p:spPr>
          <a:xfrm>
            <a:off x="5992585" y="1643580"/>
            <a:ext cx="5995307" cy="2329943"/>
          </a:xfrm>
          <a:prstGeom prst="rect">
            <a:avLst/>
          </a:prstGeom>
        </p:spPr>
      </p:pic>
      <p:pic>
        <p:nvPicPr>
          <p:cNvPr id="5" name="Picture 4">
            <a:extLst>
              <a:ext uri="{FF2B5EF4-FFF2-40B4-BE49-F238E27FC236}">
                <a16:creationId xmlns:a16="http://schemas.microsoft.com/office/drawing/2014/main" id="{8EABD8F2-3FA7-44C1-BD1F-3A88FBEDC383}"/>
              </a:ext>
            </a:extLst>
          </p:cNvPr>
          <p:cNvPicPr>
            <a:picLocks noChangeAspect="1"/>
          </p:cNvPicPr>
          <p:nvPr/>
        </p:nvPicPr>
        <p:blipFill>
          <a:blip r:embed="rId5"/>
          <a:stretch>
            <a:fillRect/>
          </a:stretch>
        </p:blipFill>
        <p:spPr>
          <a:xfrm>
            <a:off x="6096000" y="3772314"/>
            <a:ext cx="5998464" cy="2269156"/>
          </a:xfrm>
          <a:prstGeom prst="rect">
            <a:avLst/>
          </a:prstGeom>
        </p:spPr>
      </p:pic>
    </p:spTree>
    <p:extLst>
      <p:ext uri="{BB962C8B-B14F-4D97-AF65-F5344CB8AC3E}">
        <p14:creationId xmlns:p14="http://schemas.microsoft.com/office/powerpoint/2010/main" val="12044912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38AE14-1A47-417B-8678-BABE7E35171C}"/>
              </a:ext>
            </a:extLst>
          </p:cNvPr>
          <p:cNvSpPr>
            <a:spLocks noGrp="1"/>
          </p:cNvSpPr>
          <p:nvPr>
            <p:ph type="title"/>
          </p:nvPr>
        </p:nvSpPr>
        <p:spPr>
          <a:xfrm>
            <a:off x="0" y="25389"/>
            <a:ext cx="10515600" cy="1325563"/>
          </a:xfrm>
        </p:spPr>
        <p:txBody>
          <a:bodyPr/>
          <a:lstStyle/>
          <a:p>
            <a:r>
              <a:rPr lang="en-US" b="1" dirty="0"/>
              <a:t>Conventional Tagging 1982-2020</a:t>
            </a:r>
          </a:p>
        </p:txBody>
      </p:sp>
      <p:sp>
        <p:nvSpPr>
          <p:cNvPr id="3" name="Content Placeholder 2">
            <a:extLst>
              <a:ext uri="{FF2B5EF4-FFF2-40B4-BE49-F238E27FC236}">
                <a16:creationId xmlns:a16="http://schemas.microsoft.com/office/drawing/2014/main" id="{A7A7189C-D473-4426-A21C-27FA87A0EA83}"/>
              </a:ext>
            </a:extLst>
          </p:cNvPr>
          <p:cNvSpPr>
            <a:spLocks noGrp="1"/>
          </p:cNvSpPr>
          <p:nvPr>
            <p:ph idx="1"/>
          </p:nvPr>
        </p:nvSpPr>
        <p:spPr>
          <a:xfrm>
            <a:off x="364671" y="2070554"/>
            <a:ext cx="3759655" cy="4351338"/>
          </a:xfrm>
        </p:spPr>
        <p:txBody>
          <a:bodyPr/>
          <a:lstStyle/>
          <a:p>
            <a:r>
              <a:rPr lang="en-US" dirty="0"/>
              <a:t>Substantial movement between the Western GOA and Eastern Bering Sea</a:t>
            </a:r>
          </a:p>
          <a:p>
            <a:endParaRPr lang="en-US" dirty="0"/>
          </a:p>
          <a:p>
            <a:r>
              <a:rPr lang="en-US" dirty="0"/>
              <a:t>Limited movement between Central GOA and Western GOA </a:t>
            </a:r>
          </a:p>
        </p:txBody>
      </p:sp>
      <p:pic>
        <p:nvPicPr>
          <p:cNvPr id="4" name="Picture 3">
            <a:extLst>
              <a:ext uri="{FF2B5EF4-FFF2-40B4-BE49-F238E27FC236}">
                <a16:creationId xmlns:a16="http://schemas.microsoft.com/office/drawing/2014/main" id="{3EB92D75-6889-4A5A-B5A3-2B4D97FC295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31010" y="-381813"/>
            <a:ext cx="3160990" cy="2139969"/>
          </a:xfrm>
          <a:prstGeom prst="rect">
            <a:avLst/>
          </a:prstGeom>
        </p:spPr>
      </p:pic>
      <p:pic>
        <p:nvPicPr>
          <p:cNvPr id="5" name="Picture 4">
            <a:extLst>
              <a:ext uri="{FF2B5EF4-FFF2-40B4-BE49-F238E27FC236}">
                <a16:creationId xmlns:a16="http://schemas.microsoft.com/office/drawing/2014/main" id="{3F46E576-CE26-4F30-AED5-002268002E68}"/>
              </a:ext>
            </a:extLst>
          </p:cNvPr>
          <p:cNvPicPr>
            <a:picLocks noChangeAspect="1"/>
          </p:cNvPicPr>
          <p:nvPr/>
        </p:nvPicPr>
        <p:blipFill rotWithShape="1">
          <a:blip r:embed="rId3"/>
          <a:srcRect t="5188" r="13344"/>
          <a:stretch/>
        </p:blipFill>
        <p:spPr>
          <a:xfrm>
            <a:off x="4042682" y="1812471"/>
            <a:ext cx="8067673" cy="4762047"/>
          </a:xfrm>
          <a:prstGeom prst="rect">
            <a:avLst/>
          </a:prstGeom>
        </p:spPr>
      </p:pic>
      <p:sp>
        <p:nvSpPr>
          <p:cNvPr id="6" name="TextBox 5">
            <a:extLst>
              <a:ext uri="{FF2B5EF4-FFF2-40B4-BE49-F238E27FC236}">
                <a16:creationId xmlns:a16="http://schemas.microsoft.com/office/drawing/2014/main" id="{E425B0A5-DAF4-4567-8C7B-489C3FF9F7FE}"/>
              </a:ext>
            </a:extLst>
          </p:cNvPr>
          <p:cNvSpPr txBox="1"/>
          <p:nvPr/>
        </p:nvSpPr>
        <p:spPr>
          <a:xfrm>
            <a:off x="10736036" y="5421086"/>
            <a:ext cx="974947" cy="369332"/>
          </a:xfrm>
          <a:prstGeom prst="rect">
            <a:avLst/>
          </a:prstGeom>
          <a:noFill/>
        </p:spPr>
        <p:txBody>
          <a:bodyPr wrap="none" rtlCol="0">
            <a:spAutoFit/>
          </a:bodyPr>
          <a:lstStyle/>
          <a:p>
            <a:r>
              <a:rPr lang="en-US" dirty="0"/>
              <a:t>N=2,879</a:t>
            </a:r>
          </a:p>
        </p:txBody>
      </p:sp>
    </p:spTree>
    <p:extLst>
      <p:ext uri="{BB962C8B-B14F-4D97-AF65-F5344CB8AC3E}">
        <p14:creationId xmlns:p14="http://schemas.microsoft.com/office/powerpoint/2010/main" val="36556284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38AE14-1A47-417B-8678-BABE7E35171C}"/>
              </a:ext>
            </a:extLst>
          </p:cNvPr>
          <p:cNvSpPr>
            <a:spLocks noGrp="1"/>
          </p:cNvSpPr>
          <p:nvPr>
            <p:ph type="title"/>
          </p:nvPr>
        </p:nvSpPr>
        <p:spPr>
          <a:xfrm>
            <a:off x="0" y="-264442"/>
            <a:ext cx="10515600" cy="1325563"/>
          </a:xfrm>
        </p:spPr>
        <p:txBody>
          <a:bodyPr/>
          <a:lstStyle/>
          <a:p>
            <a:r>
              <a:rPr lang="en-US" b="1" dirty="0"/>
              <a:t>Conventional Tagging 1982-2020</a:t>
            </a:r>
          </a:p>
        </p:txBody>
      </p:sp>
      <p:pic>
        <p:nvPicPr>
          <p:cNvPr id="11" name="Picture 10">
            <a:extLst>
              <a:ext uri="{FF2B5EF4-FFF2-40B4-BE49-F238E27FC236}">
                <a16:creationId xmlns:a16="http://schemas.microsoft.com/office/drawing/2014/main" id="{CC7D97FE-B93F-4215-8466-35BF8633EBA8}"/>
              </a:ext>
            </a:extLst>
          </p:cNvPr>
          <p:cNvPicPr>
            <a:picLocks noChangeAspect="1"/>
          </p:cNvPicPr>
          <p:nvPr/>
        </p:nvPicPr>
        <p:blipFill rotWithShape="1">
          <a:blip r:embed="rId2"/>
          <a:srcRect r="13143"/>
          <a:stretch/>
        </p:blipFill>
        <p:spPr>
          <a:xfrm>
            <a:off x="1066540" y="686309"/>
            <a:ext cx="5152624" cy="3200400"/>
          </a:xfrm>
          <a:prstGeom prst="rect">
            <a:avLst/>
          </a:prstGeom>
        </p:spPr>
      </p:pic>
      <p:pic>
        <p:nvPicPr>
          <p:cNvPr id="12" name="Picture 11">
            <a:extLst>
              <a:ext uri="{FF2B5EF4-FFF2-40B4-BE49-F238E27FC236}">
                <a16:creationId xmlns:a16="http://schemas.microsoft.com/office/drawing/2014/main" id="{D2453EF2-9250-468B-8DEE-6D4B8941FA5B}"/>
              </a:ext>
            </a:extLst>
          </p:cNvPr>
          <p:cNvPicPr>
            <a:picLocks noChangeAspect="1"/>
          </p:cNvPicPr>
          <p:nvPr/>
        </p:nvPicPr>
        <p:blipFill rotWithShape="1">
          <a:blip r:embed="rId3"/>
          <a:srcRect l="5545"/>
          <a:stretch/>
        </p:blipFill>
        <p:spPr>
          <a:xfrm>
            <a:off x="6204857" y="684612"/>
            <a:ext cx="5603407" cy="3200400"/>
          </a:xfrm>
          <a:prstGeom prst="rect">
            <a:avLst/>
          </a:prstGeom>
        </p:spPr>
      </p:pic>
      <p:pic>
        <p:nvPicPr>
          <p:cNvPr id="4" name="Picture 3">
            <a:extLst>
              <a:ext uri="{FF2B5EF4-FFF2-40B4-BE49-F238E27FC236}">
                <a16:creationId xmlns:a16="http://schemas.microsoft.com/office/drawing/2014/main" id="{3EB92D75-6889-4A5A-B5A3-2B4D97FC295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031010" y="-381813"/>
            <a:ext cx="3160990" cy="2139969"/>
          </a:xfrm>
          <a:prstGeom prst="rect">
            <a:avLst/>
          </a:prstGeom>
        </p:spPr>
      </p:pic>
      <p:pic>
        <p:nvPicPr>
          <p:cNvPr id="15" name="Picture 14">
            <a:extLst>
              <a:ext uri="{FF2B5EF4-FFF2-40B4-BE49-F238E27FC236}">
                <a16:creationId xmlns:a16="http://schemas.microsoft.com/office/drawing/2014/main" id="{276EB12A-8F02-48DB-9B5B-76E3427DF21F}"/>
              </a:ext>
            </a:extLst>
          </p:cNvPr>
          <p:cNvPicPr>
            <a:picLocks noChangeAspect="1"/>
          </p:cNvPicPr>
          <p:nvPr/>
        </p:nvPicPr>
        <p:blipFill rotWithShape="1">
          <a:blip r:embed="rId5"/>
          <a:srcRect r="13007"/>
          <a:stretch/>
        </p:blipFill>
        <p:spPr>
          <a:xfrm>
            <a:off x="5875308" y="3496458"/>
            <a:ext cx="5160693" cy="3200400"/>
          </a:xfrm>
          <a:prstGeom prst="rect">
            <a:avLst/>
          </a:prstGeom>
        </p:spPr>
      </p:pic>
    </p:spTree>
    <p:extLst>
      <p:ext uri="{BB962C8B-B14F-4D97-AF65-F5344CB8AC3E}">
        <p14:creationId xmlns:p14="http://schemas.microsoft.com/office/powerpoint/2010/main" val="1056101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38AE14-1A47-417B-8678-BABE7E35171C}"/>
              </a:ext>
            </a:extLst>
          </p:cNvPr>
          <p:cNvSpPr>
            <a:spLocks noGrp="1"/>
          </p:cNvSpPr>
          <p:nvPr>
            <p:ph type="title"/>
          </p:nvPr>
        </p:nvSpPr>
        <p:spPr>
          <a:xfrm>
            <a:off x="0" y="25389"/>
            <a:ext cx="10515600" cy="1325563"/>
          </a:xfrm>
        </p:spPr>
        <p:txBody>
          <a:bodyPr/>
          <a:lstStyle/>
          <a:p>
            <a:r>
              <a:rPr lang="en-US" b="1" dirty="0"/>
              <a:t>Conventional Tagging 1982-2020</a:t>
            </a:r>
          </a:p>
        </p:txBody>
      </p:sp>
      <p:pic>
        <p:nvPicPr>
          <p:cNvPr id="4" name="Picture 3">
            <a:extLst>
              <a:ext uri="{FF2B5EF4-FFF2-40B4-BE49-F238E27FC236}">
                <a16:creationId xmlns:a16="http://schemas.microsoft.com/office/drawing/2014/main" id="{3EB92D75-6889-4A5A-B5A3-2B4D97FC295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31010" y="-381813"/>
            <a:ext cx="3160990" cy="2139969"/>
          </a:xfrm>
          <a:prstGeom prst="rect">
            <a:avLst/>
          </a:prstGeom>
        </p:spPr>
      </p:pic>
      <p:pic>
        <p:nvPicPr>
          <p:cNvPr id="6" name="Picture 5">
            <a:extLst>
              <a:ext uri="{FF2B5EF4-FFF2-40B4-BE49-F238E27FC236}">
                <a16:creationId xmlns:a16="http://schemas.microsoft.com/office/drawing/2014/main" id="{1ACC86B0-C5AA-4B1D-B239-2F9BA1317B3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20534" y="1027906"/>
            <a:ext cx="8052366" cy="6039274"/>
          </a:xfrm>
          <a:prstGeom prst="rect">
            <a:avLst/>
          </a:prstGeom>
        </p:spPr>
      </p:pic>
      <p:sp>
        <p:nvSpPr>
          <p:cNvPr id="7" name="Content Placeholder 2">
            <a:extLst>
              <a:ext uri="{FF2B5EF4-FFF2-40B4-BE49-F238E27FC236}">
                <a16:creationId xmlns:a16="http://schemas.microsoft.com/office/drawing/2014/main" id="{EA637120-1D98-4045-8170-8AE884BBB97A}"/>
              </a:ext>
            </a:extLst>
          </p:cNvPr>
          <p:cNvSpPr>
            <a:spLocks noGrp="1"/>
          </p:cNvSpPr>
          <p:nvPr>
            <p:ph idx="1"/>
          </p:nvPr>
        </p:nvSpPr>
        <p:spPr>
          <a:xfrm>
            <a:off x="364671" y="1825625"/>
            <a:ext cx="3355863" cy="4351338"/>
          </a:xfrm>
        </p:spPr>
        <p:txBody>
          <a:bodyPr/>
          <a:lstStyle/>
          <a:p>
            <a:r>
              <a:rPr lang="en-US" dirty="0"/>
              <a:t>Movement is seasonal with majority of movement among areas in January-March</a:t>
            </a:r>
          </a:p>
        </p:txBody>
      </p:sp>
    </p:spTree>
    <p:extLst>
      <p:ext uri="{BB962C8B-B14F-4D97-AF65-F5344CB8AC3E}">
        <p14:creationId xmlns:p14="http://schemas.microsoft.com/office/powerpoint/2010/main" val="24321942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38AE14-1A47-417B-8678-BABE7E35171C}"/>
              </a:ext>
            </a:extLst>
          </p:cNvPr>
          <p:cNvSpPr>
            <a:spLocks noGrp="1"/>
          </p:cNvSpPr>
          <p:nvPr>
            <p:ph type="title"/>
          </p:nvPr>
        </p:nvSpPr>
        <p:spPr>
          <a:xfrm>
            <a:off x="0" y="25389"/>
            <a:ext cx="10515600" cy="1325563"/>
          </a:xfrm>
        </p:spPr>
        <p:txBody>
          <a:bodyPr/>
          <a:lstStyle/>
          <a:p>
            <a:r>
              <a:rPr lang="en-US" b="1" dirty="0"/>
              <a:t>Conventional Tagging 1982-2020</a:t>
            </a:r>
          </a:p>
        </p:txBody>
      </p:sp>
      <p:sp>
        <p:nvSpPr>
          <p:cNvPr id="7" name="Content Placeholder 2">
            <a:extLst>
              <a:ext uri="{FF2B5EF4-FFF2-40B4-BE49-F238E27FC236}">
                <a16:creationId xmlns:a16="http://schemas.microsoft.com/office/drawing/2014/main" id="{EA637120-1D98-4045-8170-8AE884BBB97A}"/>
              </a:ext>
            </a:extLst>
          </p:cNvPr>
          <p:cNvSpPr>
            <a:spLocks noGrp="1"/>
          </p:cNvSpPr>
          <p:nvPr>
            <p:ph idx="1"/>
          </p:nvPr>
        </p:nvSpPr>
        <p:spPr>
          <a:xfrm>
            <a:off x="364671" y="1825625"/>
            <a:ext cx="3355863" cy="4351338"/>
          </a:xfrm>
        </p:spPr>
        <p:txBody>
          <a:bodyPr>
            <a:normAutofit fontScale="85000" lnSpcReduction="10000"/>
          </a:bodyPr>
          <a:lstStyle/>
          <a:p>
            <a:r>
              <a:rPr lang="en-US" dirty="0"/>
              <a:t>Distance traveled/movement rate is size dependent</a:t>
            </a:r>
          </a:p>
          <a:p>
            <a:r>
              <a:rPr lang="en-US" dirty="0"/>
              <a:t>Bering Sea and western GOA fish travel further distances</a:t>
            </a:r>
          </a:p>
          <a:p>
            <a:r>
              <a:rPr lang="en-US" dirty="0"/>
              <a:t>Central GOA fish do not travel long distances</a:t>
            </a:r>
          </a:p>
          <a:p>
            <a:r>
              <a:rPr lang="en-US" dirty="0"/>
              <a:t>Western GOA fish tagged in the summer appear to not travel long distances</a:t>
            </a:r>
          </a:p>
        </p:txBody>
      </p:sp>
      <p:sp>
        <p:nvSpPr>
          <p:cNvPr id="3" name="AutoShape 2">
            <a:extLst>
              <a:ext uri="{FF2B5EF4-FFF2-40B4-BE49-F238E27FC236}">
                <a16:creationId xmlns:a16="http://schemas.microsoft.com/office/drawing/2014/main" id="{8468311A-0E19-4457-BF3B-E64AE701634A}"/>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8" name="Picture 7">
            <a:extLst>
              <a:ext uri="{FF2B5EF4-FFF2-40B4-BE49-F238E27FC236}">
                <a16:creationId xmlns:a16="http://schemas.microsoft.com/office/drawing/2014/main" id="{28F7DCA8-BBEB-4B90-B8B9-96269BC40F45}"/>
              </a:ext>
            </a:extLst>
          </p:cNvPr>
          <p:cNvPicPr>
            <a:picLocks noChangeAspect="1"/>
          </p:cNvPicPr>
          <p:nvPr/>
        </p:nvPicPr>
        <p:blipFill>
          <a:blip r:embed="rId2"/>
          <a:stretch>
            <a:fillRect/>
          </a:stretch>
        </p:blipFill>
        <p:spPr>
          <a:xfrm>
            <a:off x="4000500" y="1993072"/>
            <a:ext cx="8191500" cy="3991646"/>
          </a:xfrm>
          <a:prstGeom prst="rect">
            <a:avLst/>
          </a:prstGeom>
        </p:spPr>
      </p:pic>
      <p:pic>
        <p:nvPicPr>
          <p:cNvPr id="4" name="Picture 3">
            <a:extLst>
              <a:ext uri="{FF2B5EF4-FFF2-40B4-BE49-F238E27FC236}">
                <a16:creationId xmlns:a16="http://schemas.microsoft.com/office/drawing/2014/main" id="{3EB92D75-6889-4A5A-B5A3-2B4D97FC295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31010" y="-381813"/>
            <a:ext cx="3160990" cy="2139969"/>
          </a:xfrm>
          <a:prstGeom prst="rect">
            <a:avLst/>
          </a:prstGeom>
        </p:spPr>
      </p:pic>
      <p:sp>
        <p:nvSpPr>
          <p:cNvPr id="10" name="TextBox 9">
            <a:extLst>
              <a:ext uri="{FF2B5EF4-FFF2-40B4-BE49-F238E27FC236}">
                <a16:creationId xmlns:a16="http://schemas.microsoft.com/office/drawing/2014/main" id="{79B78E03-9DFE-4A25-A6E9-C5CCDDD2E084}"/>
              </a:ext>
            </a:extLst>
          </p:cNvPr>
          <p:cNvSpPr txBox="1"/>
          <p:nvPr/>
        </p:nvSpPr>
        <p:spPr>
          <a:xfrm>
            <a:off x="4000500" y="1213222"/>
            <a:ext cx="6661632" cy="461665"/>
          </a:xfrm>
          <a:prstGeom prst="rect">
            <a:avLst/>
          </a:prstGeom>
          <a:noFill/>
        </p:spPr>
        <p:txBody>
          <a:bodyPr wrap="none" rtlCol="0">
            <a:spAutoFit/>
          </a:bodyPr>
          <a:lstStyle/>
          <a:p>
            <a:r>
              <a:rPr lang="en-US" sz="2400" b="1" dirty="0"/>
              <a:t>Fish recovered in the opposite season from release</a:t>
            </a:r>
          </a:p>
        </p:txBody>
      </p:sp>
      <p:sp>
        <p:nvSpPr>
          <p:cNvPr id="11" name="TextBox 10">
            <a:extLst>
              <a:ext uri="{FF2B5EF4-FFF2-40B4-BE49-F238E27FC236}">
                <a16:creationId xmlns:a16="http://schemas.microsoft.com/office/drawing/2014/main" id="{7D637029-3FE0-4A3A-8F21-F38D006385E2}"/>
              </a:ext>
            </a:extLst>
          </p:cNvPr>
          <p:cNvSpPr txBox="1"/>
          <p:nvPr/>
        </p:nvSpPr>
        <p:spPr>
          <a:xfrm>
            <a:off x="6044293" y="1613947"/>
            <a:ext cx="2289216" cy="369332"/>
          </a:xfrm>
          <a:prstGeom prst="rect">
            <a:avLst/>
          </a:prstGeom>
          <a:noFill/>
        </p:spPr>
        <p:txBody>
          <a:bodyPr wrap="none" rtlCol="0">
            <a:spAutoFit/>
          </a:bodyPr>
          <a:lstStyle/>
          <a:p>
            <a:r>
              <a:rPr lang="en-US" dirty="0"/>
              <a:t>Distance traveled (km)</a:t>
            </a:r>
          </a:p>
        </p:txBody>
      </p:sp>
    </p:spTree>
    <p:extLst>
      <p:ext uri="{BB962C8B-B14F-4D97-AF65-F5344CB8AC3E}">
        <p14:creationId xmlns:p14="http://schemas.microsoft.com/office/powerpoint/2010/main" val="29215822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38AE14-1A47-417B-8678-BABE7E35171C}"/>
              </a:ext>
            </a:extLst>
          </p:cNvPr>
          <p:cNvSpPr>
            <a:spLocks noGrp="1"/>
          </p:cNvSpPr>
          <p:nvPr>
            <p:ph type="title"/>
          </p:nvPr>
        </p:nvSpPr>
        <p:spPr>
          <a:xfrm>
            <a:off x="0" y="25389"/>
            <a:ext cx="10515600" cy="1325563"/>
          </a:xfrm>
        </p:spPr>
        <p:txBody>
          <a:bodyPr/>
          <a:lstStyle/>
          <a:p>
            <a:r>
              <a:rPr lang="en-US" b="1" dirty="0"/>
              <a:t>Conventional Tagging 1982-2020</a:t>
            </a:r>
          </a:p>
        </p:txBody>
      </p:sp>
      <p:sp>
        <p:nvSpPr>
          <p:cNvPr id="7" name="Content Placeholder 2">
            <a:extLst>
              <a:ext uri="{FF2B5EF4-FFF2-40B4-BE49-F238E27FC236}">
                <a16:creationId xmlns:a16="http://schemas.microsoft.com/office/drawing/2014/main" id="{EA637120-1D98-4045-8170-8AE884BBB97A}"/>
              </a:ext>
            </a:extLst>
          </p:cNvPr>
          <p:cNvSpPr>
            <a:spLocks noGrp="1"/>
          </p:cNvSpPr>
          <p:nvPr>
            <p:ph idx="1"/>
          </p:nvPr>
        </p:nvSpPr>
        <p:spPr>
          <a:xfrm>
            <a:off x="364671" y="1825625"/>
            <a:ext cx="3355863" cy="4351338"/>
          </a:xfrm>
        </p:spPr>
        <p:txBody>
          <a:bodyPr>
            <a:normAutofit fontScale="85000" lnSpcReduction="10000"/>
          </a:bodyPr>
          <a:lstStyle/>
          <a:p>
            <a:r>
              <a:rPr lang="en-US" dirty="0"/>
              <a:t>Distance traveled/movement rate is size dependent</a:t>
            </a:r>
          </a:p>
          <a:p>
            <a:r>
              <a:rPr lang="en-US" dirty="0"/>
              <a:t>Bering Sea and western GOA fish travel further distances</a:t>
            </a:r>
          </a:p>
          <a:p>
            <a:r>
              <a:rPr lang="en-US" dirty="0"/>
              <a:t>Central GOA fish do not travel long distances</a:t>
            </a:r>
          </a:p>
          <a:p>
            <a:r>
              <a:rPr lang="en-US" dirty="0"/>
              <a:t>Western GOA fish tagged in the summer appear to not travel long distances</a:t>
            </a:r>
          </a:p>
        </p:txBody>
      </p:sp>
      <p:sp>
        <p:nvSpPr>
          <p:cNvPr id="3" name="AutoShape 2">
            <a:extLst>
              <a:ext uri="{FF2B5EF4-FFF2-40B4-BE49-F238E27FC236}">
                <a16:creationId xmlns:a16="http://schemas.microsoft.com/office/drawing/2014/main" id="{8468311A-0E19-4457-BF3B-E64AE701634A}"/>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4" name="Picture 3">
            <a:extLst>
              <a:ext uri="{FF2B5EF4-FFF2-40B4-BE49-F238E27FC236}">
                <a16:creationId xmlns:a16="http://schemas.microsoft.com/office/drawing/2014/main" id="{3EB92D75-6889-4A5A-B5A3-2B4D97FC295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31010" y="-381813"/>
            <a:ext cx="3160990" cy="2139969"/>
          </a:xfrm>
          <a:prstGeom prst="rect">
            <a:avLst/>
          </a:prstGeom>
        </p:spPr>
      </p:pic>
      <p:pic>
        <p:nvPicPr>
          <p:cNvPr id="5" name="Picture 4">
            <a:extLst>
              <a:ext uri="{FF2B5EF4-FFF2-40B4-BE49-F238E27FC236}">
                <a16:creationId xmlns:a16="http://schemas.microsoft.com/office/drawing/2014/main" id="{EED54FFE-6766-4C36-8CC0-6B1491F9271D}"/>
              </a:ext>
            </a:extLst>
          </p:cNvPr>
          <p:cNvPicPr>
            <a:picLocks noChangeAspect="1"/>
          </p:cNvPicPr>
          <p:nvPr/>
        </p:nvPicPr>
        <p:blipFill>
          <a:blip r:embed="rId3"/>
          <a:stretch>
            <a:fillRect/>
          </a:stretch>
        </p:blipFill>
        <p:spPr>
          <a:xfrm>
            <a:off x="4000500" y="1970674"/>
            <a:ext cx="8200288" cy="3995928"/>
          </a:xfrm>
          <a:prstGeom prst="rect">
            <a:avLst/>
          </a:prstGeom>
        </p:spPr>
      </p:pic>
      <p:sp>
        <p:nvSpPr>
          <p:cNvPr id="11" name="TextBox 10">
            <a:extLst>
              <a:ext uri="{FF2B5EF4-FFF2-40B4-BE49-F238E27FC236}">
                <a16:creationId xmlns:a16="http://schemas.microsoft.com/office/drawing/2014/main" id="{03EEA7CE-C255-4A16-BC27-E4C1594CD63C}"/>
              </a:ext>
            </a:extLst>
          </p:cNvPr>
          <p:cNvSpPr txBox="1"/>
          <p:nvPr/>
        </p:nvSpPr>
        <p:spPr>
          <a:xfrm>
            <a:off x="4000500" y="1213222"/>
            <a:ext cx="6661632" cy="461665"/>
          </a:xfrm>
          <a:prstGeom prst="rect">
            <a:avLst/>
          </a:prstGeom>
          <a:noFill/>
        </p:spPr>
        <p:txBody>
          <a:bodyPr wrap="none" rtlCol="0">
            <a:spAutoFit/>
          </a:bodyPr>
          <a:lstStyle/>
          <a:p>
            <a:r>
              <a:rPr lang="en-US" sz="2400" b="1" dirty="0"/>
              <a:t>Fish recovered in the opposite season from release</a:t>
            </a:r>
          </a:p>
        </p:txBody>
      </p:sp>
      <p:sp>
        <p:nvSpPr>
          <p:cNvPr id="12" name="TextBox 11">
            <a:extLst>
              <a:ext uri="{FF2B5EF4-FFF2-40B4-BE49-F238E27FC236}">
                <a16:creationId xmlns:a16="http://schemas.microsoft.com/office/drawing/2014/main" id="{7F1432D8-6262-4D17-B7DB-6DC157CAD3FE}"/>
              </a:ext>
            </a:extLst>
          </p:cNvPr>
          <p:cNvSpPr txBox="1"/>
          <p:nvPr/>
        </p:nvSpPr>
        <p:spPr>
          <a:xfrm>
            <a:off x="6044293" y="1613947"/>
            <a:ext cx="2547685" cy="369332"/>
          </a:xfrm>
          <a:prstGeom prst="rect">
            <a:avLst/>
          </a:prstGeom>
          <a:noFill/>
        </p:spPr>
        <p:txBody>
          <a:bodyPr wrap="none" rtlCol="0">
            <a:spAutoFit/>
          </a:bodyPr>
          <a:lstStyle/>
          <a:p>
            <a:r>
              <a:rPr lang="en-US" dirty="0"/>
              <a:t>Movement rate (km/day)</a:t>
            </a:r>
          </a:p>
        </p:txBody>
      </p:sp>
    </p:spTree>
    <p:extLst>
      <p:ext uri="{BB962C8B-B14F-4D97-AF65-F5344CB8AC3E}">
        <p14:creationId xmlns:p14="http://schemas.microsoft.com/office/powerpoint/2010/main" val="35306201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23C41E-0636-487E-A130-C8C885B11337}"/>
              </a:ext>
            </a:extLst>
          </p:cNvPr>
          <p:cNvSpPr>
            <a:spLocks noGrp="1"/>
          </p:cNvSpPr>
          <p:nvPr>
            <p:ph type="title"/>
          </p:nvPr>
        </p:nvSpPr>
        <p:spPr>
          <a:xfrm>
            <a:off x="0" y="0"/>
            <a:ext cx="10515600" cy="1325563"/>
          </a:xfrm>
        </p:spPr>
        <p:txBody>
          <a:bodyPr/>
          <a:lstStyle/>
          <a:p>
            <a:r>
              <a:rPr lang="en-US" b="1" dirty="0"/>
              <a:t>Pop-up Satellite Tagging 2019-2026</a:t>
            </a:r>
          </a:p>
        </p:txBody>
      </p:sp>
      <p:pic>
        <p:nvPicPr>
          <p:cNvPr id="4" name="Picture 3">
            <a:extLst>
              <a:ext uri="{FF2B5EF4-FFF2-40B4-BE49-F238E27FC236}">
                <a16:creationId xmlns:a16="http://schemas.microsoft.com/office/drawing/2014/main" id="{6DD14623-CBBC-4AB6-BAB6-159C7B34C5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31010" y="-381813"/>
            <a:ext cx="3160990" cy="2139969"/>
          </a:xfrm>
          <a:prstGeom prst="rect">
            <a:avLst/>
          </a:prstGeom>
        </p:spPr>
      </p:pic>
      <p:sp>
        <p:nvSpPr>
          <p:cNvPr id="5" name="Content Placeholder 2">
            <a:extLst>
              <a:ext uri="{FF2B5EF4-FFF2-40B4-BE49-F238E27FC236}">
                <a16:creationId xmlns:a16="http://schemas.microsoft.com/office/drawing/2014/main" id="{613840A8-3F4D-4D83-A3B3-05904159C292}"/>
              </a:ext>
            </a:extLst>
          </p:cNvPr>
          <p:cNvSpPr txBox="1">
            <a:spLocks/>
          </p:cNvSpPr>
          <p:nvPr/>
        </p:nvSpPr>
        <p:spPr>
          <a:xfrm>
            <a:off x="283031" y="1825625"/>
            <a:ext cx="3540411"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Movement between Western GOA and Eastern Bering Sea is Seasonal</a:t>
            </a:r>
          </a:p>
          <a:p>
            <a:endParaRPr lang="en-US" dirty="0"/>
          </a:p>
          <a:p>
            <a:r>
              <a:rPr lang="en-US" dirty="0"/>
              <a:t>Little movement between the Central and Western GOA</a:t>
            </a:r>
          </a:p>
        </p:txBody>
      </p:sp>
      <p:pic>
        <p:nvPicPr>
          <p:cNvPr id="7" name="Picture 6">
            <a:extLst>
              <a:ext uri="{FF2B5EF4-FFF2-40B4-BE49-F238E27FC236}">
                <a16:creationId xmlns:a16="http://schemas.microsoft.com/office/drawing/2014/main" id="{A4A0F282-EA55-410C-A00F-AFB71ECB5D8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23442" y="1758676"/>
            <a:ext cx="4177280" cy="4177280"/>
          </a:xfrm>
          <a:prstGeom prst="rect">
            <a:avLst/>
          </a:prstGeom>
        </p:spPr>
      </p:pic>
      <p:pic>
        <p:nvPicPr>
          <p:cNvPr id="9" name="Picture 8">
            <a:extLst>
              <a:ext uri="{FF2B5EF4-FFF2-40B4-BE49-F238E27FC236}">
                <a16:creationId xmlns:a16="http://schemas.microsoft.com/office/drawing/2014/main" id="{94ADEABC-893A-47DE-B8A7-084D4952154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014720" y="1758156"/>
            <a:ext cx="4177280" cy="4177280"/>
          </a:xfrm>
          <a:prstGeom prst="rect">
            <a:avLst/>
          </a:prstGeom>
        </p:spPr>
      </p:pic>
    </p:spTree>
    <p:extLst>
      <p:ext uri="{BB962C8B-B14F-4D97-AF65-F5344CB8AC3E}">
        <p14:creationId xmlns:p14="http://schemas.microsoft.com/office/powerpoint/2010/main" val="37331804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C182E9-B603-403A-9230-6B2525488C9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08FB192-7573-46D4-B8E5-758882DC8D12}"/>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FB090728-E959-4E73-AEAD-3119D5B8A58F}"/>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4807734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EFE1FE-C8E7-4A55-953B-8BF5A3F95FD9}"/>
              </a:ext>
            </a:extLst>
          </p:cNvPr>
          <p:cNvSpPr>
            <a:spLocks noGrp="1"/>
          </p:cNvSpPr>
          <p:nvPr>
            <p:ph type="title"/>
          </p:nvPr>
        </p:nvSpPr>
        <p:spPr>
          <a:xfrm>
            <a:off x="0" y="0"/>
            <a:ext cx="10515600" cy="1325563"/>
          </a:xfrm>
        </p:spPr>
        <p:txBody>
          <a:bodyPr/>
          <a:lstStyle/>
          <a:p>
            <a:r>
              <a:rPr lang="en-US" dirty="0"/>
              <a:t>Stock Synthesis Spatial Models</a:t>
            </a:r>
          </a:p>
        </p:txBody>
      </p:sp>
      <p:sp>
        <p:nvSpPr>
          <p:cNvPr id="3" name="Content Placeholder 2">
            <a:extLst>
              <a:ext uri="{FF2B5EF4-FFF2-40B4-BE49-F238E27FC236}">
                <a16:creationId xmlns:a16="http://schemas.microsoft.com/office/drawing/2014/main" id="{A885E373-0088-482E-9CBF-9EA2872D4B5C}"/>
              </a:ext>
            </a:extLst>
          </p:cNvPr>
          <p:cNvSpPr>
            <a:spLocks noGrp="1"/>
          </p:cNvSpPr>
          <p:nvPr>
            <p:ph idx="1"/>
          </p:nvPr>
        </p:nvSpPr>
        <p:spPr>
          <a:xfrm>
            <a:off x="838200" y="1825625"/>
            <a:ext cx="4343400" cy="4351338"/>
          </a:xfrm>
        </p:spPr>
        <p:txBody>
          <a:bodyPr/>
          <a:lstStyle/>
          <a:p>
            <a:r>
              <a:rPr lang="en-US" dirty="0"/>
              <a:t>Catch split between EBS/NBS and WGOA </a:t>
            </a:r>
          </a:p>
          <a:p>
            <a:r>
              <a:rPr lang="en-US" dirty="0"/>
              <a:t>WGOA inclusive of areas 610 and  620</a:t>
            </a:r>
          </a:p>
          <a:p>
            <a:pPr lvl="1"/>
            <a:endParaRPr lang="en-US" dirty="0"/>
          </a:p>
        </p:txBody>
      </p:sp>
      <p:pic>
        <p:nvPicPr>
          <p:cNvPr id="4" name="Picture 3">
            <a:extLst>
              <a:ext uri="{FF2B5EF4-FFF2-40B4-BE49-F238E27FC236}">
                <a16:creationId xmlns:a16="http://schemas.microsoft.com/office/drawing/2014/main" id="{A0641D9A-E61B-468F-85E8-6E98740AD8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31010" y="-381813"/>
            <a:ext cx="3160990" cy="2139969"/>
          </a:xfrm>
          <a:prstGeom prst="rect">
            <a:avLst/>
          </a:prstGeom>
        </p:spPr>
      </p:pic>
      <p:sp>
        <p:nvSpPr>
          <p:cNvPr id="6" name="TextBox 5">
            <a:extLst>
              <a:ext uri="{FF2B5EF4-FFF2-40B4-BE49-F238E27FC236}">
                <a16:creationId xmlns:a16="http://schemas.microsoft.com/office/drawing/2014/main" id="{CBF22C3A-8FEB-46DE-8784-1D8417A50FA7}"/>
              </a:ext>
            </a:extLst>
          </p:cNvPr>
          <p:cNvSpPr txBox="1"/>
          <p:nvPr/>
        </p:nvSpPr>
        <p:spPr>
          <a:xfrm>
            <a:off x="353961" y="1145157"/>
            <a:ext cx="961353" cy="584775"/>
          </a:xfrm>
          <a:prstGeom prst="rect">
            <a:avLst/>
          </a:prstGeom>
          <a:noFill/>
        </p:spPr>
        <p:txBody>
          <a:bodyPr wrap="none" rtlCol="0">
            <a:spAutoFit/>
          </a:bodyPr>
          <a:lstStyle/>
          <a:p>
            <a:r>
              <a:rPr lang="en-US" sz="3200" dirty="0"/>
              <a:t>Data</a:t>
            </a:r>
          </a:p>
        </p:txBody>
      </p:sp>
      <p:pic>
        <p:nvPicPr>
          <p:cNvPr id="7" name="Picture 6">
            <a:extLst>
              <a:ext uri="{FF2B5EF4-FFF2-40B4-BE49-F238E27FC236}">
                <a16:creationId xmlns:a16="http://schemas.microsoft.com/office/drawing/2014/main" id="{605D942D-A0BC-44DF-87B1-042EBF258C85}"/>
              </a:ext>
            </a:extLst>
          </p:cNvPr>
          <p:cNvPicPr>
            <a:picLocks noChangeAspect="1"/>
          </p:cNvPicPr>
          <p:nvPr/>
        </p:nvPicPr>
        <p:blipFill rotWithShape="1">
          <a:blip r:embed="rId3"/>
          <a:srcRect t="14439"/>
          <a:stretch/>
        </p:blipFill>
        <p:spPr>
          <a:xfrm>
            <a:off x="4820573" y="2391382"/>
            <a:ext cx="7371427" cy="3881274"/>
          </a:xfrm>
          <a:prstGeom prst="rect">
            <a:avLst/>
          </a:prstGeom>
        </p:spPr>
      </p:pic>
    </p:spTree>
    <p:extLst>
      <p:ext uri="{BB962C8B-B14F-4D97-AF65-F5344CB8AC3E}">
        <p14:creationId xmlns:p14="http://schemas.microsoft.com/office/powerpoint/2010/main" val="38384657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EFE1FE-C8E7-4A55-953B-8BF5A3F95FD9}"/>
              </a:ext>
            </a:extLst>
          </p:cNvPr>
          <p:cNvSpPr>
            <a:spLocks noGrp="1"/>
          </p:cNvSpPr>
          <p:nvPr>
            <p:ph type="title"/>
          </p:nvPr>
        </p:nvSpPr>
        <p:spPr>
          <a:xfrm>
            <a:off x="0" y="0"/>
            <a:ext cx="10515600" cy="1325563"/>
          </a:xfrm>
        </p:spPr>
        <p:txBody>
          <a:bodyPr/>
          <a:lstStyle/>
          <a:p>
            <a:r>
              <a:rPr lang="en-US" dirty="0"/>
              <a:t>Stock Synthesis Spatial Models</a:t>
            </a:r>
          </a:p>
        </p:txBody>
      </p:sp>
      <p:sp>
        <p:nvSpPr>
          <p:cNvPr id="3" name="Content Placeholder 2">
            <a:extLst>
              <a:ext uri="{FF2B5EF4-FFF2-40B4-BE49-F238E27FC236}">
                <a16:creationId xmlns:a16="http://schemas.microsoft.com/office/drawing/2014/main" id="{A885E373-0088-482E-9CBF-9EA2872D4B5C}"/>
              </a:ext>
            </a:extLst>
          </p:cNvPr>
          <p:cNvSpPr>
            <a:spLocks noGrp="1"/>
          </p:cNvSpPr>
          <p:nvPr>
            <p:ph idx="1"/>
          </p:nvPr>
        </p:nvSpPr>
        <p:spPr>
          <a:xfrm>
            <a:off x="838199" y="1825625"/>
            <a:ext cx="6150429" cy="4338411"/>
          </a:xfrm>
        </p:spPr>
        <p:txBody>
          <a:bodyPr>
            <a:normAutofit fontScale="92500" lnSpcReduction="20000"/>
          </a:bodyPr>
          <a:lstStyle/>
          <a:p>
            <a:r>
              <a:rPr lang="en-US" dirty="0"/>
              <a:t>Fishery length composition</a:t>
            </a:r>
          </a:p>
          <a:p>
            <a:pPr lvl="1"/>
            <a:r>
              <a:rPr lang="en-US" dirty="0"/>
              <a:t>Western Gulf of Alaska fishery length composition includes area 610 and 620</a:t>
            </a:r>
          </a:p>
          <a:p>
            <a:r>
              <a:rPr lang="en-US" dirty="0"/>
              <a:t>Design-based survey length and age composition</a:t>
            </a:r>
          </a:p>
          <a:p>
            <a:pPr lvl="1"/>
            <a:r>
              <a:rPr lang="en-US" dirty="0"/>
              <a:t>Gulf of Alaska survey data limited to West of   -158 W longitude</a:t>
            </a:r>
          </a:p>
          <a:p>
            <a:pPr lvl="1"/>
            <a:r>
              <a:rPr lang="en-US" dirty="0"/>
              <a:t>Bering Sea survey data inclusive of NBS when surveyed</a:t>
            </a:r>
          </a:p>
          <a:p>
            <a:r>
              <a:rPr lang="en-US" dirty="0"/>
              <a:t>Survey mean size-at-age</a:t>
            </a:r>
          </a:p>
          <a:p>
            <a:pPr lvl="1"/>
            <a:r>
              <a:rPr lang="en-US" dirty="0"/>
              <a:t>Gulf of Alaska survey data limited to West of   -158 W longitude</a:t>
            </a:r>
          </a:p>
          <a:p>
            <a:pPr lvl="1"/>
            <a:r>
              <a:rPr lang="en-US" dirty="0"/>
              <a:t>Bering Sea survey data inclusive of NBS when surveyed.</a:t>
            </a:r>
          </a:p>
        </p:txBody>
      </p:sp>
      <p:pic>
        <p:nvPicPr>
          <p:cNvPr id="4" name="Picture 3">
            <a:extLst>
              <a:ext uri="{FF2B5EF4-FFF2-40B4-BE49-F238E27FC236}">
                <a16:creationId xmlns:a16="http://schemas.microsoft.com/office/drawing/2014/main" id="{A0641D9A-E61B-468F-85E8-6E98740AD8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31010" y="-381813"/>
            <a:ext cx="3160990" cy="2139969"/>
          </a:xfrm>
          <a:prstGeom prst="rect">
            <a:avLst/>
          </a:prstGeom>
        </p:spPr>
      </p:pic>
      <p:sp>
        <p:nvSpPr>
          <p:cNvPr id="6" name="TextBox 5">
            <a:extLst>
              <a:ext uri="{FF2B5EF4-FFF2-40B4-BE49-F238E27FC236}">
                <a16:creationId xmlns:a16="http://schemas.microsoft.com/office/drawing/2014/main" id="{CBF22C3A-8FEB-46DE-8784-1D8417A50FA7}"/>
              </a:ext>
            </a:extLst>
          </p:cNvPr>
          <p:cNvSpPr txBox="1"/>
          <p:nvPr/>
        </p:nvSpPr>
        <p:spPr>
          <a:xfrm>
            <a:off x="353961" y="1145157"/>
            <a:ext cx="961353" cy="584775"/>
          </a:xfrm>
          <a:prstGeom prst="rect">
            <a:avLst/>
          </a:prstGeom>
          <a:noFill/>
        </p:spPr>
        <p:txBody>
          <a:bodyPr wrap="none" rtlCol="0">
            <a:spAutoFit/>
          </a:bodyPr>
          <a:lstStyle/>
          <a:p>
            <a:r>
              <a:rPr lang="en-US" sz="3200" dirty="0"/>
              <a:t>Data</a:t>
            </a:r>
          </a:p>
        </p:txBody>
      </p:sp>
      <p:pic>
        <p:nvPicPr>
          <p:cNvPr id="8" name="Picture 7">
            <a:extLst>
              <a:ext uri="{FF2B5EF4-FFF2-40B4-BE49-F238E27FC236}">
                <a16:creationId xmlns:a16="http://schemas.microsoft.com/office/drawing/2014/main" id="{CC41A11F-CE7C-43CC-930B-E404040B902D}"/>
              </a:ext>
            </a:extLst>
          </p:cNvPr>
          <p:cNvPicPr>
            <a:picLocks noChangeAspect="1"/>
          </p:cNvPicPr>
          <p:nvPr/>
        </p:nvPicPr>
        <p:blipFill>
          <a:blip r:embed="rId3"/>
          <a:stretch>
            <a:fillRect/>
          </a:stretch>
        </p:blipFill>
        <p:spPr>
          <a:xfrm>
            <a:off x="8049986" y="1437545"/>
            <a:ext cx="3983030" cy="3050330"/>
          </a:xfrm>
          <a:prstGeom prst="rect">
            <a:avLst/>
          </a:prstGeom>
        </p:spPr>
      </p:pic>
      <p:pic>
        <p:nvPicPr>
          <p:cNvPr id="7" name="Picture 6">
            <a:extLst>
              <a:ext uri="{FF2B5EF4-FFF2-40B4-BE49-F238E27FC236}">
                <a16:creationId xmlns:a16="http://schemas.microsoft.com/office/drawing/2014/main" id="{13AADE42-BB45-45EB-86F5-5B090D242C70}"/>
              </a:ext>
            </a:extLst>
          </p:cNvPr>
          <p:cNvPicPr>
            <a:picLocks noChangeAspect="1"/>
          </p:cNvPicPr>
          <p:nvPr/>
        </p:nvPicPr>
        <p:blipFill rotWithShape="1">
          <a:blip r:embed="rId4"/>
          <a:srcRect t="5100"/>
          <a:stretch/>
        </p:blipFill>
        <p:spPr>
          <a:xfrm>
            <a:off x="8401051" y="4487875"/>
            <a:ext cx="3461657" cy="2369203"/>
          </a:xfrm>
          <a:prstGeom prst="rect">
            <a:avLst/>
          </a:prstGeom>
        </p:spPr>
      </p:pic>
    </p:spTree>
    <p:extLst>
      <p:ext uri="{BB962C8B-B14F-4D97-AF65-F5344CB8AC3E}">
        <p14:creationId xmlns:p14="http://schemas.microsoft.com/office/powerpoint/2010/main" val="8765438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EFE1FE-C8E7-4A55-953B-8BF5A3F95FD9}"/>
              </a:ext>
            </a:extLst>
          </p:cNvPr>
          <p:cNvSpPr>
            <a:spLocks noGrp="1"/>
          </p:cNvSpPr>
          <p:nvPr>
            <p:ph type="title"/>
          </p:nvPr>
        </p:nvSpPr>
        <p:spPr>
          <a:xfrm>
            <a:off x="0" y="0"/>
            <a:ext cx="10515600" cy="1325563"/>
          </a:xfrm>
        </p:spPr>
        <p:txBody>
          <a:bodyPr/>
          <a:lstStyle/>
          <a:p>
            <a:r>
              <a:rPr lang="en-US" dirty="0"/>
              <a:t>Stock Synthesis explorations</a:t>
            </a:r>
          </a:p>
        </p:txBody>
      </p:sp>
      <p:sp>
        <p:nvSpPr>
          <p:cNvPr id="3" name="Content Placeholder 2">
            <a:extLst>
              <a:ext uri="{FF2B5EF4-FFF2-40B4-BE49-F238E27FC236}">
                <a16:creationId xmlns:a16="http://schemas.microsoft.com/office/drawing/2014/main" id="{A885E373-0088-482E-9CBF-9EA2872D4B5C}"/>
              </a:ext>
            </a:extLst>
          </p:cNvPr>
          <p:cNvSpPr>
            <a:spLocks noGrp="1"/>
          </p:cNvSpPr>
          <p:nvPr>
            <p:ph idx="1"/>
          </p:nvPr>
        </p:nvSpPr>
        <p:spPr>
          <a:xfrm>
            <a:off x="415413" y="1336649"/>
            <a:ext cx="4262723" cy="4786565"/>
          </a:xfrm>
        </p:spPr>
        <p:txBody>
          <a:bodyPr>
            <a:normAutofit fontScale="85000" lnSpcReduction="20000"/>
          </a:bodyPr>
          <a:lstStyle/>
          <a:p>
            <a:r>
              <a:rPr lang="en-US" dirty="0"/>
              <a:t>Models predict faster growth but smaller asymptote for WGOA fish</a:t>
            </a:r>
          </a:p>
          <a:p>
            <a:r>
              <a:rPr lang="en-US" dirty="0"/>
              <a:t>Growth is similar among models except:</a:t>
            </a:r>
          </a:p>
          <a:p>
            <a:pPr lvl="1"/>
            <a:r>
              <a:rPr lang="en-US" dirty="0"/>
              <a:t>Model 26.1.3.1 RW has smaller asymptote in WGOA.</a:t>
            </a:r>
          </a:p>
          <a:p>
            <a:endParaRPr lang="en-US" dirty="0"/>
          </a:p>
          <a:p>
            <a:r>
              <a:rPr lang="en-US" dirty="0"/>
              <a:t>Survey selectivity has larger peak selectivity for WGOA</a:t>
            </a:r>
          </a:p>
          <a:p>
            <a:r>
              <a:rPr lang="en-US" dirty="0"/>
              <a:t>Selectivity patterns similar among models except:</a:t>
            </a:r>
          </a:p>
          <a:p>
            <a:pPr lvl="1"/>
            <a:r>
              <a:rPr lang="en-US" dirty="0"/>
              <a:t>Model 26.1.3.1 differs from other models with smaller peak selectivity for WGOA</a:t>
            </a:r>
          </a:p>
        </p:txBody>
      </p:sp>
      <p:pic>
        <p:nvPicPr>
          <p:cNvPr id="6" name="Picture 5">
            <a:extLst>
              <a:ext uri="{FF2B5EF4-FFF2-40B4-BE49-F238E27FC236}">
                <a16:creationId xmlns:a16="http://schemas.microsoft.com/office/drawing/2014/main" id="{A009357C-70E8-4A67-865F-17C5EED03CAD}"/>
              </a:ext>
            </a:extLst>
          </p:cNvPr>
          <p:cNvPicPr>
            <a:picLocks noChangeAspect="1"/>
          </p:cNvPicPr>
          <p:nvPr/>
        </p:nvPicPr>
        <p:blipFill>
          <a:blip r:embed="rId2"/>
          <a:stretch>
            <a:fillRect/>
          </a:stretch>
        </p:blipFill>
        <p:spPr>
          <a:xfrm>
            <a:off x="6860215" y="1033329"/>
            <a:ext cx="4341590" cy="2877763"/>
          </a:xfrm>
          <a:prstGeom prst="rect">
            <a:avLst/>
          </a:prstGeom>
        </p:spPr>
      </p:pic>
      <p:pic>
        <p:nvPicPr>
          <p:cNvPr id="4" name="Picture 3">
            <a:extLst>
              <a:ext uri="{FF2B5EF4-FFF2-40B4-BE49-F238E27FC236}">
                <a16:creationId xmlns:a16="http://schemas.microsoft.com/office/drawing/2014/main" id="{A0641D9A-E61B-468F-85E8-6E98740AD83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31010" y="-381813"/>
            <a:ext cx="3160990" cy="2139969"/>
          </a:xfrm>
          <a:prstGeom prst="rect">
            <a:avLst/>
          </a:prstGeom>
        </p:spPr>
      </p:pic>
      <p:pic>
        <p:nvPicPr>
          <p:cNvPr id="8" name="Picture 7">
            <a:extLst>
              <a:ext uri="{FF2B5EF4-FFF2-40B4-BE49-F238E27FC236}">
                <a16:creationId xmlns:a16="http://schemas.microsoft.com/office/drawing/2014/main" id="{BDCF76FA-5107-476C-A661-C52898FA44F4}"/>
              </a:ext>
            </a:extLst>
          </p:cNvPr>
          <p:cNvPicPr>
            <a:picLocks noChangeAspect="1"/>
          </p:cNvPicPr>
          <p:nvPr/>
        </p:nvPicPr>
        <p:blipFill>
          <a:blip r:embed="rId4"/>
          <a:stretch>
            <a:fillRect/>
          </a:stretch>
        </p:blipFill>
        <p:spPr>
          <a:xfrm>
            <a:off x="6860215" y="3935548"/>
            <a:ext cx="4409008" cy="2922451"/>
          </a:xfrm>
          <a:prstGeom prst="rect">
            <a:avLst/>
          </a:prstGeom>
        </p:spPr>
      </p:pic>
    </p:spTree>
    <p:extLst>
      <p:ext uri="{BB962C8B-B14F-4D97-AF65-F5344CB8AC3E}">
        <p14:creationId xmlns:p14="http://schemas.microsoft.com/office/powerpoint/2010/main" val="28713471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EFE1FE-C8E7-4A55-953B-8BF5A3F95FD9}"/>
              </a:ext>
            </a:extLst>
          </p:cNvPr>
          <p:cNvSpPr>
            <a:spLocks noGrp="1"/>
          </p:cNvSpPr>
          <p:nvPr>
            <p:ph type="title"/>
          </p:nvPr>
        </p:nvSpPr>
        <p:spPr>
          <a:xfrm>
            <a:off x="0" y="0"/>
            <a:ext cx="10515600" cy="1325563"/>
          </a:xfrm>
        </p:spPr>
        <p:txBody>
          <a:bodyPr/>
          <a:lstStyle/>
          <a:p>
            <a:r>
              <a:rPr lang="en-US" dirty="0"/>
              <a:t>Stock Synthesis explorations</a:t>
            </a:r>
          </a:p>
        </p:txBody>
      </p:sp>
      <p:sp>
        <p:nvSpPr>
          <p:cNvPr id="3" name="Content Placeholder 2">
            <a:extLst>
              <a:ext uri="{FF2B5EF4-FFF2-40B4-BE49-F238E27FC236}">
                <a16:creationId xmlns:a16="http://schemas.microsoft.com/office/drawing/2014/main" id="{A885E373-0088-482E-9CBF-9EA2872D4B5C}"/>
              </a:ext>
            </a:extLst>
          </p:cNvPr>
          <p:cNvSpPr>
            <a:spLocks noGrp="1"/>
          </p:cNvSpPr>
          <p:nvPr>
            <p:ph idx="1"/>
          </p:nvPr>
        </p:nvSpPr>
        <p:spPr>
          <a:xfrm>
            <a:off x="415413" y="1336649"/>
            <a:ext cx="2848943" cy="1406551"/>
          </a:xfrm>
        </p:spPr>
        <p:txBody>
          <a:bodyPr>
            <a:normAutofit/>
          </a:bodyPr>
          <a:lstStyle/>
          <a:p>
            <a:r>
              <a:rPr lang="en-US" dirty="0"/>
              <a:t>Little difference in results among models</a:t>
            </a:r>
          </a:p>
        </p:txBody>
      </p:sp>
      <p:pic>
        <p:nvPicPr>
          <p:cNvPr id="4" name="Picture 3">
            <a:extLst>
              <a:ext uri="{FF2B5EF4-FFF2-40B4-BE49-F238E27FC236}">
                <a16:creationId xmlns:a16="http://schemas.microsoft.com/office/drawing/2014/main" id="{A0641D9A-E61B-468F-85E8-6E98740AD8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31010" y="-381813"/>
            <a:ext cx="3160990" cy="2139969"/>
          </a:xfrm>
          <a:prstGeom prst="rect">
            <a:avLst/>
          </a:prstGeom>
        </p:spPr>
      </p:pic>
      <p:pic>
        <p:nvPicPr>
          <p:cNvPr id="7" name="Picture 6">
            <a:extLst>
              <a:ext uri="{FF2B5EF4-FFF2-40B4-BE49-F238E27FC236}">
                <a16:creationId xmlns:a16="http://schemas.microsoft.com/office/drawing/2014/main" id="{97640B49-A9B8-49AF-8517-C6143D5372BC}"/>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65" y="2694607"/>
            <a:ext cx="5427809" cy="3583521"/>
          </a:xfrm>
          <a:prstGeom prst="rect">
            <a:avLst/>
          </a:prstGeom>
          <a:noFill/>
        </p:spPr>
      </p:pic>
      <p:pic>
        <p:nvPicPr>
          <p:cNvPr id="6" name="Picture 5">
            <a:extLst>
              <a:ext uri="{FF2B5EF4-FFF2-40B4-BE49-F238E27FC236}">
                <a16:creationId xmlns:a16="http://schemas.microsoft.com/office/drawing/2014/main" id="{132323CC-050B-4096-95DB-E26F8C18452F}"/>
              </a:ext>
            </a:extLst>
          </p:cNvPr>
          <p:cNvPicPr>
            <a:picLocks noChangeAspect="1"/>
          </p:cNvPicPr>
          <p:nvPr/>
        </p:nvPicPr>
        <p:blipFill>
          <a:blip r:embed="rId4"/>
          <a:stretch>
            <a:fillRect/>
          </a:stretch>
        </p:blipFill>
        <p:spPr>
          <a:xfrm>
            <a:off x="5347266" y="1336649"/>
            <a:ext cx="6836869" cy="4941479"/>
          </a:xfrm>
          <a:prstGeom prst="rect">
            <a:avLst/>
          </a:prstGeom>
        </p:spPr>
      </p:pic>
    </p:spTree>
    <p:extLst>
      <p:ext uri="{BB962C8B-B14F-4D97-AF65-F5344CB8AC3E}">
        <p14:creationId xmlns:p14="http://schemas.microsoft.com/office/powerpoint/2010/main" val="14426486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EFE1FE-C8E7-4A55-953B-8BF5A3F95FD9}"/>
              </a:ext>
            </a:extLst>
          </p:cNvPr>
          <p:cNvSpPr>
            <a:spLocks noGrp="1"/>
          </p:cNvSpPr>
          <p:nvPr>
            <p:ph type="title"/>
          </p:nvPr>
        </p:nvSpPr>
        <p:spPr>
          <a:xfrm>
            <a:off x="0" y="0"/>
            <a:ext cx="10515600" cy="1325563"/>
          </a:xfrm>
        </p:spPr>
        <p:txBody>
          <a:bodyPr/>
          <a:lstStyle/>
          <a:p>
            <a:r>
              <a:rPr lang="en-US" dirty="0"/>
              <a:t>Proportionality</a:t>
            </a:r>
          </a:p>
        </p:txBody>
      </p:sp>
      <p:pic>
        <p:nvPicPr>
          <p:cNvPr id="5" name="Content Placeholder 4">
            <a:extLst>
              <a:ext uri="{FF2B5EF4-FFF2-40B4-BE49-F238E27FC236}">
                <a16:creationId xmlns:a16="http://schemas.microsoft.com/office/drawing/2014/main" id="{9646C071-A37A-40DA-BEE4-B07759394660}"/>
              </a:ext>
            </a:extLst>
          </p:cNvPr>
          <p:cNvPicPr>
            <a:picLocks noGrp="1" noChangeAspect="1"/>
          </p:cNvPicPr>
          <p:nvPr>
            <p:ph idx="1"/>
          </p:nvPr>
        </p:nvPicPr>
        <p:blipFill>
          <a:blip r:embed="rId2"/>
          <a:stretch>
            <a:fillRect/>
          </a:stretch>
        </p:blipFill>
        <p:spPr>
          <a:xfrm>
            <a:off x="3633108" y="680010"/>
            <a:ext cx="6408964" cy="3204482"/>
          </a:xfrm>
          <a:prstGeom prst="rect">
            <a:avLst/>
          </a:prstGeom>
        </p:spPr>
      </p:pic>
      <p:pic>
        <p:nvPicPr>
          <p:cNvPr id="4" name="Picture 3">
            <a:extLst>
              <a:ext uri="{FF2B5EF4-FFF2-40B4-BE49-F238E27FC236}">
                <a16:creationId xmlns:a16="http://schemas.microsoft.com/office/drawing/2014/main" id="{A0641D9A-E61B-468F-85E8-6E98740AD83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31010" y="-381813"/>
            <a:ext cx="3160990" cy="2139969"/>
          </a:xfrm>
          <a:prstGeom prst="rect">
            <a:avLst/>
          </a:prstGeom>
        </p:spPr>
      </p:pic>
      <p:sp>
        <p:nvSpPr>
          <p:cNvPr id="6" name="Content Placeholder 2">
            <a:extLst>
              <a:ext uri="{FF2B5EF4-FFF2-40B4-BE49-F238E27FC236}">
                <a16:creationId xmlns:a16="http://schemas.microsoft.com/office/drawing/2014/main" id="{DA4843FF-3E2E-4EEC-860F-57BBC424BC56}"/>
              </a:ext>
            </a:extLst>
          </p:cNvPr>
          <p:cNvSpPr txBox="1">
            <a:spLocks/>
          </p:cNvSpPr>
          <p:nvPr/>
        </p:nvSpPr>
        <p:spPr>
          <a:xfrm>
            <a:off x="242092" y="1758156"/>
            <a:ext cx="3072608"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Little difference among model results</a:t>
            </a:r>
          </a:p>
          <a:p>
            <a:endParaRPr lang="en-US" dirty="0"/>
          </a:p>
          <a:p>
            <a:r>
              <a:rPr lang="en-US" dirty="0"/>
              <a:t>5-30% of spawning biomass in the Western GOA</a:t>
            </a:r>
          </a:p>
        </p:txBody>
      </p:sp>
      <p:pic>
        <p:nvPicPr>
          <p:cNvPr id="8" name="Picture 7">
            <a:extLst>
              <a:ext uri="{FF2B5EF4-FFF2-40B4-BE49-F238E27FC236}">
                <a16:creationId xmlns:a16="http://schemas.microsoft.com/office/drawing/2014/main" id="{42DD99E2-D808-42A9-A579-231C99B75804}"/>
              </a:ext>
            </a:extLst>
          </p:cNvPr>
          <p:cNvPicPr>
            <a:picLocks noChangeAspect="1"/>
          </p:cNvPicPr>
          <p:nvPr/>
        </p:nvPicPr>
        <p:blipFill>
          <a:blip r:embed="rId4"/>
          <a:stretch>
            <a:fillRect/>
          </a:stretch>
        </p:blipFill>
        <p:spPr>
          <a:xfrm>
            <a:off x="5753208" y="3884842"/>
            <a:ext cx="5660575" cy="2973162"/>
          </a:xfrm>
          <a:prstGeom prst="rect">
            <a:avLst/>
          </a:prstGeom>
        </p:spPr>
      </p:pic>
    </p:spTree>
    <p:extLst>
      <p:ext uri="{BB962C8B-B14F-4D97-AF65-F5344CB8AC3E}">
        <p14:creationId xmlns:p14="http://schemas.microsoft.com/office/powerpoint/2010/main" val="39411071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EFE1FE-C8E7-4A55-953B-8BF5A3F95FD9}"/>
              </a:ext>
            </a:extLst>
          </p:cNvPr>
          <p:cNvSpPr>
            <a:spLocks noGrp="1"/>
          </p:cNvSpPr>
          <p:nvPr>
            <p:ph type="title"/>
          </p:nvPr>
        </p:nvSpPr>
        <p:spPr>
          <a:xfrm>
            <a:off x="0" y="0"/>
            <a:ext cx="10515600" cy="1325563"/>
          </a:xfrm>
        </p:spPr>
        <p:txBody>
          <a:bodyPr/>
          <a:lstStyle/>
          <a:p>
            <a:r>
              <a:rPr lang="en-US" dirty="0"/>
              <a:t>Catchability or movement?</a:t>
            </a:r>
          </a:p>
        </p:txBody>
      </p:sp>
      <p:pic>
        <p:nvPicPr>
          <p:cNvPr id="5" name="Content Placeholder 4">
            <a:extLst>
              <a:ext uri="{FF2B5EF4-FFF2-40B4-BE49-F238E27FC236}">
                <a16:creationId xmlns:a16="http://schemas.microsoft.com/office/drawing/2014/main" id="{E378AA95-3B9A-42FF-BF42-6296597A41E9}"/>
              </a:ext>
            </a:extLst>
          </p:cNvPr>
          <p:cNvPicPr>
            <a:picLocks noGrp="1" noChangeAspect="1"/>
          </p:cNvPicPr>
          <p:nvPr>
            <p:ph idx="1"/>
          </p:nvPr>
        </p:nvPicPr>
        <p:blipFill>
          <a:blip r:embed="rId2"/>
          <a:stretch>
            <a:fillRect/>
          </a:stretch>
        </p:blipFill>
        <p:spPr>
          <a:xfrm>
            <a:off x="9474" y="2696186"/>
            <a:ext cx="5614547" cy="3874037"/>
          </a:xfrm>
          <a:prstGeom prst="rect">
            <a:avLst/>
          </a:prstGeom>
        </p:spPr>
      </p:pic>
      <p:pic>
        <p:nvPicPr>
          <p:cNvPr id="4" name="Picture 3">
            <a:extLst>
              <a:ext uri="{FF2B5EF4-FFF2-40B4-BE49-F238E27FC236}">
                <a16:creationId xmlns:a16="http://schemas.microsoft.com/office/drawing/2014/main" id="{A0641D9A-E61B-468F-85E8-6E98740AD83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31010" y="-381813"/>
            <a:ext cx="3160990" cy="2139969"/>
          </a:xfrm>
          <a:prstGeom prst="rect">
            <a:avLst/>
          </a:prstGeom>
        </p:spPr>
      </p:pic>
      <p:sp>
        <p:nvSpPr>
          <p:cNvPr id="7" name="TextBox 6">
            <a:extLst>
              <a:ext uri="{FF2B5EF4-FFF2-40B4-BE49-F238E27FC236}">
                <a16:creationId xmlns:a16="http://schemas.microsoft.com/office/drawing/2014/main" id="{17FB24E0-F2FF-4F89-A38C-41A59814ED62}"/>
              </a:ext>
            </a:extLst>
          </p:cNvPr>
          <p:cNvSpPr txBox="1"/>
          <p:nvPr/>
        </p:nvSpPr>
        <p:spPr>
          <a:xfrm>
            <a:off x="235975" y="1105128"/>
            <a:ext cx="10279626" cy="830997"/>
          </a:xfrm>
          <a:prstGeom prst="rect">
            <a:avLst/>
          </a:prstGeom>
          <a:noFill/>
        </p:spPr>
        <p:txBody>
          <a:bodyPr wrap="square" rtlCol="0">
            <a:spAutoFit/>
          </a:bodyPr>
          <a:lstStyle/>
          <a:p>
            <a:pPr marL="914400" lvl="1" indent="-457200">
              <a:buFont typeface="Arial" panose="020B0604020202020204" pitchFamily="34" charset="0"/>
              <a:buChar char="•"/>
            </a:pPr>
            <a:r>
              <a:rPr lang="en-US" sz="2400" dirty="0"/>
              <a:t>Agreement in spatial state among models but substantial structural uncertainty in spatial mechanism</a:t>
            </a:r>
          </a:p>
        </p:txBody>
      </p:sp>
      <p:pic>
        <p:nvPicPr>
          <p:cNvPr id="3" name="Picture 2">
            <a:extLst>
              <a:ext uri="{FF2B5EF4-FFF2-40B4-BE49-F238E27FC236}">
                <a16:creationId xmlns:a16="http://schemas.microsoft.com/office/drawing/2014/main" id="{2E47D1E5-54B5-468B-AAAB-723DEE3A5E98}"/>
              </a:ext>
            </a:extLst>
          </p:cNvPr>
          <p:cNvPicPr>
            <a:picLocks noChangeAspect="1"/>
          </p:cNvPicPr>
          <p:nvPr/>
        </p:nvPicPr>
        <p:blipFill rotWithShape="1">
          <a:blip r:embed="rId4"/>
          <a:srcRect b="5742"/>
          <a:stretch/>
        </p:blipFill>
        <p:spPr>
          <a:xfrm>
            <a:off x="6014598" y="2736090"/>
            <a:ext cx="6032823" cy="3589895"/>
          </a:xfrm>
          <a:prstGeom prst="rect">
            <a:avLst/>
          </a:prstGeom>
        </p:spPr>
      </p:pic>
    </p:spTree>
    <p:extLst>
      <p:ext uri="{BB962C8B-B14F-4D97-AF65-F5344CB8AC3E}">
        <p14:creationId xmlns:p14="http://schemas.microsoft.com/office/powerpoint/2010/main" val="38303667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EFE1FE-C8E7-4A55-953B-8BF5A3F95FD9}"/>
              </a:ext>
            </a:extLst>
          </p:cNvPr>
          <p:cNvSpPr>
            <a:spLocks noGrp="1"/>
          </p:cNvSpPr>
          <p:nvPr>
            <p:ph type="title"/>
          </p:nvPr>
        </p:nvSpPr>
        <p:spPr>
          <a:xfrm>
            <a:off x="0" y="0"/>
            <a:ext cx="10515600" cy="1325563"/>
          </a:xfrm>
        </p:spPr>
        <p:txBody>
          <a:bodyPr/>
          <a:lstStyle/>
          <a:p>
            <a:r>
              <a:rPr lang="en-US" dirty="0"/>
              <a:t>Limitation of Stock Synthesis?</a:t>
            </a:r>
          </a:p>
        </p:txBody>
      </p:sp>
      <p:pic>
        <p:nvPicPr>
          <p:cNvPr id="4" name="Picture 3">
            <a:extLst>
              <a:ext uri="{FF2B5EF4-FFF2-40B4-BE49-F238E27FC236}">
                <a16:creationId xmlns:a16="http://schemas.microsoft.com/office/drawing/2014/main" id="{A0641D9A-E61B-468F-85E8-6E98740AD8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31010" y="-381813"/>
            <a:ext cx="3160990" cy="2139969"/>
          </a:xfrm>
          <a:prstGeom prst="rect">
            <a:avLst/>
          </a:prstGeom>
        </p:spPr>
      </p:pic>
      <p:sp>
        <p:nvSpPr>
          <p:cNvPr id="7" name="TextBox 6">
            <a:extLst>
              <a:ext uri="{FF2B5EF4-FFF2-40B4-BE49-F238E27FC236}">
                <a16:creationId xmlns:a16="http://schemas.microsoft.com/office/drawing/2014/main" id="{17FB24E0-F2FF-4F89-A38C-41A59814ED62}"/>
              </a:ext>
            </a:extLst>
          </p:cNvPr>
          <p:cNvSpPr txBox="1"/>
          <p:nvPr/>
        </p:nvSpPr>
        <p:spPr>
          <a:xfrm>
            <a:off x="235974" y="1505178"/>
            <a:ext cx="10279626" cy="3539430"/>
          </a:xfrm>
          <a:prstGeom prst="rect">
            <a:avLst/>
          </a:prstGeom>
          <a:noFill/>
        </p:spPr>
        <p:txBody>
          <a:bodyPr wrap="square" rtlCol="0">
            <a:spAutoFit/>
          </a:bodyPr>
          <a:lstStyle/>
          <a:p>
            <a:pPr marL="914400" lvl="1" indent="-457200">
              <a:buFont typeface="Arial" panose="020B0604020202020204" pitchFamily="34" charset="0"/>
              <a:buChar char="•"/>
            </a:pPr>
            <a:r>
              <a:rPr lang="en-US" sz="2800" dirty="0"/>
              <a:t>These models are finding multiple ways to explain essentially the same data. Changes or discrepancies in indices and composition can be absorbed by q, movement, recruitment allocation, and growth or selectivity.</a:t>
            </a:r>
          </a:p>
          <a:p>
            <a:pPr marL="914400" lvl="1" indent="-457200">
              <a:buFont typeface="Arial" panose="020B0604020202020204" pitchFamily="34" charset="0"/>
              <a:buChar char="•"/>
            </a:pPr>
            <a:endParaRPr lang="en-US" sz="2800" dirty="0"/>
          </a:p>
          <a:p>
            <a:pPr marL="914400" lvl="1" indent="-457200">
              <a:buFont typeface="Arial" panose="020B0604020202020204" pitchFamily="34" charset="0"/>
              <a:buChar char="•"/>
            </a:pPr>
            <a:r>
              <a:rPr lang="en-US" sz="2800" dirty="0"/>
              <a:t>In Stock Synthesis there is no easy ways to rigorously test among various hypothesis on how spatial processes impact stock dynamics.</a:t>
            </a:r>
          </a:p>
        </p:txBody>
      </p:sp>
    </p:spTree>
    <p:extLst>
      <p:ext uri="{BB962C8B-B14F-4D97-AF65-F5344CB8AC3E}">
        <p14:creationId xmlns:p14="http://schemas.microsoft.com/office/powerpoint/2010/main" val="13972771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EFE1FE-C8E7-4A55-953B-8BF5A3F95FD9}"/>
              </a:ext>
            </a:extLst>
          </p:cNvPr>
          <p:cNvSpPr>
            <a:spLocks noGrp="1"/>
          </p:cNvSpPr>
          <p:nvPr>
            <p:ph type="title"/>
          </p:nvPr>
        </p:nvSpPr>
        <p:spPr>
          <a:xfrm>
            <a:off x="277586" y="73476"/>
            <a:ext cx="9031010" cy="1325563"/>
          </a:xfrm>
        </p:spPr>
        <p:txBody>
          <a:bodyPr/>
          <a:lstStyle/>
          <a:p>
            <a:r>
              <a:rPr lang="en-US" dirty="0"/>
              <a:t>Twelve reasons to move to </a:t>
            </a:r>
            <a:r>
              <a:rPr lang="en-US" dirty="0" err="1"/>
              <a:t>SPoRC</a:t>
            </a:r>
            <a:r>
              <a:rPr lang="en-US" dirty="0"/>
              <a:t> and away from Stock Synthesis</a:t>
            </a:r>
          </a:p>
        </p:txBody>
      </p:sp>
      <p:pic>
        <p:nvPicPr>
          <p:cNvPr id="4" name="Picture 3">
            <a:extLst>
              <a:ext uri="{FF2B5EF4-FFF2-40B4-BE49-F238E27FC236}">
                <a16:creationId xmlns:a16="http://schemas.microsoft.com/office/drawing/2014/main" id="{A0641D9A-E61B-468F-85E8-6E98740AD8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31010" y="-381813"/>
            <a:ext cx="3160990" cy="2139969"/>
          </a:xfrm>
          <a:prstGeom prst="rect">
            <a:avLst/>
          </a:prstGeom>
        </p:spPr>
      </p:pic>
      <p:sp>
        <p:nvSpPr>
          <p:cNvPr id="5" name="Rectangle 2">
            <a:extLst>
              <a:ext uri="{FF2B5EF4-FFF2-40B4-BE49-F238E27FC236}">
                <a16:creationId xmlns:a16="http://schemas.microsoft.com/office/drawing/2014/main" id="{C9BB626F-3DB3-45AF-A753-4885EEDDCF3D}"/>
              </a:ext>
            </a:extLst>
          </p:cNvPr>
          <p:cNvSpPr>
            <a:spLocks noGrp="1" noChangeArrowheads="1"/>
          </p:cNvSpPr>
          <p:nvPr>
            <p:ph idx="1"/>
          </p:nvPr>
        </p:nvSpPr>
        <p:spPr bwMode="auto">
          <a:xfrm>
            <a:off x="838201" y="1877638"/>
            <a:ext cx="10068097"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kumimoji="0" lang="en-US" altLang="en-US" sz="1800" b="1" i="0" u="none" strike="noStrike" cap="none" normalizeH="0" baseline="0" dirty="0">
                <a:ln>
                  <a:noFill/>
                </a:ln>
                <a:solidFill>
                  <a:schemeClr val="tx1"/>
                </a:solidFill>
                <a:effectLst/>
                <a:latin typeface="Arial" panose="020B0604020202020204" pitchFamily="34" charset="0"/>
              </a:rPr>
              <a:t>ADMB is a legacy dependency with limited future development.</a:t>
            </a:r>
            <a:r>
              <a:rPr kumimoji="0" lang="en-US" altLang="en-US" sz="1800" b="0" i="0" u="none" strike="noStrike" cap="none" normalizeH="0" baseline="0" dirty="0">
                <a:ln>
                  <a:noFill/>
                </a:ln>
                <a:solidFill>
                  <a:schemeClr val="tx1"/>
                </a:solidFill>
                <a:effectLst/>
                <a:latin typeface="Arial" panose="020B0604020202020204" pitchFamily="34" charset="0"/>
              </a:rPr>
              <a:t> </a:t>
            </a:r>
            <a:endParaRPr lang="en-US" altLang="en-US" sz="1800" dirty="0">
              <a:latin typeface="Arial" panose="020B0604020202020204" pitchFamily="34" charset="0"/>
            </a:endParaRPr>
          </a:p>
          <a:p>
            <a:pPr lvl="1" eaLnBrk="0" fontAlgn="base" hangingPunct="0">
              <a:lnSpc>
                <a:spcPct val="100000"/>
              </a:lnSpc>
              <a:spcBef>
                <a:spcPct val="0"/>
              </a:spcBef>
              <a:spcAft>
                <a:spcPct val="0"/>
              </a:spcAft>
            </a:pPr>
            <a:r>
              <a:rPr kumimoji="0" lang="en-US" altLang="en-US" sz="1800" b="0" i="0" u="none" strike="noStrike" cap="none" normalizeH="0" baseline="0" dirty="0">
                <a:ln>
                  <a:noFill/>
                </a:ln>
                <a:solidFill>
                  <a:schemeClr val="tx1"/>
                </a:solidFill>
                <a:effectLst/>
                <a:latin typeface="Arial" panose="020B0604020202020204" pitchFamily="34" charset="0"/>
              </a:rPr>
              <a:t>The ADMB Foundation announced retirement from active development, with the goal of leaving a stable release that can continue compiling existing models such as Stock Synthesis. </a:t>
            </a:r>
          </a:p>
          <a:p>
            <a:pPr marL="457200" lvl="1" indent="0" eaLnBrk="0" fontAlgn="base" hangingPunct="0">
              <a:lnSpc>
                <a:spcPct val="100000"/>
              </a:lnSpc>
              <a:spcBef>
                <a:spcPct val="0"/>
              </a:spcBef>
              <a:spcAft>
                <a:spcPct val="0"/>
              </a:spcAft>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pPr>
            <a:r>
              <a:rPr kumimoji="0" lang="en-US" altLang="en-US" sz="1800" b="1" i="0" u="none" strike="noStrike" cap="none" normalizeH="0" baseline="0" dirty="0" err="1">
                <a:ln>
                  <a:noFill/>
                </a:ln>
                <a:solidFill>
                  <a:schemeClr val="tx1"/>
                </a:solidFill>
                <a:effectLst/>
                <a:latin typeface="Arial" panose="020B0604020202020204" pitchFamily="34" charset="0"/>
              </a:rPr>
              <a:t>SPoRC</a:t>
            </a:r>
            <a:r>
              <a:rPr kumimoji="0" lang="en-US" altLang="en-US" sz="1800" b="1" i="0" u="none" strike="noStrike" cap="none" normalizeH="0" baseline="0" dirty="0">
                <a:ln>
                  <a:noFill/>
                </a:ln>
                <a:solidFill>
                  <a:schemeClr val="tx1"/>
                </a:solidFill>
                <a:effectLst/>
                <a:latin typeface="Arial" panose="020B0604020202020204" pitchFamily="34" charset="0"/>
              </a:rPr>
              <a:t> was designed as a spatial model from the outset.</a:t>
            </a:r>
            <a:r>
              <a:rPr kumimoji="0" lang="en-US" altLang="en-US" sz="1800" b="0" i="0" u="none" strike="noStrike" cap="none" normalizeH="0" baseline="0" dirty="0">
                <a:ln>
                  <a:noFill/>
                </a:ln>
                <a:solidFill>
                  <a:schemeClr val="tx1"/>
                </a:solidFill>
                <a:effectLst/>
                <a:latin typeface="Arial" panose="020B0604020202020204" pitchFamily="34" charset="0"/>
              </a:rPr>
              <a:t> </a:t>
            </a:r>
            <a:endParaRPr lang="en-US" altLang="en-US" sz="1800" dirty="0">
              <a:latin typeface="Arial" panose="020B0604020202020204" pitchFamily="34" charset="0"/>
            </a:endParaRPr>
          </a:p>
          <a:p>
            <a:pPr lvl="1" eaLnBrk="0" fontAlgn="base" hangingPunct="0">
              <a:lnSpc>
                <a:spcPct val="100000"/>
              </a:lnSpc>
              <a:spcBef>
                <a:spcPct val="0"/>
              </a:spcBef>
              <a:spcAft>
                <a:spcPct val="0"/>
              </a:spcAft>
            </a:pPr>
            <a:r>
              <a:rPr kumimoji="0" lang="en-US" altLang="en-US" sz="1800" b="0" i="0" u="none" strike="noStrike" cap="none" normalizeH="0" baseline="0" dirty="0">
                <a:ln>
                  <a:noFill/>
                </a:ln>
                <a:solidFill>
                  <a:schemeClr val="tx1"/>
                </a:solidFill>
                <a:effectLst/>
                <a:latin typeface="Arial" panose="020B0604020202020204" pitchFamily="34" charset="0"/>
              </a:rPr>
              <a:t>Multi-region, age-, sex-, and time-varying population processes are core design features rather than additions to a predominantly general-purpose integrated assessment framework. It supports flexible regional structures, recruitment allocation, fleet structures, and connectivity assumptions. </a:t>
            </a:r>
          </a:p>
          <a:p>
            <a:pPr marL="457200" lvl="1" indent="0" eaLnBrk="0" fontAlgn="base" hangingPunct="0">
              <a:lnSpc>
                <a:spcPct val="100000"/>
              </a:lnSpc>
              <a:spcBef>
                <a:spcPct val="0"/>
              </a:spcBef>
              <a:spcAft>
                <a:spcPct val="0"/>
              </a:spcAft>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pPr>
            <a:r>
              <a:rPr kumimoji="0" lang="en-US" altLang="en-US" sz="1800" b="1" i="0" u="none" strike="noStrike" cap="none" normalizeH="0" baseline="0" dirty="0">
                <a:ln>
                  <a:noFill/>
                </a:ln>
                <a:solidFill>
                  <a:schemeClr val="tx1"/>
                </a:solidFill>
                <a:effectLst/>
                <a:latin typeface="Arial" panose="020B0604020202020204" pitchFamily="34" charset="0"/>
              </a:rPr>
              <a:t>Stock Synthesis can do spatial models, but the implementation becomes complicated quickly.</a:t>
            </a:r>
            <a:r>
              <a:rPr kumimoji="0" lang="en-US" altLang="en-US" sz="1800" b="0" i="0" u="none" strike="noStrike" cap="none" normalizeH="0" baseline="0" dirty="0">
                <a:ln>
                  <a:noFill/>
                </a:ln>
                <a:solidFill>
                  <a:schemeClr val="tx1"/>
                </a:solidFill>
                <a:effectLst/>
                <a:latin typeface="Arial" panose="020B0604020202020204" pitchFamily="34" charset="0"/>
              </a:rPr>
              <a:t> </a:t>
            </a:r>
            <a:endParaRPr lang="en-US" altLang="en-US" sz="1800" dirty="0">
              <a:latin typeface="Arial" panose="020B0604020202020204" pitchFamily="34" charset="0"/>
            </a:endParaRPr>
          </a:p>
          <a:p>
            <a:pPr lvl="1" eaLnBrk="0" fontAlgn="base" hangingPunct="0">
              <a:lnSpc>
                <a:spcPct val="100000"/>
              </a:lnSpc>
              <a:spcBef>
                <a:spcPct val="0"/>
              </a:spcBef>
              <a:spcAft>
                <a:spcPct val="0"/>
              </a:spcAft>
            </a:pPr>
            <a:r>
              <a:rPr kumimoji="0" lang="en-US" altLang="en-US" sz="1800" b="0" i="0" u="none" strike="noStrike" cap="none" normalizeH="0" baseline="0" dirty="0">
                <a:ln>
                  <a:noFill/>
                </a:ln>
                <a:solidFill>
                  <a:schemeClr val="tx1"/>
                </a:solidFill>
                <a:effectLst/>
                <a:latin typeface="Arial" panose="020B0604020202020204" pitchFamily="34" charset="0"/>
              </a:rPr>
              <a:t>SS requires area-specific fleets/data, recruitment-distribution decisions, movement definitions, and often growth morphs to represent regional biological differences.</a:t>
            </a:r>
          </a:p>
        </p:txBody>
      </p:sp>
    </p:spTree>
    <p:extLst>
      <p:ext uri="{BB962C8B-B14F-4D97-AF65-F5344CB8AC3E}">
        <p14:creationId xmlns:p14="http://schemas.microsoft.com/office/powerpoint/2010/main" val="32165651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0641D9A-E61B-468F-85E8-6E98740AD8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31010" y="-381813"/>
            <a:ext cx="3160990" cy="2139969"/>
          </a:xfrm>
          <a:prstGeom prst="rect">
            <a:avLst/>
          </a:prstGeom>
        </p:spPr>
      </p:pic>
      <p:sp>
        <p:nvSpPr>
          <p:cNvPr id="5" name="Rectangle 2">
            <a:extLst>
              <a:ext uri="{FF2B5EF4-FFF2-40B4-BE49-F238E27FC236}">
                <a16:creationId xmlns:a16="http://schemas.microsoft.com/office/drawing/2014/main" id="{C9BB626F-3DB3-45AF-A753-4885EEDDCF3D}"/>
              </a:ext>
            </a:extLst>
          </p:cNvPr>
          <p:cNvSpPr>
            <a:spLocks noGrp="1" noChangeArrowheads="1"/>
          </p:cNvSpPr>
          <p:nvPr>
            <p:ph idx="1"/>
          </p:nvPr>
        </p:nvSpPr>
        <p:spPr bwMode="auto">
          <a:xfrm>
            <a:off x="838201" y="2016137"/>
            <a:ext cx="11024062"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kumimoji="0" lang="en-US" altLang="en-US" sz="1800" b="1" i="0" u="none" strike="noStrike" cap="none" normalizeH="0" baseline="0" dirty="0">
                <a:ln>
                  <a:noFill/>
                </a:ln>
                <a:solidFill>
                  <a:schemeClr val="tx1"/>
                </a:solidFill>
                <a:effectLst/>
                <a:latin typeface="Arial" panose="020B0604020202020204" pitchFamily="34" charset="0"/>
              </a:rPr>
              <a:t>Random effects are much more natural in RTMB/TMB.</a:t>
            </a:r>
            <a:r>
              <a:rPr kumimoji="0" lang="en-US" altLang="en-US" sz="1800" b="0" i="0" u="none" strike="noStrike" cap="none" normalizeH="0" baseline="0" dirty="0">
                <a:ln>
                  <a:noFill/>
                </a:ln>
                <a:solidFill>
                  <a:schemeClr val="tx1"/>
                </a:solidFill>
                <a:effectLst/>
                <a:latin typeface="Arial" panose="020B0604020202020204" pitchFamily="34" charset="0"/>
              </a:rPr>
              <a:t> </a:t>
            </a:r>
          </a:p>
          <a:p>
            <a:pPr lvl="1" eaLnBrk="0" fontAlgn="base" hangingPunct="0">
              <a:lnSpc>
                <a:spcPct val="100000"/>
              </a:lnSpc>
              <a:spcBef>
                <a:spcPct val="0"/>
              </a:spcBef>
              <a:spcAft>
                <a:spcPct val="0"/>
              </a:spcAft>
            </a:pPr>
            <a:r>
              <a:rPr lang="en-US" altLang="en-US" sz="1800" dirty="0">
                <a:latin typeface="Arial" panose="020B0604020202020204" pitchFamily="34" charset="0"/>
              </a:rPr>
              <a:t>Allows more direct </a:t>
            </a:r>
            <a:r>
              <a:rPr kumimoji="0" lang="en-US" altLang="en-US" sz="1800" b="0" i="0" u="none" strike="noStrike" cap="none" normalizeH="0" baseline="0" dirty="0">
                <a:ln>
                  <a:noFill/>
                </a:ln>
                <a:solidFill>
                  <a:schemeClr val="tx1"/>
                </a:solidFill>
                <a:effectLst/>
                <a:latin typeface="Arial" panose="020B0604020202020204" pitchFamily="34" charset="0"/>
              </a:rPr>
              <a:t>testing of spatial and movement processes: annual movement, annual catchability, recruitment allocation, and environmental effects. TMB was developed with efficient Laplace approximation for random effects, whereas SS/ADMB requires implementing these processes through large sets of annual deviation parameters and penalties. </a:t>
            </a:r>
          </a:p>
          <a:p>
            <a:pPr lvl="1" eaLnBrk="0" fontAlgn="base" hangingPunct="0">
              <a:lnSpc>
                <a:spcPct val="100000"/>
              </a:lnSpc>
              <a:spcBef>
                <a:spcPct val="0"/>
              </a:spcBef>
              <a:spcAft>
                <a:spcPct val="0"/>
              </a:spcAf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pPr>
            <a:r>
              <a:rPr kumimoji="0" lang="en-US" altLang="en-US" sz="1800" b="1" i="0" u="none" strike="noStrike" cap="none" normalizeH="0" baseline="0" dirty="0">
                <a:ln>
                  <a:noFill/>
                </a:ln>
                <a:solidFill>
                  <a:schemeClr val="tx1"/>
                </a:solidFill>
                <a:effectLst/>
                <a:latin typeface="Arial" panose="020B0604020202020204" pitchFamily="34" charset="0"/>
              </a:rPr>
              <a:t>A state-space formulation is a better conceptual match for time-varying spatial processes.</a:t>
            </a:r>
            <a:r>
              <a:rPr kumimoji="0" lang="en-US" altLang="en-US" sz="1800" b="0" i="0" u="none" strike="noStrike" cap="none" normalizeH="0" baseline="0" dirty="0">
                <a:ln>
                  <a:noFill/>
                </a:ln>
                <a:solidFill>
                  <a:schemeClr val="tx1"/>
                </a:solidFill>
                <a:effectLst/>
                <a:latin typeface="Arial" panose="020B0604020202020204" pitchFamily="34" charset="0"/>
              </a:rPr>
              <a:t> </a:t>
            </a:r>
          </a:p>
          <a:p>
            <a:pPr lvl="1" eaLnBrk="0" fontAlgn="base" hangingPunct="0">
              <a:lnSpc>
                <a:spcPct val="100000"/>
              </a:lnSpc>
              <a:spcBef>
                <a:spcPct val="0"/>
              </a:spcBef>
              <a:spcAft>
                <a:spcPct val="0"/>
              </a:spcAft>
            </a:pPr>
            <a:r>
              <a:rPr kumimoji="0" lang="en-US" altLang="en-US" sz="1800" b="0" i="0" u="none" strike="noStrike" cap="none" normalizeH="0" baseline="0" dirty="0">
                <a:ln>
                  <a:noFill/>
                </a:ln>
                <a:solidFill>
                  <a:schemeClr val="tx1"/>
                </a:solidFill>
                <a:effectLst/>
                <a:latin typeface="Arial" panose="020B0604020202020204" pitchFamily="34" charset="0"/>
              </a:rPr>
              <a:t>Rather than treating annual movement or catchability variation primarily as fixed annual parameters with penalties, </a:t>
            </a:r>
            <a:r>
              <a:rPr kumimoji="0" lang="en-US" altLang="en-US" sz="1800" b="0" i="0" u="none" strike="noStrike" cap="none" normalizeH="0" baseline="0" dirty="0" err="1">
                <a:ln>
                  <a:noFill/>
                </a:ln>
                <a:solidFill>
                  <a:schemeClr val="tx1"/>
                </a:solidFill>
                <a:effectLst/>
                <a:latin typeface="Arial" panose="020B0604020202020204" pitchFamily="34" charset="0"/>
              </a:rPr>
              <a:t>SPoRC</a:t>
            </a:r>
            <a:r>
              <a:rPr kumimoji="0" lang="en-US" altLang="en-US" sz="1800" b="0" i="0" u="none" strike="noStrike" cap="none" normalizeH="0" baseline="0" dirty="0">
                <a:ln>
                  <a:noFill/>
                </a:ln>
                <a:solidFill>
                  <a:schemeClr val="tx1"/>
                </a:solidFill>
                <a:effectLst/>
                <a:latin typeface="Arial" panose="020B0604020202020204" pitchFamily="34" charset="0"/>
              </a:rPr>
              <a:t> explicitly supports stochastic time-varying processes as random effects. </a:t>
            </a:r>
          </a:p>
          <a:p>
            <a:pPr lvl="1" eaLnBrk="0" fontAlgn="base" hangingPunct="0">
              <a:lnSpc>
                <a:spcPct val="100000"/>
              </a:lnSpc>
              <a:spcBef>
                <a:spcPct val="0"/>
              </a:spcBef>
              <a:spcAft>
                <a:spcPct val="0"/>
              </a:spcAf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pPr>
            <a:r>
              <a:rPr kumimoji="0" lang="en-US" altLang="en-US" sz="1800" b="1" i="0" u="none" strike="noStrike" cap="none" normalizeH="0" baseline="0" dirty="0">
                <a:ln>
                  <a:noFill/>
                </a:ln>
                <a:solidFill>
                  <a:schemeClr val="tx1"/>
                </a:solidFill>
                <a:effectLst/>
                <a:latin typeface="Arial" panose="020B0604020202020204" pitchFamily="34" charset="0"/>
              </a:rPr>
              <a:t>It should be easier to separate competing hypotheses about spatial dynamics.</a:t>
            </a:r>
          </a:p>
          <a:p>
            <a:pPr lvl="1" eaLnBrk="0" fontAlgn="base" hangingPunct="0">
              <a:lnSpc>
                <a:spcPct val="100000"/>
              </a:lnSpc>
              <a:spcBef>
                <a:spcPct val="0"/>
              </a:spcBef>
              <a:spcAft>
                <a:spcPct val="0"/>
              </a:spcAft>
            </a:pPr>
            <a:r>
              <a:rPr lang="en-US" altLang="en-US" sz="1800" dirty="0">
                <a:latin typeface="Arial" panose="020B0604020202020204" pitchFamily="34" charset="0"/>
              </a:rPr>
              <a:t>W</a:t>
            </a:r>
            <a:r>
              <a:rPr kumimoji="0" lang="en-US" altLang="en-US" sz="1800" b="0" i="0" u="none" strike="noStrike" cap="none" normalizeH="0" baseline="0" dirty="0">
                <a:ln>
                  <a:noFill/>
                </a:ln>
                <a:solidFill>
                  <a:schemeClr val="tx1"/>
                </a:solidFill>
                <a:effectLst/>
                <a:latin typeface="Arial" panose="020B0604020202020204" pitchFamily="34" charset="0"/>
              </a:rPr>
              <a:t>e can explicitly formulate models such as “distribution changes through recruitment,” “distribution changes through movement,” “survey availability changes through q,” or combinations of these, while keeping the rest of the model structure more directly comparable unlike Stock Synthesis. </a:t>
            </a:r>
          </a:p>
        </p:txBody>
      </p:sp>
      <p:sp>
        <p:nvSpPr>
          <p:cNvPr id="9" name="Title 1">
            <a:extLst>
              <a:ext uri="{FF2B5EF4-FFF2-40B4-BE49-F238E27FC236}">
                <a16:creationId xmlns:a16="http://schemas.microsoft.com/office/drawing/2014/main" id="{14A32F59-908B-4A32-A850-35083CE6DA1F}"/>
              </a:ext>
            </a:extLst>
          </p:cNvPr>
          <p:cNvSpPr txBox="1">
            <a:spLocks/>
          </p:cNvSpPr>
          <p:nvPr/>
        </p:nvSpPr>
        <p:spPr>
          <a:xfrm>
            <a:off x="277586" y="73476"/>
            <a:ext cx="903101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Twelve reasons to move to </a:t>
            </a:r>
            <a:r>
              <a:rPr lang="en-US" dirty="0" err="1"/>
              <a:t>SPoRC</a:t>
            </a:r>
            <a:r>
              <a:rPr lang="en-US" dirty="0"/>
              <a:t> and away from Stock Synthesis</a:t>
            </a:r>
          </a:p>
        </p:txBody>
      </p:sp>
    </p:spTree>
    <p:extLst>
      <p:ext uri="{BB962C8B-B14F-4D97-AF65-F5344CB8AC3E}">
        <p14:creationId xmlns:p14="http://schemas.microsoft.com/office/powerpoint/2010/main" val="9340099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0641D9A-E61B-468F-85E8-6E98740AD8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31010" y="-381813"/>
            <a:ext cx="3160990" cy="2139969"/>
          </a:xfrm>
          <a:prstGeom prst="rect">
            <a:avLst/>
          </a:prstGeom>
        </p:spPr>
      </p:pic>
      <p:sp>
        <p:nvSpPr>
          <p:cNvPr id="5" name="Rectangle 2">
            <a:extLst>
              <a:ext uri="{FF2B5EF4-FFF2-40B4-BE49-F238E27FC236}">
                <a16:creationId xmlns:a16="http://schemas.microsoft.com/office/drawing/2014/main" id="{C9BB626F-3DB3-45AF-A753-4885EEDDCF3D}"/>
              </a:ext>
            </a:extLst>
          </p:cNvPr>
          <p:cNvSpPr>
            <a:spLocks noGrp="1" noChangeArrowheads="1"/>
          </p:cNvSpPr>
          <p:nvPr>
            <p:ph idx="1"/>
          </p:nvPr>
        </p:nvSpPr>
        <p:spPr bwMode="auto">
          <a:xfrm>
            <a:off x="838201" y="1800693"/>
            <a:ext cx="10999123"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kumimoji="0" lang="en-US" altLang="en-US" sz="2000" b="1" i="0" u="none" strike="noStrike" cap="none" normalizeH="0" baseline="0" dirty="0">
                <a:ln>
                  <a:noFill/>
                </a:ln>
                <a:solidFill>
                  <a:schemeClr val="tx1"/>
                </a:solidFill>
                <a:effectLst/>
                <a:latin typeface="Arial" panose="020B0604020202020204" pitchFamily="34" charset="0"/>
              </a:rPr>
              <a:t>The code is more transparent and easier to modify.</a:t>
            </a:r>
          </a:p>
          <a:p>
            <a:pPr lvl="1" eaLnBrk="0" fontAlgn="base" hangingPunct="0">
              <a:lnSpc>
                <a:spcPct val="100000"/>
              </a:lnSpc>
              <a:spcBef>
                <a:spcPct val="0"/>
              </a:spcBef>
              <a:spcAft>
                <a:spcPct val="0"/>
              </a:spcAft>
            </a:pP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SPoRC</a:t>
            </a:r>
            <a:r>
              <a:rPr kumimoji="0" lang="en-US" altLang="en-US" sz="2000" b="0" i="0" u="none" strike="noStrike" cap="none" normalizeH="0" baseline="0" dirty="0">
                <a:ln>
                  <a:noFill/>
                </a:ln>
                <a:solidFill>
                  <a:schemeClr val="tx1"/>
                </a:solidFill>
                <a:effectLst/>
                <a:latin typeface="Arial" panose="020B0604020202020204" pitchFamily="34" charset="0"/>
              </a:rPr>
              <a:t> is implemented in </a:t>
            </a:r>
            <a:r>
              <a:rPr kumimoji="0" lang="en-US" altLang="en-US" sz="2000" i="0" u="none" strike="noStrike" cap="none" normalizeH="0" baseline="0" dirty="0">
                <a:ln>
                  <a:noFill/>
                </a:ln>
                <a:solidFill>
                  <a:schemeClr val="tx1"/>
                </a:solidFill>
                <a:effectLst/>
                <a:latin typeface="Arial" panose="020B0604020202020204" pitchFamily="34" charset="0"/>
              </a:rPr>
              <a:t>R/RTMB</a:t>
            </a:r>
            <a:r>
              <a:rPr kumimoji="0" lang="en-US" altLang="en-US" sz="2000" b="0" i="0" u="none" strike="noStrike" cap="none" normalizeH="0" baseline="0" dirty="0">
                <a:ln>
                  <a:noFill/>
                </a:ln>
                <a:solidFill>
                  <a:schemeClr val="tx1"/>
                </a:solidFill>
                <a:effectLst/>
                <a:latin typeface="Arial" panose="020B0604020202020204" pitchFamily="34" charset="0"/>
              </a:rPr>
              <a:t>, putting much more of the model in a language assessment scientists already use. That lowers the barrier to inspecting equations, adding a new movement function, changing an environmental relationship, or testing a new likelihood. </a:t>
            </a:r>
            <a:r>
              <a:rPr lang="en-US" altLang="en-US" sz="2000" dirty="0">
                <a:latin typeface="Arial" panose="020B0604020202020204" pitchFamily="34" charset="0"/>
              </a:rPr>
              <a:t>A</a:t>
            </a:r>
            <a:r>
              <a:rPr kumimoji="0" lang="en-US" altLang="en-US" sz="2000" b="0" i="0" u="none" strike="noStrike" cap="none" normalizeH="0" baseline="0" dirty="0">
                <a:ln>
                  <a:noFill/>
                </a:ln>
                <a:solidFill>
                  <a:schemeClr val="tx1"/>
                </a:solidFill>
                <a:effectLst/>
                <a:latin typeface="Arial" panose="020B0604020202020204" pitchFamily="34" charset="0"/>
              </a:rPr>
              <a:t>ccessibility, collaboration, and knowledge transfer are explicitly stated as design goals. </a:t>
            </a:r>
          </a:p>
          <a:p>
            <a:pPr lvl="1" eaLnBrk="0" fontAlgn="base" hangingPunct="0">
              <a:lnSpc>
                <a:spcPct val="100000"/>
              </a:lnSpc>
              <a:spcBef>
                <a:spcPct val="0"/>
              </a:spcBef>
              <a:spcAft>
                <a:spcPct val="0"/>
              </a:spcAf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pPr>
            <a:r>
              <a:rPr kumimoji="0" lang="en-US" altLang="en-US" sz="2000" b="1" i="0" u="none" strike="noStrike" cap="none" normalizeH="0" baseline="0" dirty="0">
                <a:ln>
                  <a:noFill/>
                </a:ln>
                <a:solidFill>
                  <a:schemeClr val="tx1"/>
                </a:solidFill>
                <a:effectLst/>
                <a:latin typeface="Arial" panose="020B0604020202020204" pitchFamily="34" charset="0"/>
              </a:rPr>
              <a:t>Better suited to team development.</a:t>
            </a:r>
            <a:r>
              <a:rPr kumimoji="0" lang="en-US" altLang="en-US" sz="2000" b="0" i="0" u="none" strike="noStrike" cap="none" normalizeH="0" baseline="0" dirty="0">
                <a:ln>
                  <a:noFill/>
                </a:ln>
                <a:solidFill>
                  <a:schemeClr val="tx1"/>
                </a:solidFill>
                <a:effectLst/>
                <a:latin typeface="Arial" panose="020B0604020202020204" pitchFamily="34" charset="0"/>
              </a:rPr>
              <a:t> </a:t>
            </a:r>
          </a:p>
          <a:p>
            <a:pPr lvl="1" eaLnBrk="0" fontAlgn="base" hangingPunct="0">
              <a:lnSpc>
                <a:spcPct val="100000"/>
              </a:lnSpc>
              <a:spcBef>
                <a:spcPct val="0"/>
              </a:spcBef>
              <a:spcAft>
                <a:spcPct val="0"/>
              </a:spcAft>
            </a:pPr>
            <a:r>
              <a:rPr kumimoji="0" lang="en-US" altLang="en-US" sz="2000" b="0" i="0" u="none" strike="noStrike" cap="none" normalizeH="0" baseline="0" dirty="0">
                <a:ln>
                  <a:noFill/>
                </a:ln>
                <a:solidFill>
                  <a:schemeClr val="tx1"/>
                </a:solidFill>
                <a:effectLst/>
                <a:latin typeface="Arial" panose="020B0604020202020204" pitchFamily="34" charset="0"/>
              </a:rPr>
              <a:t>A modular R package can be version-controlled, unit-tested, reviewed, and extended without requiring most assessment scientists to understand the internals of ADMB or the very large Stock Synthesis codebase.</a:t>
            </a:r>
          </a:p>
          <a:p>
            <a:pPr lvl="1" eaLnBrk="0" fontAlgn="base" hangingPunct="0">
              <a:lnSpc>
                <a:spcPct val="100000"/>
              </a:lnSpc>
              <a:spcBef>
                <a:spcPct val="0"/>
              </a:spcBef>
              <a:spcAft>
                <a:spcPct val="0"/>
              </a:spcAf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pPr>
            <a:r>
              <a:rPr kumimoji="0" lang="en-US" altLang="en-US" sz="2000" b="1" i="0" u="none" strike="noStrike" cap="none" normalizeH="0" baseline="0" dirty="0">
                <a:ln>
                  <a:noFill/>
                </a:ln>
                <a:solidFill>
                  <a:schemeClr val="tx1"/>
                </a:solidFill>
                <a:effectLst/>
                <a:latin typeface="Arial" panose="020B0604020202020204" pitchFamily="34" charset="0"/>
              </a:rPr>
              <a:t>Tagging data fit naturally into the spatial framework.</a:t>
            </a:r>
            <a:r>
              <a:rPr kumimoji="0" lang="en-US" altLang="en-US" sz="2000" b="0" i="0" u="none" strike="noStrike" cap="none" normalizeH="0" baseline="0" dirty="0">
                <a:ln>
                  <a:noFill/>
                </a:ln>
                <a:solidFill>
                  <a:schemeClr val="tx1"/>
                </a:solidFill>
                <a:effectLst/>
                <a:latin typeface="Arial" panose="020B0604020202020204" pitchFamily="34" charset="0"/>
              </a:rPr>
              <a:t> </a:t>
            </a:r>
            <a:endParaRPr lang="en-US" altLang="en-US" sz="2000" dirty="0">
              <a:latin typeface="Arial" panose="020B0604020202020204" pitchFamily="34" charset="0"/>
            </a:endParaRPr>
          </a:p>
          <a:p>
            <a:pPr lvl="1" eaLnBrk="0" fontAlgn="base" hangingPunct="0">
              <a:lnSpc>
                <a:spcPct val="100000"/>
              </a:lnSpc>
              <a:spcBef>
                <a:spcPct val="0"/>
              </a:spcBef>
              <a:spcAft>
                <a:spcPct val="0"/>
              </a:spcAft>
            </a:pPr>
            <a:r>
              <a:rPr kumimoji="0" lang="en-US" altLang="en-US" sz="2000" b="0" i="0" u="none" strike="noStrike" cap="none" normalizeH="0" baseline="0" dirty="0" err="1">
                <a:ln>
                  <a:noFill/>
                </a:ln>
                <a:solidFill>
                  <a:schemeClr val="tx1"/>
                </a:solidFill>
                <a:effectLst/>
                <a:latin typeface="Arial" panose="020B0604020202020204" pitchFamily="34" charset="0"/>
              </a:rPr>
              <a:t>SPoRC</a:t>
            </a:r>
            <a:r>
              <a:rPr kumimoji="0" lang="en-US" altLang="en-US" sz="2000" b="0" i="0" u="none" strike="noStrike" cap="none" normalizeH="0" baseline="0" dirty="0">
                <a:ln>
                  <a:noFill/>
                </a:ln>
                <a:solidFill>
                  <a:schemeClr val="tx1"/>
                </a:solidFill>
                <a:effectLst/>
                <a:latin typeface="Arial" panose="020B0604020202020204" pitchFamily="34" charset="0"/>
              </a:rPr>
              <a:t> was designed to integrate catch, indices, compositions </a:t>
            </a:r>
            <a:r>
              <a:rPr kumimoji="0" lang="en-US" altLang="en-US" sz="2000" i="0" u="none" strike="noStrike" cap="none" normalizeH="0" baseline="0" dirty="0">
                <a:ln>
                  <a:noFill/>
                </a:ln>
                <a:solidFill>
                  <a:schemeClr val="tx1"/>
                </a:solidFill>
                <a:effectLst/>
                <a:latin typeface="Arial" panose="020B0604020202020204" pitchFamily="34" charset="0"/>
              </a:rPr>
              <a:t>and tagging.</a:t>
            </a: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
        <p:nvSpPr>
          <p:cNvPr id="7" name="Title 1">
            <a:extLst>
              <a:ext uri="{FF2B5EF4-FFF2-40B4-BE49-F238E27FC236}">
                <a16:creationId xmlns:a16="http://schemas.microsoft.com/office/drawing/2014/main" id="{59F43FFC-DB1E-463D-AF77-3FAAB7420F06}"/>
              </a:ext>
            </a:extLst>
          </p:cNvPr>
          <p:cNvSpPr txBox="1">
            <a:spLocks/>
          </p:cNvSpPr>
          <p:nvPr/>
        </p:nvSpPr>
        <p:spPr>
          <a:xfrm>
            <a:off x="277586" y="73476"/>
            <a:ext cx="903101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Twelve reasons to move to </a:t>
            </a:r>
            <a:r>
              <a:rPr lang="en-US" dirty="0" err="1"/>
              <a:t>SPoRC</a:t>
            </a:r>
            <a:r>
              <a:rPr lang="en-US" dirty="0"/>
              <a:t> and away from Stock Synthesis</a:t>
            </a:r>
          </a:p>
        </p:txBody>
      </p:sp>
    </p:spTree>
    <p:extLst>
      <p:ext uri="{BB962C8B-B14F-4D97-AF65-F5344CB8AC3E}">
        <p14:creationId xmlns:p14="http://schemas.microsoft.com/office/powerpoint/2010/main" val="7363266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0641D9A-E61B-468F-85E8-6E98740AD8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31010" y="-381813"/>
            <a:ext cx="3160990" cy="2139969"/>
          </a:xfrm>
          <a:prstGeom prst="rect">
            <a:avLst/>
          </a:prstGeom>
        </p:spPr>
      </p:pic>
      <p:sp>
        <p:nvSpPr>
          <p:cNvPr id="5" name="Rectangle 2">
            <a:extLst>
              <a:ext uri="{FF2B5EF4-FFF2-40B4-BE49-F238E27FC236}">
                <a16:creationId xmlns:a16="http://schemas.microsoft.com/office/drawing/2014/main" id="{C9BB626F-3DB3-45AF-A753-4885EEDDCF3D}"/>
              </a:ext>
            </a:extLst>
          </p:cNvPr>
          <p:cNvSpPr>
            <a:spLocks noGrp="1" noChangeArrowheads="1"/>
          </p:cNvSpPr>
          <p:nvPr>
            <p:ph idx="1"/>
          </p:nvPr>
        </p:nvSpPr>
        <p:spPr bwMode="auto">
          <a:xfrm>
            <a:off x="838200" y="1954583"/>
            <a:ext cx="11132127" cy="40934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kumimoji="0" lang="en-US" altLang="en-US" sz="2000" b="1" i="0" u="none" strike="noStrike" cap="none" normalizeH="0" baseline="0" dirty="0">
                <a:ln>
                  <a:noFill/>
                </a:ln>
                <a:solidFill>
                  <a:schemeClr val="tx1"/>
                </a:solidFill>
                <a:effectLst/>
                <a:latin typeface="Arial" panose="020B0604020202020204" pitchFamily="34" charset="0"/>
              </a:rPr>
              <a:t>Simulation and MSE are built into the philosophy of the platform.</a:t>
            </a:r>
            <a:r>
              <a:rPr kumimoji="0" lang="en-US" altLang="en-US" sz="2000" b="0" i="0" u="none" strike="noStrike" cap="none" normalizeH="0" baseline="0" dirty="0">
                <a:ln>
                  <a:noFill/>
                </a:ln>
                <a:solidFill>
                  <a:schemeClr val="tx1"/>
                </a:solidFill>
                <a:effectLst/>
                <a:latin typeface="Arial" panose="020B0604020202020204" pitchFamily="34" charset="0"/>
              </a:rPr>
              <a:t> </a:t>
            </a:r>
          </a:p>
          <a:p>
            <a:pPr lvl="1" eaLnBrk="0" fontAlgn="base" hangingPunct="0">
              <a:lnSpc>
                <a:spcPct val="100000"/>
              </a:lnSpc>
              <a:spcBef>
                <a:spcPct val="0"/>
              </a:spcBef>
              <a:spcAft>
                <a:spcPct val="0"/>
              </a:spcAft>
            </a:pPr>
            <a:r>
              <a:rPr kumimoji="0" lang="en-US" altLang="en-US" sz="2000" b="0" i="0" u="none" strike="noStrike" cap="none" normalizeH="0" baseline="0" dirty="0" err="1">
                <a:ln>
                  <a:noFill/>
                </a:ln>
                <a:solidFill>
                  <a:schemeClr val="tx1"/>
                </a:solidFill>
                <a:effectLst/>
                <a:latin typeface="Arial" panose="020B0604020202020204" pitchFamily="34" charset="0"/>
              </a:rPr>
              <a:t>SPoRC</a:t>
            </a:r>
            <a:r>
              <a:rPr kumimoji="0" lang="en-US" altLang="en-US" sz="2000" b="0" i="0" u="none" strike="noStrike" cap="none" normalizeH="0" baseline="0" dirty="0">
                <a:ln>
                  <a:noFill/>
                </a:ln>
                <a:solidFill>
                  <a:schemeClr val="tx1"/>
                </a:solidFill>
                <a:effectLst/>
                <a:latin typeface="Arial" panose="020B0604020202020204" pitchFamily="34" charset="0"/>
              </a:rPr>
              <a:t> includes simulation and closed-loop evaluation, making it much easier to ask whether your proposed spatial model can actually recover movement, recruitment allocation, and q under known truth before using it operationally.</a:t>
            </a:r>
          </a:p>
          <a:p>
            <a:pPr marL="457200" lvl="1" indent="0" eaLnBrk="0" fontAlgn="base" hangingPunct="0">
              <a:lnSpc>
                <a:spcPct val="100000"/>
              </a:lnSpc>
              <a:spcBef>
                <a:spcPct val="0"/>
              </a:spcBef>
              <a:spcAft>
                <a:spcPct val="0"/>
              </a:spcAft>
              <a:buNone/>
            </a:pPr>
            <a:r>
              <a:rPr kumimoji="0" lang="en-US" altLang="en-US" sz="2000" b="0" i="0" u="none" strike="noStrike" cap="none" normalizeH="0" baseline="0" dirty="0">
                <a:ln>
                  <a:noFill/>
                </a:ln>
                <a:solidFill>
                  <a:schemeClr val="tx1"/>
                </a:solidFill>
                <a:effectLst/>
                <a:latin typeface="Arial" panose="020B0604020202020204" pitchFamily="34" charset="0"/>
              </a:rPr>
              <a:t> </a:t>
            </a:r>
          </a:p>
          <a:p>
            <a:pPr eaLnBrk="0" fontAlgn="base" hangingPunct="0">
              <a:lnSpc>
                <a:spcPct val="100000"/>
              </a:lnSpc>
              <a:spcBef>
                <a:spcPct val="0"/>
              </a:spcBef>
              <a:spcAft>
                <a:spcPct val="0"/>
              </a:spcAft>
            </a:pPr>
            <a:r>
              <a:rPr kumimoji="0" lang="en-US" altLang="en-US" sz="2000" b="1" i="0" u="none" strike="noStrike" cap="none" normalizeH="0" baseline="0" dirty="0">
                <a:ln>
                  <a:noFill/>
                </a:ln>
                <a:solidFill>
                  <a:schemeClr val="tx1"/>
                </a:solidFill>
                <a:effectLst/>
                <a:latin typeface="Arial" panose="020B0604020202020204" pitchFamily="34" charset="0"/>
              </a:rPr>
              <a:t>Uncertainty estimation is more flexible.</a:t>
            </a:r>
            <a:r>
              <a:rPr kumimoji="0" lang="en-US" altLang="en-US" sz="2000" b="0" i="0" u="none" strike="noStrike" cap="none" normalizeH="0" baseline="0" dirty="0">
                <a:ln>
                  <a:noFill/>
                </a:ln>
                <a:solidFill>
                  <a:schemeClr val="tx1"/>
                </a:solidFill>
                <a:effectLst/>
                <a:latin typeface="Arial" panose="020B0604020202020204" pitchFamily="34" charset="0"/>
              </a:rPr>
              <a:t> </a:t>
            </a:r>
          </a:p>
          <a:p>
            <a:pPr lvl="1" eaLnBrk="0" fontAlgn="base" hangingPunct="0">
              <a:lnSpc>
                <a:spcPct val="100000"/>
              </a:lnSpc>
              <a:spcBef>
                <a:spcPct val="0"/>
              </a:spcBef>
              <a:spcAft>
                <a:spcPct val="0"/>
              </a:spcAft>
            </a:pPr>
            <a:r>
              <a:rPr kumimoji="0" lang="en-US" altLang="en-US" sz="2000" b="0" i="0" u="none" strike="noStrike" cap="none" normalizeH="0" baseline="0" dirty="0">
                <a:ln>
                  <a:noFill/>
                </a:ln>
                <a:solidFill>
                  <a:schemeClr val="tx1"/>
                </a:solidFill>
                <a:effectLst/>
                <a:latin typeface="Arial" panose="020B0604020202020204" pitchFamily="34" charset="0"/>
              </a:rPr>
              <a:t>RTMB/TMB supports delta-method uncertainty and efficient random-effects integration, while </a:t>
            </a:r>
            <a:r>
              <a:rPr kumimoji="0" lang="en-US" altLang="en-US" sz="2000" b="0" i="0" u="none" strike="noStrike" cap="none" normalizeH="0" baseline="0" dirty="0" err="1">
                <a:ln>
                  <a:noFill/>
                </a:ln>
                <a:solidFill>
                  <a:schemeClr val="tx1"/>
                </a:solidFill>
                <a:effectLst/>
                <a:latin typeface="Arial" panose="020B0604020202020204" pitchFamily="34" charset="0"/>
              </a:rPr>
              <a:t>SPoRC</a:t>
            </a:r>
            <a:r>
              <a:rPr kumimoji="0" lang="en-US" altLang="en-US" sz="2000" b="0" i="0" u="none" strike="noStrike" cap="none" normalizeH="0" baseline="0" dirty="0">
                <a:ln>
                  <a:noFill/>
                </a:ln>
                <a:solidFill>
                  <a:schemeClr val="tx1"/>
                </a:solidFill>
                <a:effectLst/>
                <a:latin typeface="Arial" panose="020B0604020202020204" pitchFamily="34" charset="0"/>
              </a:rPr>
              <a:t> can also interface with NUTS/MCMC for Bayesian estimation when the likelihood surface is highly nonlinear.</a:t>
            </a:r>
          </a:p>
          <a:p>
            <a:pPr marL="457200" lvl="1" indent="0" eaLnBrk="0" fontAlgn="base" hangingPunct="0">
              <a:lnSpc>
                <a:spcPct val="100000"/>
              </a:lnSpc>
              <a:spcBef>
                <a:spcPct val="0"/>
              </a:spcBef>
              <a:spcAft>
                <a:spcPct val="0"/>
              </a:spcAft>
              <a:buNone/>
            </a:pPr>
            <a:r>
              <a:rPr kumimoji="0" lang="en-US" altLang="en-US" sz="2000" b="0" i="0" u="none" strike="noStrike" cap="none" normalizeH="0" baseline="0" dirty="0">
                <a:ln>
                  <a:noFill/>
                </a:ln>
                <a:solidFill>
                  <a:schemeClr val="tx1"/>
                </a:solidFill>
                <a:effectLst/>
                <a:latin typeface="Arial" panose="020B0604020202020204" pitchFamily="34" charset="0"/>
              </a:rPr>
              <a:t> </a:t>
            </a:r>
          </a:p>
          <a:p>
            <a:pPr eaLnBrk="0" fontAlgn="base" hangingPunct="0">
              <a:lnSpc>
                <a:spcPct val="100000"/>
              </a:lnSpc>
              <a:spcBef>
                <a:spcPct val="0"/>
              </a:spcBef>
              <a:spcAft>
                <a:spcPct val="0"/>
              </a:spcAft>
            </a:pPr>
            <a:r>
              <a:rPr kumimoji="0" lang="en-US" altLang="en-US" sz="2000" b="1" i="0" u="none" strike="noStrike" cap="none" normalizeH="0" baseline="0" dirty="0">
                <a:ln>
                  <a:noFill/>
                </a:ln>
                <a:solidFill>
                  <a:schemeClr val="tx1"/>
                </a:solidFill>
                <a:effectLst/>
                <a:latin typeface="Arial" panose="020B0604020202020204" pitchFamily="34" charset="0"/>
              </a:rPr>
              <a:t>It is better aligned with where assessment software development is going.</a:t>
            </a:r>
            <a:r>
              <a:rPr kumimoji="0" lang="en-US" altLang="en-US" sz="2000" b="0" i="0" u="none" strike="noStrike" cap="none" normalizeH="0" baseline="0" dirty="0">
                <a:ln>
                  <a:noFill/>
                </a:ln>
                <a:solidFill>
                  <a:schemeClr val="tx1"/>
                </a:solidFill>
                <a:effectLst/>
                <a:latin typeface="Arial" panose="020B0604020202020204" pitchFamily="34" charset="0"/>
              </a:rPr>
              <a:t> </a:t>
            </a:r>
          </a:p>
          <a:p>
            <a:pPr lvl="1" eaLnBrk="0" fontAlgn="base" hangingPunct="0">
              <a:lnSpc>
                <a:spcPct val="100000"/>
              </a:lnSpc>
              <a:spcBef>
                <a:spcPct val="0"/>
              </a:spcBef>
              <a:spcAft>
                <a:spcPct val="0"/>
              </a:spcAft>
            </a:pPr>
            <a:r>
              <a:rPr kumimoji="0" lang="en-US" altLang="en-US" sz="2000" b="0" i="0" u="none" strike="noStrike" cap="none" normalizeH="0" baseline="0" dirty="0">
                <a:ln>
                  <a:noFill/>
                </a:ln>
                <a:solidFill>
                  <a:schemeClr val="tx1"/>
                </a:solidFill>
                <a:effectLst/>
                <a:latin typeface="Arial" panose="020B0604020202020204" pitchFamily="34" charset="0"/>
              </a:rPr>
              <a:t>TMB/RTMB-based approaches are now used in frameworks such as SAM, WHAM, FIMS, and </a:t>
            </a:r>
            <a:r>
              <a:rPr kumimoji="0" lang="en-US" altLang="en-US" sz="2000" b="0" i="0" u="none" strike="noStrike" cap="none" normalizeH="0" baseline="0" dirty="0" err="1">
                <a:ln>
                  <a:noFill/>
                </a:ln>
                <a:solidFill>
                  <a:schemeClr val="tx1"/>
                </a:solidFill>
                <a:effectLst/>
                <a:latin typeface="Arial" panose="020B0604020202020204" pitchFamily="34" charset="0"/>
              </a:rPr>
              <a:t>SPoRC</a:t>
            </a:r>
            <a:r>
              <a:rPr kumimoji="0" lang="en-US" altLang="en-US" sz="2000" b="0" i="0" u="none" strike="noStrike" cap="none" normalizeH="0" baseline="0" dirty="0">
                <a:ln>
                  <a:noFill/>
                </a:ln>
                <a:solidFill>
                  <a:schemeClr val="tx1"/>
                </a:solidFill>
                <a:effectLst/>
                <a:latin typeface="Arial" panose="020B0604020202020204" pitchFamily="34" charset="0"/>
              </a:rPr>
              <a:t>, particularly because of random-effects and state-space capabilities. </a:t>
            </a:r>
          </a:p>
        </p:txBody>
      </p:sp>
      <p:sp>
        <p:nvSpPr>
          <p:cNvPr id="7" name="Title 1">
            <a:extLst>
              <a:ext uri="{FF2B5EF4-FFF2-40B4-BE49-F238E27FC236}">
                <a16:creationId xmlns:a16="http://schemas.microsoft.com/office/drawing/2014/main" id="{D81B50D3-A2B2-47AF-8AF7-84156C055915}"/>
              </a:ext>
            </a:extLst>
          </p:cNvPr>
          <p:cNvSpPr txBox="1">
            <a:spLocks/>
          </p:cNvSpPr>
          <p:nvPr/>
        </p:nvSpPr>
        <p:spPr>
          <a:xfrm>
            <a:off x="277586" y="73476"/>
            <a:ext cx="903101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Twelve reasons to move to </a:t>
            </a:r>
            <a:r>
              <a:rPr lang="en-US" dirty="0" err="1"/>
              <a:t>SPoRC</a:t>
            </a:r>
            <a:r>
              <a:rPr lang="en-US" dirty="0"/>
              <a:t> and away from Stock Synthesis</a:t>
            </a:r>
          </a:p>
        </p:txBody>
      </p:sp>
    </p:spTree>
    <p:extLst>
      <p:ext uri="{BB962C8B-B14F-4D97-AF65-F5344CB8AC3E}">
        <p14:creationId xmlns:p14="http://schemas.microsoft.com/office/powerpoint/2010/main" val="35043920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4938562D-05B1-48A9-8100-E95B9F0EDC81}"/>
              </a:ext>
            </a:extLst>
          </p:cNvPr>
          <p:cNvPicPr>
            <a:picLocks noChangeAspect="1"/>
          </p:cNvPicPr>
          <p:nvPr/>
        </p:nvPicPr>
        <p:blipFill>
          <a:blip r:embed="rId2"/>
          <a:stretch>
            <a:fillRect/>
          </a:stretch>
        </p:blipFill>
        <p:spPr>
          <a:xfrm>
            <a:off x="3239" y="0"/>
            <a:ext cx="12185522" cy="6858000"/>
          </a:xfrm>
          <a:prstGeom prst="rect">
            <a:avLst/>
          </a:prstGeom>
        </p:spPr>
      </p:pic>
      <p:sp>
        <p:nvSpPr>
          <p:cNvPr id="5" name="TextBox 4">
            <a:extLst>
              <a:ext uri="{FF2B5EF4-FFF2-40B4-BE49-F238E27FC236}">
                <a16:creationId xmlns:a16="http://schemas.microsoft.com/office/drawing/2014/main" id="{016D1CCA-6D2B-4C69-B6CE-EE9BB3F33A2D}"/>
              </a:ext>
            </a:extLst>
          </p:cNvPr>
          <p:cNvSpPr txBox="1"/>
          <p:nvPr/>
        </p:nvSpPr>
        <p:spPr>
          <a:xfrm>
            <a:off x="97970" y="98419"/>
            <a:ext cx="3551742" cy="1200329"/>
          </a:xfrm>
          <a:prstGeom prst="rect">
            <a:avLst/>
          </a:prstGeom>
          <a:noFill/>
        </p:spPr>
        <p:txBody>
          <a:bodyPr wrap="none" rtlCol="0">
            <a:spAutoFit/>
          </a:bodyPr>
          <a:lstStyle/>
          <a:p>
            <a:pPr algn="ctr"/>
            <a:r>
              <a:rPr lang="en-US" b="1" dirty="0">
                <a:solidFill>
                  <a:schemeClr val="bg1"/>
                </a:solidFill>
              </a:rPr>
              <a:t>Steve Barbeaux and Pete </a:t>
            </a:r>
            <a:r>
              <a:rPr lang="en-US" b="1" dirty="0" err="1">
                <a:solidFill>
                  <a:schemeClr val="bg1"/>
                </a:solidFill>
              </a:rPr>
              <a:t>Hulson</a:t>
            </a:r>
            <a:endParaRPr lang="en-US" b="1" dirty="0">
              <a:solidFill>
                <a:schemeClr val="bg1"/>
              </a:solidFill>
            </a:endParaRPr>
          </a:p>
          <a:p>
            <a:pPr algn="ctr"/>
            <a:endParaRPr lang="en-US" b="1" dirty="0">
              <a:solidFill>
                <a:schemeClr val="bg1"/>
              </a:solidFill>
            </a:endParaRPr>
          </a:p>
          <a:p>
            <a:pPr algn="ctr"/>
            <a:r>
              <a:rPr lang="en-US" b="1" dirty="0">
                <a:solidFill>
                  <a:schemeClr val="bg1"/>
                </a:solidFill>
              </a:rPr>
              <a:t>Joint NPFMC Groundfish Plan Team</a:t>
            </a:r>
          </a:p>
          <a:p>
            <a:pPr algn="ctr"/>
            <a:r>
              <a:rPr lang="en-US" b="1" dirty="0">
                <a:solidFill>
                  <a:schemeClr val="bg1"/>
                </a:solidFill>
              </a:rPr>
              <a:t>September 9, 2026</a:t>
            </a:r>
          </a:p>
        </p:txBody>
      </p:sp>
      <p:pic>
        <p:nvPicPr>
          <p:cNvPr id="6" name="Picture 5">
            <a:extLst>
              <a:ext uri="{FF2B5EF4-FFF2-40B4-BE49-F238E27FC236}">
                <a16:creationId xmlns:a16="http://schemas.microsoft.com/office/drawing/2014/main" id="{3558B585-F394-4D1A-9D2F-73BA766DFF7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69431" y="4850505"/>
            <a:ext cx="822069" cy="822069"/>
          </a:xfrm>
          <a:prstGeom prst="rect">
            <a:avLst/>
          </a:prstGeom>
        </p:spPr>
      </p:pic>
    </p:spTree>
    <p:extLst>
      <p:ext uri="{BB962C8B-B14F-4D97-AF65-F5344CB8AC3E}">
        <p14:creationId xmlns:p14="http://schemas.microsoft.com/office/powerpoint/2010/main" val="108277180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17.8|10.9|5.5"/>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4472</TotalTime>
  <Words>1538</Words>
  <Application>Microsoft Office PowerPoint</Application>
  <PresentationFormat>Widescreen</PresentationFormat>
  <Paragraphs>151</Paragraphs>
  <Slides>24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Arial</vt:lpstr>
      <vt:lpstr>Calibri</vt:lpstr>
      <vt:lpstr>Calibri Light</vt:lpstr>
      <vt:lpstr>Cambria</vt:lpstr>
      <vt:lpstr>Georgia</vt:lpstr>
      <vt:lpstr>Office Theme</vt:lpstr>
      <vt:lpstr>PowerPoint Presentation</vt:lpstr>
      <vt:lpstr>PowerPoint Presentation</vt:lpstr>
      <vt:lpstr>PowerPoint Presentation</vt:lpstr>
      <vt:lpstr>What does Genetics tell us?</vt:lpstr>
      <vt:lpstr>What does Genetics tell us?</vt:lpstr>
      <vt:lpstr>Conventional Tagging 1982-2020</vt:lpstr>
      <vt:lpstr>Conventional Tagging 1982-2020</vt:lpstr>
      <vt:lpstr>Conventional Tagging 1982-2020</vt:lpstr>
      <vt:lpstr>Conventional Tagging 1982-2020</vt:lpstr>
      <vt:lpstr>Conventional Tagging 1982-2020</vt:lpstr>
      <vt:lpstr>Pop-up Satellite Tagging 2019-2026</vt:lpstr>
      <vt:lpstr>PowerPoint Presentation</vt:lpstr>
      <vt:lpstr>Stock Synthesis Spatial Models</vt:lpstr>
      <vt:lpstr>Stock Synthesis Spatial Models</vt:lpstr>
      <vt:lpstr>Stock Synthesis explorations</vt:lpstr>
      <vt:lpstr>Stock Synthesis explorations</vt:lpstr>
      <vt:lpstr>Proportionality</vt:lpstr>
      <vt:lpstr>Catchability or movement?</vt:lpstr>
      <vt:lpstr>Limitation of Stock Synthesis?</vt:lpstr>
      <vt:lpstr>Twelve reasons to move to SPoRC and away from Stock Synthesis</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Pacific cod in Space and Time</dc:title>
  <dc:creator>Steve Barbeaux</dc:creator>
  <cp:lastModifiedBy>Steve Barbeaux</cp:lastModifiedBy>
  <cp:revision>58</cp:revision>
  <dcterms:created xsi:type="dcterms:W3CDTF">2026-09-02T21:09:15Z</dcterms:created>
  <dcterms:modified xsi:type="dcterms:W3CDTF">2026-09-07T15:20:53Z</dcterms:modified>
</cp:coreProperties>
</file>