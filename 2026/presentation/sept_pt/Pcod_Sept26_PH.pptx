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8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9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10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11.xml" ContentType="application/vnd.openxmlformats-officedocument.theme+xml"/>
  <Override PartName="/ppt/slideLayouts/slideLayout63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71" r:id="rId3"/>
    <p:sldMasterId id="2147483676" r:id="rId4"/>
    <p:sldMasterId id="2147483681" r:id="rId5"/>
    <p:sldMasterId id="2147483690" r:id="rId6"/>
    <p:sldMasterId id="2147483692" r:id="rId7"/>
    <p:sldMasterId id="2147483703" r:id="rId8"/>
    <p:sldMasterId id="2147483709" r:id="rId9"/>
    <p:sldMasterId id="2147483714" r:id="rId10"/>
    <p:sldMasterId id="2147483735" r:id="rId11"/>
    <p:sldMasterId id="2147483744" r:id="rId12"/>
  </p:sldMasterIdLst>
  <p:sldIdLst>
    <p:sldId id="328" r:id="rId13"/>
    <p:sldId id="308" r:id="rId14"/>
    <p:sldId id="388" r:id="rId15"/>
    <p:sldId id="390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6" r:id="rId27"/>
    <p:sldId id="427" r:id="rId28"/>
    <p:sldId id="424" r:id="rId29"/>
    <p:sldId id="432" r:id="rId30"/>
    <p:sldId id="428" r:id="rId31"/>
    <p:sldId id="433" r:id="rId32"/>
    <p:sldId id="434" r:id="rId33"/>
    <p:sldId id="430" r:id="rId34"/>
    <p:sldId id="431" r:id="rId35"/>
    <p:sldId id="412" r:id="rId36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8" autoAdjust="0"/>
    <p:restoredTop sz="94660"/>
  </p:normalViewPr>
  <p:slideViewPr>
    <p:cSldViewPr snapToGrid="0">
      <p:cViewPr varScale="1">
        <p:scale>
          <a:sx n="93" d="100"/>
          <a:sy n="93" d="100"/>
        </p:scale>
        <p:origin x="1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heme" Target="theme/theme1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93BD4FA-08FD-B645-9A95-0C62F16578D8}"/>
              </a:ext>
            </a:extLst>
          </p:cNvPr>
          <p:cNvSpPr txBox="1">
            <a:spLocks/>
          </p:cNvSpPr>
          <p:nvPr/>
        </p:nvSpPr>
        <p:spPr>
          <a:xfrm>
            <a:off x="1957269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C63858EB-D335-0C46-9C26-C590590CBE62}"/>
              </a:ext>
            </a:extLst>
          </p:cNvPr>
          <p:cNvSpPr/>
          <p:nvPr/>
        </p:nvSpPr>
        <p:spPr>
          <a:xfrm rot="10800000">
            <a:off x="-1" y="-4"/>
            <a:ext cx="2178925" cy="6370522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DD111B-4E7C-1940-B347-33E4459FD8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8" y="291480"/>
            <a:ext cx="2155088" cy="981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285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3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1 Title Slide">
    <p:bg>
      <p:bgPr>
        <a:solidFill>
          <a:srgbClr val="0055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7269" y="1796483"/>
            <a:ext cx="95723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5723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A2006C-163A-EF41-8C30-1600F269BC16}"/>
              </a:ext>
            </a:extLst>
          </p:cNvPr>
          <p:cNvSpPr txBox="1">
            <a:spLocks/>
          </p:cNvSpPr>
          <p:nvPr/>
        </p:nvSpPr>
        <p:spPr>
          <a:xfrm>
            <a:off x="1957269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5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06BF5A6-B6F3-0D45-A23B-1B9F66AC072B}"/>
              </a:ext>
            </a:extLst>
          </p:cNvPr>
          <p:cNvSpPr/>
          <p:nvPr/>
        </p:nvSpPr>
        <p:spPr>
          <a:xfrm rot="10800000">
            <a:off x="-1" y="-4"/>
            <a:ext cx="2178925" cy="6370522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25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CB7490-CBBE-8845-B8A0-DE1A9C454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8" y="291480"/>
            <a:ext cx="2155088" cy="981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586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2 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7269" y="1796483"/>
            <a:ext cx="96107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4303F3-E1C0-5F41-AC87-D745C93D50F1}"/>
              </a:ext>
            </a:extLst>
          </p:cNvPr>
          <p:cNvSpPr txBox="1">
            <a:spLocks/>
          </p:cNvSpPr>
          <p:nvPr/>
        </p:nvSpPr>
        <p:spPr>
          <a:xfrm>
            <a:off x="1957269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2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566D0B6-FE78-1741-BBD2-063886CED31A}"/>
              </a:ext>
            </a:extLst>
          </p:cNvPr>
          <p:cNvSpPr/>
          <p:nvPr/>
        </p:nvSpPr>
        <p:spPr>
          <a:xfrm rot="10800000">
            <a:off x="-1" y="-4"/>
            <a:ext cx="2178925" cy="6370522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26D8E6-4D11-5145-A015-9549EF5F08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8" y="291480"/>
            <a:ext cx="2155088" cy="981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349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2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832-BDE2-4020-AF57-35165F1EE8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D9158-033D-47BD-9CF9-E93D0154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foo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891AA944-878A-9A48-8554-84EFA0C90489}"/>
              </a:ext>
            </a:extLst>
          </p:cNvPr>
          <p:cNvSpPr/>
          <p:nvPr userDrawn="1"/>
        </p:nvSpPr>
        <p:spPr>
          <a:xfrm>
            <a:off x="9230627" y="1116530"/>
            <a:ext cx="2964432" cy="5741469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0BEAA-AF94-DC47-9758-2DCCD94F335B}"/>
              </a:ext>
            </a:extLst>
          </p:cNvPr>
          <p:cNvSpPr/>
          <p:nvPr userDrawn="1"/>
        </p:nvSpPr>
        <p:spPr>
          <a:xfrm>
            <a:off x="1" y="6391374"/>
            <a:ext cx="11145212" cy="466627"/>
          </a:xfrm>
          <a:prstGeom prst="rect">
            <a:avLst/>
          </a:prstGeom>
          <a:gradFill flip="none" rotWithShape="1">
            <a:gsLst>
              <a:gs pos="45000">
                <a:schemeClr val="tx2">
                  <a:alpha val="83000"/>
                </a:schemeClr>
              </a:gs>
              <a:gs pos="100000">
                <a:schemeClr val="tx2"/>
              </a:gs>
              <a:gs pos="0">
                <a:schemeClr val="tx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875E4F-3818-A540-AB42-4BE244E003AC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8633E-F7EB-5542-818F-D77C9806BBA9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bg1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8916F3-4265-4546-9E9A-A97962815CA5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NOAA Fisheries logo">
            <a:extLst>
              <a:ext uri="{FF2B5EF4-FFF2-40B4-BE49-F238E27FC236}">
                <a16:creationId xmlns:a16="http://schemas.microsoft.com/office/drawing/2014/main" id="{D3E3EDC6-407C-0E4F-96D7-DE134E67A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71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89FDCE-4A12-854A-8643-B00BEEE4D471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91AA944-878A-9A48-8554-84EFA0C90489}"/>
              </a:ext>
            </a:extLst>
          </p:cNvPr>
          <p:cNvSpPr/>
          <p:nvPr userDrawn="1"/>
        </p:nvSpPr>
        <p:spPr>
          <a:xfrm>
            <a:off x="9230627" y="1116530"/>
            <a:ext cx="2964432" cy="5741469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tx2"/>
              </a:gs>
              <a:gs pos="0">
                <a:schemeClr val="tx2"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19834A-6841-384B-AE22-4DDBF00C023A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67B4F-7490-8F42-BA4D-C7C60C716D4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BEB0FDE-1CCC-354B-AB98-8BE3477EEF1C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NOAA Fisheries logo">
            <a:extLst>
              <a:ext uri="{FF2B5EF4-FFF2-40B4-BE49-F238E27FC236}">
                <a16:creationId xmlns:a16="http://schemas.microsoft.com/office/drawing/2014/main" id="{4A46996E-75AA-CD40-BEAE-E4AD38F29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4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foo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F73F8E5-8E34-424B-9469-B2E86C5C5041}"/>
              </a:ext>
            </a:extLst>
          </p:cNvPr>
          <p:cNvSpPr/>
          <p:nvPr userDrawn="1"/>
        </p:nvSpPr>
        <p:spPr>
          <a:xfrm rot="10800000" flipH="1" flipV="1">
            <a:off x="9707592" y="-11455"/>
            <a:ext cx="2484408" cy="6857415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709112 w 1709112"/>
              <a:gd name="connsiteY0" fmla="*/ 5436187 h 5454085"/>
              <a:gd name="connsiteX1" fmla="*/ 0 w 1709112"/>
              <a:gd name="connsiteY1" fmla="*/ 5454085 h 5454085"/>
              <a:gd name="connsiteX2" fmla="*/ 980930 w 1709112"/>
              <a:gd name="connsiteY2" fmla="*/ 0 h 5454085"/>
              <a:gd name="connsiteX3" fmla="*/ 1696743 w 1709112"/>
              <a:gd name="connsiteY3" fmla="*/ 4620 h 5454085"/>
              <a:gd name="connsiteX4" fmla="*/ 1709112 w 1709112"/>
              <a:gd name="connsiteY4" fmla="*/ 5436187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696743 w 1722796"/>
              <a:gd name="connsiteY3" fmla="*/ 4620 h 5454085"/>
              <a:gd name="connsiteX4" fmla="*/ 1722796 w 1722796"/>
              <a:gd name="connsiteY4" fmla="*/ 5449933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712358 w 1722796"/>
              <a:gd name="connsiteY3" fmla="*/ 18365 h 5454085"/>
              <a:gd name="connsiteX4" fmla="*/ 1722796 w 1722796"/>
              <a:gd name="connsiteY4" fmla="*/ 5449933 h 5454085"/>
              <a:gd name="connsiteX0" fmla="*/ 1722796 w 1728606"/>
              <a:gd name="connsiteY0" fmla="*/ 5459058 h 5463210"/>
              <a:gd name="connsiteX1" fmla="*/ 0 w 1728606"/>
              <a:gd name="connsiteY1" fmla="*/ 5463210 h 5463210"/>
              <a:gd name="connsiteX2" fmla="*/ 980930 w 1728606"/>
              <a:gd name="connsiteY2" fmla="*/ 9125 h 5463210"/>
              <a:gd name="connsiteX3" fmla="*/ 1727973 w 1728606"/>
              <a:gd name="connsiteY3" fmla="*/ 0 h 5463210"/>
              <a:gd name="connsiteX4" fmla="*/ 1722796 w 1728606"/>
              <a:gd name="connsiteY4" fmla="*/ 5459058 h 546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606" h="5463210">
                <a:moveTo>
                  <a:pt x="1722796" y="5459058"/>
                </a:moveTo>
                <a:lnTo>
                  <a:pt x="0" y="5463210"/>
                </a:lnTo>
                <a:lnTo>
                  <a:pt x="980930" y="9125"/>
                </a:lnTo>
                <a:lnTo>
                  <a:pt x="1727973" y="0"/>
                </a:lnTo>
                <a:cubicBezTo>
                  <a:pt x="1731452" y="1810523"/>
                  <a:pt x="1719317" y="3648535"/>
                  <a:pt x="1722796" y="5459058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06F2B-8E81-7F4F-B30B-DAB9DFCC7AA1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0664F76-C42F-AF43-8503-B59506A3F33F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C3681-2CFF-5947-BAE0-FF53BCA5DD6D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bg1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BB4C42-3950-3B49-A3AD-4999C06DAC6E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NOAA Fisheries logo">
            <a:extLst>
              <a:ext uri="{FF2B5EF4-FFF2-40B4-BE49-F238E27FC236}">
                <a16:creationId xmlns:a16="http://schemas.microsoft.com/office/drawing/2014/main" id="{29BE4E0F-24BD-A44C-969B-036BB2427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86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44970-7F4A-D541-BB16-02D9FE93EFBA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solidFill>
            <a:schemeClr val="bg2">
              <a:lumMod val="9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D6243E8-9C72-4344-94EF-F60AFF95A6A6}"/>
              </a:ext>
            </a:extLst>
          </p:cNvPr>
          <p:cNvSpPr/>
          <p:nvPr userDrawn="1"/>
        </p:nvSpPr>
        <p:spPr>
          <a:xfrm rot="10800000" flipH="1" flipV="1">
            <a:off x="9707592" y="-11455"/>
            <a:ext cx="2484408" cy="6857415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709112 w 1709112"/>
              <a:gd name="connsiteY0" fmla="*/ 5436187 h 5454085"/>
              <a:gd name="connsiteX1" fmla="*/ 0 w 1709112"/>
              <a:gd name="connsiteY1" fmla="*/ 5454085 h 5454085"/>
              <a:gd name="connsiteX2" fmla="*/ 980930 w 1709112"/>
              <a:gd name="connsiteY2" fmla="*/ 0 h 5454085"/>
              <a:gd name="connsiteX3" fmla="*/ 1696743 w 1709112"/>
              <a:gd name="connsiteY3" fmla="*/ 4620 h 5454085"/>
              <a:gd name="connsiteX4" fmla="*/ 1709112 w 1709112"/>
              <a:gd name="connsiteY4" fmla="*/ 5436187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696743 w 1722796"/>
              <a:gd name="connsiteY3" fmla="*/ 4620 h 5454085"/>
              <a:gd name="connsiteX4" fmla="*/ 1722796 w 1722796"/>
              <a:gd name="connsiteY4" fmla="*/ 5449933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712358 w 1722796"/>
              <a:gd name="connsiteY3" fmla="*/ 18365 h 5454085"/>
              <a:gd name="connsiteX4" fmla="*/ 1722796 w 1722796"/>
              <a:gd name="connsiteY4" fmla="*/ 5449933 h 5454085"/>
              <a:gd name="connsiteX0" fmla="*/ 1722796 w 1728606"/>
              <a:gd name="connsiteY0" fmla="*/ 5459058 h 5463210"/>
              <a:gd name="connsiteX1" fmla="*/ 0 w 1728606"/>
              <a:gd name="connsiteY1" fmla="*/ 5463210 h 5463210"/>
              <a:gd name="connsiteX2" fmla="*/ 980930 w 1728606"/>
              <a:gd name="connsiteY2" fmla="*/ 9125 h 5463210"/>
              <a:gd name="connsiteX3" fmla="*/ 1727973 w 1728606"/>
              <a:gd name="connsiteY3" fmla="*/ 0 h 5463210"/>
              <a:gd name="connsiteX4" fmla="*/ 1722796 w 1728606"/>
              <a:gd name="connsiteY4" fmla="*/ 5459058 h 546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606" h="5463210">
                <a:moveTo>
                  <a:pt x="1722796" y="5459058"/>
                </a:moveTo>
                <a:lnTo>
                  <a:pt x="0" y="5463210"/>
                </a:lnTo>
                <a:lnTo>
                  <a:pt x="980930" y="9125"/>
                </a:lnTo>
                <a:lnTo>
                  <a:pt x="1727973" y="0"/>
                </a:lnTo>
                <a:cubicBezTo>
                  <a:pt x="1731452" y="1810523"/>
                  <a:pt x="1719317" y="3648535"/>
                  <a:pt x="1722796" y="5459058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</a:schemeClr>
              </a:gs>
              <a:gs pos="50000">
                <a:schemeClr val="bg2">
                  <a:alpha val="0"/>
                </a:scheme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51910D7-953F-564B-97DB-5473B1EB0B95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9381F619-72DF-984A-8E74-FE1830BBA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28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15E8329F-D41A-9149-BC0A-1D46AD80AAFD}"/>
              </a:ext>
            </a:extLst>
          </p:cNvPr>
          <p:cNvSpPr/>
          <p:nvPr userDrawn="1"/>
        </p:nvSpPr>
        <p:spPr>
          <a:xfrm rot="5400000" flipV="1">
            <a:off x="8567307" y="325252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</a:schemeClr>
              </a:gs>
              <a:gs pos="0">
                <a:schemeClr val="bg2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37BE76C-8200-0840-8FDE-341E7DC53ED4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3F7BF-CE1E-4443-9159-743E539A49FA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2C621-20CB-994A-864D-5CA183C42E98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A93BF77C-916C-304D-BF99-4C278AFE1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785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Image Divider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348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832-BDE2-4020-AF57-35165F1EE8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D9158-033D-47BD-9CF9-E93D0154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22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Swoo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87C988-18CB-EA44-9F9E-B67E21717891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73040-B389-EF4E-9D11-3B151971C1A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4BED8C5-FA7A-944D-9C00-5BBC0E72C442}"/>
              </a:ext>
            </a:extLst>
          </p:cNvPr>
          <p:cNvSpPr/>
          <p:nvPr userDrawn="1"/>
        </p:nvSpPr>
        <p:spPr>
          <a:xfrm rot="16200000" flipH="1">
            <a:off x="9882744" y="4548741"/>
            <a:ext cx="1217592" cy="340092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49500">
                <a:srgbClr val="84C4CC">
                  <a:alpha val="30000"/>
                </a:srgb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62363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Swoosh_Te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919294-428D-CA42-B3A7-CC09A6762897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87C988-18CB-EA44-9F9E-B67E21717891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73040-B389-EF4E-9D11-3B151971C1A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4BED8C5-FA7A-944D-9C00-5BBC0E72C442}"/>
              </a:ext>
            </a:extLst>
          </p:cNvPr>
          <p:cNvSpPr/>
          <p:nvPr userDrawn="1"/>
        </p:nvSpPr>
        <p:spPr>
          <a:xfrm rot="16200000" flipH="1">
            <a:off x="9882744" y="4548741"/>
            <a:ext cx="1217592" cy="340092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49500">
                <a:srgbClr val="84C4CC">
                  <a:alpha val="30000"/>
                </a:srgb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8015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ogo Swoos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7EF6C5-83E4-9945-94D0-030B8BB2F605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A6B5-BCC1-0347-89DE-D3D3FA3CC557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1E1A45F-4BC2-0440-A866-C4D9C38FA67B}"/>
              </a:ext>
            </a:extLst>
          </p:cNvPr>
          <p:cNvSpPr/>
          <p:nvPr userDrawn="1"/>
        </p:nvSpPr>
        <p:spPr>
          <a:xfrm rot="5400000" flipV="1">
            <a:off x="8567307" y="325252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  <a:alpha val="8785"/>
                </a:schemeClr>
              </a:gs>
              <a:gs pos="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5BB2B7D-4FB9-694E-9AF9-881CD0EBB2BD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 descr="NOAA Fisheries logo">
            <a:extLst>
              <a:ext uri="{FF2B5EF4-FFF2-40B4-BE49-F238E27FC236}">
                <a16:creationId xmlns:a16="http://schemas.microsoft.com/office/drawing/2014/main" id="{42E22EE0-9C57-2547-9FA9-294C05E9F8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288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ogo Swoosh_Teal Foo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5DA40C-09A7-D442-B232-56243386A9D8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7EF6C5-83E4-9945-94D0-030B8BB2F605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A6B5-BCC1-0347-89DE-D3D3FA3CC557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DACC1A8-794B-A44F-A7AC-1F2EA724975A}"/>
              </a:ext>
            </a:extLst>
          </p:cNvPr>
          <p:cNvSpPr/>
          <p:nvPr userDrawn="1"/>
        </p:nvSpPr>
        <p:spPr>
          <a:xfrm rot="5400000" flipV="1">
            <a:off x="8567305" y="323330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3B7B402-DA58-EB41-8E17-5B6ED2B5277B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A46518CF-2A9A-BD49-8615-32EE10C1E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381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Image Divider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3961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832-BDE2-4020-AF57-35165F1EE8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D9158-033D-47BD-9CF9-E93D0154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6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Divider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718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eal Divider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465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1 Divider">
    <p:bg>
      <p:bgPr>
        <a:solidFill>
          <a:srgbClr val="0055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5723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5723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162FB5A-ADBD-B14D-AF64-EB75451A148D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85F2145-4063-AD49-9531-AF81FD280D48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NOAA Fisheries logo">
            <a:extLst>
              <a:ext uri="{FF2B5EF4-FFF2-40B4-BE49-F238E27FC236}">
                <a16:creationId xmlns:a16="http://schemas.microsoft.com/office/drawing/2014/main" id="{54FE8443-2032-754E-913B-6856C50805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3779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2 Divi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7BB6727-CC3F-B844-9A16-D108E92D025C}"/>
              </a:ext>
            </a:extLst>
          </p:cNvPr>
          <p:cNvSpPr/>
          <p:nvPr userDrawn="1"/>
        </p:nvSpPr>
        <p:spPr>
          <a:xfrm rot="10800000">
            <a:off x="-9" y="-3"/>
            <a:ext cx="2515205" cy="675807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AC64324-5346-F24B-9A44-E82637EB58BB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NOAA Fisheries logo">
            <a:extLst>
              <a:ext uri="{FF2B5EF4-FFF2-40B4-BE49-F238E27FC236}">
                <a16:creationId xmlns:a16="http://schemas.microsoft.com/office/drawing/2014/main" id="{8AA09001-D767-5B40-950E-0181716110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0607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832-BDE2-4020-AF57-35165F1EE8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D9158-033D-47BD-9CF9-E93D0154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7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711805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3247367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2412246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84233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10900626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8005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66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832-BDE2-4020-AF57-35165F1EE8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D9158-033D-47BD-9CF9-E93D0154E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676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462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13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958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18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53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444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foo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891AA944-878A-9A48-8554-84EFA0C90489}"/>
              </a:ext>
            </a:extLst>
          </p:cNvPr>
          <p:cNvSpPr/>
          <p:nvPr userDrawn="1"/>
        </p:nvSpPr>
        <p:spPr>
          <a:xfrm>
            <a:off x="9230627" y="1116530"/>
            <a:ext cx="2964432" cy="5741469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0BEAA-AF94-DC47-9758-2DCCD94F335B}"/>
              </a:ext>
            </a:extLst>
          </p:cNvPr>
          <p:cNvSpPr/>
          <p:nvPr userDrawn="1"/>
        </p:nvSpPr>
        <p:spPr>
          <a:xfrm>
            <a:off x="1" y="6391374"/>
            <a:ext cx="11145212" cy="466627"/>
          </a:xfrm>
          <a:prstGeom prst="rect">
            <a:avLst/>
          </a:prstGeom>
          <a:gradFill flip="none" rotWithShape="1">
            <a:gsLst>
              <a:gs pos="45000">
                <a:schemeClr val="tx2">
                  <a:alpha val="83000"/>
                </a:schemeClr>
              </a:gs>
              <a:gs pos="100000">
                <a:schemeClr val="tx2"/>
              </a:gs>
              <a:gs pos="0">
                <a:schemeClr val="tx2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875E4F-3818-A540-AB42-4BE244E003AC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18633E-F7EB-5542-818F-D77C9806BBA9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bg1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8916F3-4265-4546-9E9A-A97962815CA5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NOAA Fisheries logo">
            <a:extLst>
              <a:ext uri="{FF2B5EF4-FFF2-40B4-BE49-F238E27FC236}">
                <a16:creationId xmlns:a16="http://schemas.microsoft.com/office/drawing/2014/main" id="{D3E3EDC6-407C-0E4F-96D7-DE134E67A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752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F89FDCE-4A12-854A-8643-B00BEEE4D471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91AA944-878A-9A48-8554-84EFA0C90489}"/>
              </a:ext>
            </a:extLst>
          </p:cNvPr>
          <p:cNvSpPr/>
          <p:nvPr userDrawn="1"/>
        </p:nvSpPr>
        <p:spPr>
          <a:xfrm>
            <a:off x="9230627" y="1116530"/>
            <a:ext cx="2964432" cy="5741469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tx2"/>
              </a:gs>
              <a:gs pos="0">
                <a:schemeClr val="tx2"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719834A-6841-384B-AE22-4DDBF00C023A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E67B4F-7490-8F42-BA4D-C7C60C716D4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BEB0FDE-1CCC-354B-AB98-8BE3477EEF1C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NOAA Fisheries logo">
            <a:extLst>
              <a:ext uri="{FF2B5EF4-FFF2-40B4-BE49-F238E27FC236}">
                <a16:creationId xmlns:a16="http://schemas.microsoft.com/office/drawing/2014/main" id="{4A46996E-75AA-CD40-BEAE-E4AD38F29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917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 foo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F73F8E5-8E34-424B-9469-B2E86C5C5041}"/>
              </a:ext>
            </a:extLst>
          </p:cNvPr>
          <p:cNvSpPr/>
          <p:nvPr userDrawn="1"/>
        </p:nvSpPr>
        <p:spPr>
          <a:xfrm rot="10800000" flipH="1" flipV="1">
            <a:off x="9707592" y="-11455"/>
            <a:ext cx="2484408" cy="6857415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709112 w 1709112"/>
              <a:gd name="connsiteY0" fmla="*/ 5436187 h 5454085"/>
              <a:gd name="connsiteX1" fmla="*/ 0 w 1709112"/>
              <a:gd name="connsiteY1" fmla="*/ 5454085 h 5454085"/>
              <a:gd name="connsiteX2" fmla="*/ 980930 w 1709112"/>
              <a:gd name="connsiteY2" fmla="*/ 0 h 5454085"/>
              <a:gd name="connsiteX3" fmla="*/ 1696743 w 1709112"/>
              <a:gd name="connsiteY3" fmla="*/ 4620 h 5454085"/>
              <a:gd name="connsiteX4" fmla="*/ 1709112 w 1709112"/>
              <a:gd name="connsiteY4" fmla="*/ 5436187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696743 w 1722796"/>
              <a:gd name="connsiteY3" fmla="*/ 4620 h 5454085"/>
              <a:gd name="connsiteX4" fmla="*/ 1722796 w 1722796"/>
              <a:gd name="connsiteY4" fmla="*/ 5449933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712358 w 1722796"/>
              <a:gd name="connsiteY3" fmla="*/ 18365 h 5454085"/>
              <a:gd name="connsiteX4" fmla="*/ 1722796 w 1722796"/>
              <a:gd name="connsiteY4" fmla="*/ 5449933 h 5454085"/>
              <a:gd name="connsiteX0" fmla="*/ 1722796 w 1728606"/>
              <a:gd name="connsiteY0" fmla="*/ 5459058 h 5463210"/>
              <a:gd name="connsiteX1" fmla="*/ 0 w 1728606"/>
              <a:gd name="connsiteY1" fmla="*/ 5463210 h 5463210"/>
              <a:gd name="connsiteX2" fmla="*/ 980930 w 1728606"/>
              <a:gd name="connsiteY2" fmla="*/ 9125 h 5463210"/>
              <a:gd name="connsiteX3" fmla="*/ 1727973 w 1728606"/>
              <a:gd name="connsiteY3" fmla="*/ 0 h 5463210"/>
              <a:gd name="connsiteX4" fmla="*/ 1722796 w 1728606"/>
              <a:gd name="connsiteY4" fmla="*/ 5459058 h 546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606" h="5463210">
                <a:moveTo>
                  <a:pt x="1722796" y="5459058"/>
                </a:moveTo>
                <a:lnTo>
                  <a:pt x="0" y="5463210"/>
                </a:lnTo>
                <a:lnTo>
                  <a:pt x="980930" y="9125"/>
                </a:lnTo>
                <a:lnTo>
                  <a:pt x="1727973" y="0"/>
                </a:lnTo>
                <a:cubicBezTo>
                  <a:pt x="1731452" y="1810523"/>
                  <a:pt x="1719317" y="3648535"/>
                  <a:pt x="1722796" y="5459058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06F2B-8E81-7F4F-B30B-DAB9DFCC7AA1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0664F76-C42F-AF43-8503-B59506A3F33F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C3681-2CFF-5947-BAE0-FF53BCA5DD6D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bg1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BB4C42-3950-3B49-A3AD-4999C06DAC6E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NOAA Fisheries logo">
            <a:extLst>
              <a:ext uri="{FF2B5EF4-FFF2-40B4-BE49-F238E27FC236}">
                <a16:creationId xmlns:a16="http://schemas.microsoft.com/office/drawing/2014/main" id="{29BE4E0F-24BD-A44C-969B-036BB2427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605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44970-7F4A-D541-BB16-02D9FE93EFBA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solidFill>
            <a:schemeClr val="bg2">
              <a:lumMod val="90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D6243E8-9C72-4344-94EF-F60AFF95A6A6}"/>
              </a:ext>
            </a:extLst>
          </p:cNvPr>
          <p:cNvSpPr/>
          <p:nvPr userDrawn="1"/>
        </p:nvSpPr>
        <p:spPr>
          <a:xfrm rot="10800000" flipH="1" flipV="1">
            <a:off x="9707592" y="-11455"/>
            <a:ext cx="2484408" cy="6857415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709112 w 1709112"/>
              <a:gd name="connsiteY0" fmla="*/ 5436187 h 5454085"/>
              <a:gd name="connsiteX1" fmla="*/ 0 w 1709112"/>
              <a:gd name="connsiteY1" fmla="*/ 5454085 h 5454085"/>
              <a:gd name="connsiteX2" fmla="*/ 980930 w 1709112"/>
              <a:gd name="connsiteY2" fmla="*/ 0 h 5454085"/>
              <a:gd name="connsiteX3" fmla="*/ 1696743 w 1709112"/>
              <a:gd name="connsiteY3" fmla="*/ 4620 h 5454085"/>
              <a:gd name="connsiteX4" fmla="*/ 1709112 w 1709112"/>
              <a:gd name="connsiteY4" fmla="*/ 5436187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696743 w 1722796"/>
              <a:gd name="connsiteY3" fmla="*/ 4620 h 5454085"/>
              <a:gd name="connsiteX4" fmla="*/ 1722796 w 1722796"/>
              <a:gd name="connsiteY4" fmla="*/ 5449933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712358 w 1722796"/>
              <a:gd name="connsiteY3" fmla="*/ 18365 h 5454085"/>
              <a:gd name="connsiteX4" fmla="*/ 1722796 w 1722796"/>
              <a:gd name="connsiteY4" fmla="*/ 5449933 h 5454085"/>
              <a:gd name="connsiteX0" fmla="*/ 1722796 w 1728606"/>
              <a:gd name="connsiteY0" fmla="*/ 5459058 h 5463210"/>
              <a:gd name="connsiteX1" fmla="*/ 0 w 1728606"/>
              <a:gd name="connsiteY1" fmla="*/ 5463210 h 5463210"/>
              <a:gd name="connsiteX2" fmla="*/ 980930 w 1728606"/>
              <a:gd name="connsiteY2" fmla="*/ 9125 h 5463210"/>
              <a:gd name="connsiteX3" fmla="*/ 1727973 w 1728606"/>
              <a:gd name="connsiteY3" fmla="*/ 0 h 5463210"/>
              <a:gd name="connsiteX4" fmla="*/ 1722796 w 1728606"/>
              <a:gd name="connsiteY4" fmla="*/ 5459058 h 546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606" h="5463210">
                <a:moveTo>
                  <a:pt x="1722796" y="5459058"/>
                </a:moveTo>
                <a:lnTo>
                  <a:pt x="0" y="5463210"/>
                </a:lnTo>
                <a:lnTo>
                  <a:pt x="980930" y="9125"/>
                </a:lnTo>
                <a:lnTo>
                  <a:pt x="1727973" y="0"/>
                </a:lnTo>
                <a:cubicBezTo>
                  <a:pt x="1731452" y="1810523"/>
                  <a:pt x="1719317" y="3648535"/>
                  <a:pt x="1722796" y="5459058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90000"/>
                </a:schemeClr>
              </a:gs>
              <a:gs pos="50000">
                <a:schemeClr val="bg2">
                  <a:alpha val="0"/>
                </a:scheme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51910D7-953F-564B-97DB-5473B1EB0B95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9381F619-72DF-984A-8E74-FE1830BBA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02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 footer s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15E8329F-D41A-9149-BC0A-1D46AD80AAFD}"/>
              </a:ext>
            </a:extLst>
          </p:cNvPr>
          <p:cNvSpPr/>
          <p:nvPr userDrawn="1"/>
        </p:nvSpPr>
        <p:spPr>
          <a:xfrm rot="5400000" flipV="1">
            <a:off x="8567307" y="325252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</a:schemeClr>
              </a:gs>
              <a:gs pos="0">
                <a:schemeClr val="bg2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37BE76C-8200-0840-8FDE-341E7DC53ED4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3F7BF-CE1E-4443-9159-743E539A49FA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2C621-20CB-994A-864D-5CA183C42E98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pic>
        <p:nvPicPr>
          <p:cNvPr id="9" name="Picture 8" descr="NOAA Fisheries logo">
            <a:extLst>
              <a:ext uri="{FF2B5EF4-FFF2-40B4-BE49-F238E27FC236}">
                <a16:creationId xmlns:a16="http://schemas.microsoft.com/office/drawing/2014/main" id="{A93BF77C-916C-304D-BF99-4C278AFE1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14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20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246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Swoo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87C988-18CB-EA44-9F9E-B67E21717891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73040-B389-EF4E-9D11-3B151971C1A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4BED8C5-FA7A-944D-9C00-5BBC0E72C442}"/>
              </a:ext>
            </a:extLst>
          </p:cNvPr>
          <p:cNvSpPr/>
          <p:nvPr userDrawn="1"/>
        </p:nvSpPr>
        <p:spPr>
          <a:xfrm rot="16200000" flipH="1">
            <a:off x="9882744" y="4548741"/>
            <a:ext cx="1217592" cy="340092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49500">
                <a:srgbClr val="84C4CC">
                  <a:alpha val="30000"/>
                </a:srgb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390340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Swoosh_Teal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919294-428D-CA42-B3A7-CC09A6762897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187C988-18CB-EA44-9F9E-B67E21717891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73040-B389-EF4E-9D11-3B151971C1A5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4BED8C5-FA7A-944D-9C00-5BBC0E72C442}"/>
              </a:ext>
            </a:extLst>
          </p:cNvPr>
          <p:cNvSpPr/>
          <p:nvPr userDrawn="1"/>
        </p:nvSpPr>
        <p:spPr>
          <a:xfrm rot="16200000" flipH="1">
            <a:off x="9882744" y="4548741"/>
            <a:ext cx="1217592" cy="340092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>
            <a:gsLst>
              <a:gs pos="99000">
                <a:schemeClr val="bg2">
                  <a:lumMod val="75000"/>
                </a:schemeClr>
              </a:gs>
              <a:gs pos="49500">
                <a:srgbClr val="84C4CC">
                  <a:alpha val="30000"/>
                </a:srgbClr>
              </a:gs>
              <a:gs pos="0">
                <a:schemeClr val="bg2">
                  <a:lumMod val="75000"/>
                  <a:alpha val="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97768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ogo Swoos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7EF6C5-83E4-9945-94D0-030B8BB2F605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A6B5-BCC1-0347-89DE-D3D3FA3CC557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1E1A45F-4BC2-0440-A866-C4D9C38FA67B}"/>
              </a:ext>
            </a:extLst>
          </p:cNvPr>
          <p:cNvSpPr/>
          <p:nvPr userDrawn="1"/>
        </p:nvSpPr>
        <p:spPr>
          <a:xfrm rot="5400000" flipV="1">
            <a:off x="8567307" y="325252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99000">
                <a:schemeClr val="bg2">
                  <a:lumMod val="75000"/>
                  <a:alpha val="8785"/>
                </a:schemeClr>
              </a:gs>
              <a:gs pos="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5BB2B7D-4FB9-694E-9AF9-881CD0EBB2BD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 descr="NOAA Fisheries logo">
            <a:extLst>
              <a:ext uri="{FF2B5EF4-FFF2-40B4-BE49-F238E27FC236}">
                <a16:creationId xmlns:a16="http://schemas.microsoft.com/office/drawing/2014/main" id="{42E22EE0-9C57-2547-9FA9-294C05E9F8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213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 Logo Swoosh_Teal Foo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5DA40C-09A7-D442-B232-56243386A9D8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gradFill flip="none" rotWithShape="1">
            <a:gsLst>
              <a:gs pos="100000">
                <a:schemeClr val="bg2">
                  <a:lumMod val="90000"/>
                </a:schemeClr>
              </a:gs>
              <a:gs pos="8000">
                <a:schemeClr val="bg2">
                  <a:lumMod val="75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7EF6C5-83E4-9945-94D0-030B8BB2F605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/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A6B5-BCC1-0347-89DE-D3D3FA3CC557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tx2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tx2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DACC1A8-794B-A44F-A7AC-1F2EA724975A}"/>
              </a:ext>
            </a:extLst>
          </p:cNvPr>
          <p:cNvSpPr/>
          <p:nvPr userDrawn="1"/>
        </p:nvSpPr>
        <p:spPr>
          <a:xfrm rot="5400000" flipV="1">
            <a:off x="8567305" y="3233304"/>
            <a:ext cx="2026084" cy="5223308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93B7B402-DA58-EB41-8E17-5B6ED2B5277B}"/>
              </a:ext>
            </a:extLst>
          </p:cNvPr>
          <p:cNvSpPr/>
          <p:nvPr userDrawn="1"/>
        </p:nvSpPr>
        <p:spPr>
          <a:xfrm rot="16200000" flipH="1">
            <a:off x="9813760" y="4479761"/>
            <a:ext cx="1833614" cy="2922873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A46518CF-2A9A-BD49-8615-32EE10C1EB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22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al Title Slide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796483"/>
            <a:ext cx="9434400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569273"/>
            <a:ext cx="9434400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64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4875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vy foo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F73F8E5-8E34-424B-9469-B2E86C5C5041}"/>
              </a:ext>
            </a:extLst>
          </p:cNvPr>
          <p:cNvSpPr/>
          <p:nvPr userDrawn="1"/>
        </p:nvSpPr>
        <p:spPr>
          <a:xfrm rot="10800000" flipH="1" flipV="1">
            <a:off x="9707592" y="-11455"/>
            <a:ext cx="2484408" cy="6857415"/>
          </a:xfrm>
          <a:custGeom>
            <a:avLst/>
            <a:gdLst>
              <a:gd name="connsiteX0" fmla="*/ 999997 w 1016530"/>
              <a:gd name="connsiteY0" fmla="*/ 5463677 h 5463677"/>
              <a:gd name="connsiteX1" fmla="*/ 0 w 1016530"/>
              <a:gd name="connsiteY1" fmla="*/ 5463677 h 5463677"/>
              <a:gd name="connsiteX2" fmla="*/ 16577 w 1016530"/>
              <a:gd name="connsiteY2" fmla="*/ 0 h 5463677"/>
              <a:gd name="connsiteX3" fmla="*/ 1016530 w 1016530"/>
              <a:gd name="connsiteY3" fmla="*/ 14211 h 5463677"/>
              <a:gd name="connsiteX4" fmla="*/ 999997 w 1016530"/>
              <a:gd name="connsiteY4" fmla="*/ 5463677 h 5463677"/>
              <a:gd name="connsiteX0" fmla="*/ 999997 w 1042361"/>
              <a:gd name="connsiteY0" fmla="*/ 5463677 h 5463677"/>
              <a:gd name="connsiteX1" fmla="*/ 0 w 1042361"/>
              <a:gd name="connsiteY1" fmla="*/ 5463677 h 5463677"/>
              <a:gd name="connsiteX2" fmla="*/ 16577 w 1042361"/>
              <a:gd name="connsiteY2" fmla="*/ 0 h 5463677"/>
              <a:gd name="connsiteX3" fmla="*/ 1042361 w 1042361"/>
              <a:gd name="connsiteY3" fmla="*/ 4620 h 5463677"/>
              <a:gd name="connsiteX4" fmla="*/ 999997 w 1042361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670959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34903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654379 w 1696743"/>
              <a:gd name="connsiteY0" fmla="*/ 5463677 h 5463677"/>
              <a:gd name="connsiteX1" fmla="*/ 0 w 1696743"/>
              <a:gd name="connsiteY1" fmla="*/ 5454085 h 5463677"/>
              <a:gd name="connsiteX2" fmla="*/ 980930 w 1696743"/>
              <a:gd name="connsiteY2" fmla="*/ 0 h 5463677"/>
              <a:gd name="connsiteX3" fmla="*/ 1696743 w 1696743"/>
              <a:gd name="connsiteY3" fmla="*/ 4620 h 5463677"/>
              <a:gd name="connsiteX4" fmla="*/ 1654379 w 1696743"/>
              <a:gd name="connsiteY4" fmla="*/ 5463677 h 5463677"/>
              <a:gd name="connsiteX0" fmla="*/ 1709112 w 1709112"/>
              <a:gd name="connsiteY0" fmla="*/ 5436187 h 5454085"/>
              <a:gd name="connsiteX1" fmla="*/ 0 w 1709112"/>
              <a:gd name="connsiteY1" fmla="*/ 5454085 h 5454085"/>
              <a:gd name="connsiteX2" fmla="*/ 980930 w 1709112"/>
              <a:gd name="connsiteY2" fmla="*/ 0 h 5454085"/>
              <a:gd name="connsiteX3" fmla="*/ 1696743 w 1709112"/>
              <a:gd name="connsiteY3" fmla="*/ 4620 h 5454085"/>
              <a:gd name="connsiteX4" fmla="*/ 1709112 w 1709112"/>
              <a:gd name="connsiteY4" fmla="*/ 5436187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696743 w 1722796"/>
              <a:gd name="connsiteY3" fmla="*/ 4620 h 5454085"/>
              <a:gd name="connsiteX4" fmla="*/ 1722796 w 1722796"/>
              <a:gd name="connsiteY4" fmla="*/ 5449933 h 5454085"/>
              <a:gd name="connsiteX0" fmla="*/ 1722796 w 1722796"/>
              <a:gd name="connsiteY0" fmla="*/ 5449933 h 5454085"/>
              <a:gd name="connsiteX1" fmla="*/ 0 w 1722796"/>
              <a:gd name="connsiteY1" fmla="*/ 5454085 h 5454085"/>
              <a:gd name="connsiteX2" fmla="*/ 980930 w 1722796"/>
              <a:gd name="connsiteY2" fmla="*/ 0 h 5454085"/>
              <a:gd name="connsiteX3" fmla="*/ 1712358 w 1722796"/>
              <a:gd name="connsiteY3" fmla="*/ 18365 h 5454085"/>
              <a:gd name="connsiteX4" fmla="*/ 1722796 w 1722796"/>
              <a:gd name="connsiteY4" fmla="*/ 5449933 h 5454085"/>
              <a:gd name="connsiteX0" fmla="*/ 1722796 w 1728606"/>
              <a:gd name="connsiteY0" fmla="*/ 5459058 h 5463210"/>
              <a:gd name="connsiteX1" fmla="*/ 0 w 1728606"/>
              <a:gd name="connsiteY1" fmla="*/ 5463210 h 5463210"/>
              <a:gd name="connsiteX2" fmla="*/ 980930 w 1728606"/>
              <a:gd name="connsiteY2" fmla="*/ 9125 h 5463210"/>
              <a:gd name="connsiteX3" fmla="*/ 1727973 w 1728606"/>
              <a:gd name="connsiteY3" fmla="*/ 0 h 5463210"/>
              <a:gd name="connsiteX4" fmla="*/ 1722796 w 1728606"/>
              <a:gd name="connsiteY4" fmla="*/ 5459058 h 546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606" h="5463210">
                <a:moveTo>
                  <a:pt x="1722796" y="5459058"/>
                </a:moveTo>
                <a:lnTo>
                  <a:pt x="0" y="5463210"/>
                </a:lnTo>
                <a:lnTo>
                  <a:pt x="980930" y="9125"/>
                </a:lnTo>
                <a:lnTo>
                  <a:pt x="1727973" y="0"/>
                </a:lnTo>
                <a:cubicBezTo>
                  <a:pt x="1731452" y="1810523"/>
                  <a:pt x="1719317" y="3648535"/>
                  <a:pt x="1722796" y="5459058"/>
                </a:cubicBezTo>
                <a:close/>
              </a:path>
            </a:pathLst>
          </a:custGeom>
          <a:gradFill flip="none" rotWithShape="1">
            <a:gsLst>
              <a:gs pos="100000">
                <a:srgbClr val="07477D">
                  <a:alpha val="34000"/>
                </a:srgbClr>
              </a:gs>
              <a:gs pos="42000">
                <a:srgbClr val="07477D">
                  <a:alpha val="0"/>
                </a:srgbClr>
              </a:gs>
            </a:gsLst>
            <a:lin ang="720000" scaled="0"/>
            <a:tileRect/>
          </a:gradFill>
          <a:ln w="1397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A06F2B-8E81-7F4F-B30B-DAB9DFCC7AA1}"/>
              </a:ext>
            </a:extLst>
          </p:cNvPr>
          <p:cNvSpPr/>
          <p:nvPr userDrawn="1"/>
        </p:nvSpPr>
        <p:spPr>
          <a:xfrm>
            <a:off x="0" y="6391374"/>
            <a:ext cx="12192000" cy="4666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0664F76-C42F-AF43-8503-B59506A3F33F}"/>
              </a:ext>
            </a:extLst>
          </p:cNvPr>
          <p:cNvSpPr txBox="1">
            <a:spLocks/>
          </p:cNvSpPr>
          <p:nvPr userDrawn="1"/>
        </p:nvSpPr>
        <p:spPr>
          <a:xfrm>
            <a:off x="914402" y="6370518"/>
            <a:ext cx="8930391" cy="540383"/>
          </a:xfrm>
          <a:prstGeom prst="rect">
            <a:avLst/>
          </a:prstGeom>
          <a:ln>
            <a:noFill/>
          </a:ln>
          <a:effectLst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U.S. Department of Commerce | National Oceanic and Atmospheric Administration | National Marine Fisheries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0C3681-2CFF-5947-BAE0-FF53BCA5DD6D}"/>
              </a:ext>
            </a:extLst>
          </p:cNvPr>
          <p:cNvSpPr txBox="1"/>
          <p:nvPr userDrawn="1"/>
        </p:nvSpPr>
        <p:spPr>
          <a:xfrm>
            <a:off x="168165" y="6357030"/>
            <a:ext cx="746235" cy="55387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i="0" dirty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t>Page </a:t>
            </a:r>
            <a:fld id="{632D3AEB-7CBE-3049-91AC-335C6B4F5BF6}" type="slidenum">
              <a:rPr lang="en-US" sz="1050" b="1" i="0" smtClean="0">
                <a:solidFill>
                  <a:schemeClr val="bg1"/>
                </a:solidFill>
                <a:latin typeface="Arial Narrow" charset="0"/>
                <a:ea typeface="Arial Narrow" charset="0"/>
                <a:cs typeface="Arial Narrow" charset="0"/>
              </a:rPr>
              <a:pPr marL="0" marR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50" b="1" i="0" dirty="0">
              <a:solidFill>
                <a:schemeClr val="bg1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BB4C42-3950-3B49-A3AD-4999C06DAC6E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NOAA Fisheries logo">
            <a:extLst>
              <a:ext uri="{FF2B5EF4-FFF2-40B4-BE49-F238E27FC236}">
                <a16:creationId xmlns:a16="http://schemas.microsoft.com/office/drawing/2014/main" id="{29BE4E0F-24BD-A44C-969B-036BB24272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168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mage Divider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26939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eal Divider">
    <p:bg>
      <p:bgPr>
        <a:solidFill>
          <a:srgbClr val="14B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/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99C69EE-A4BD-6942-8D0F-E37726BE1E01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A0FABCB-994C-B944-961D-2AA8FB46A111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NOAA Fisheries logo">
            <a:extLst>
              <a:ext uri="{FF2B5EF4-FFF2-40B4-BE49-F238E27FC236}">
                <a16:creationId xmlns:a16="http://schemas.microsoft.com/office/drawing/2014/main" id="{9D4331ED-C2B4-B94B-8F8B-227627C9A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2837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1 Divider">
    <p:bg>
      <p:bgPr>
        <a:solidFill>
          <a:srgbClr val="0055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5723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5723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162FB5A-ADBD-B14D-AF64-EB75451A148D}"/>
              </a:ext>
            </a:extLst>
          </p:cNvPr>
          <p:cNvSpPr/>
          <p:nvPr userDrawn="1"/>
        </p:nvSpPr>
        <p:spPr>
          <a:xfrm rot="10800000">
            <a:off x="-8" y="-3"/>
            <a:ext cx="2515205" cy="675807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85F2145-4063-AD49-9531-AF81FD280D48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NOAA Fisheries logo">
            <a:extLst>
              <a:ext uri="{FF2B5EF4-FFF2-40B4-BE49-F238E27FC236}">
                <a16:creationId xmlns:a16="http://schemas.microsoft.com/office/drawing/2014/main" id="{54FE8443-2032-754E-913B-6856C50805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0619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2 Divi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7269" y="1796484"/>
            <a:ext cx="9610731" cy="1772793"/>
          </a:xfrm>
        </p:spPr>
        <p:txBody>
          <a:bodyPr lIns="0" tIns="0" rIns="0" bIns="0" anchor="b"/>
          <a:lstStyle>
            <a:lvl1pPr algn="l">
              <a:defRPr sz="72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to edit Divider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269" y="3569273"/>
            <a:ext cx="9610731" cy="16557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7BB6727-CC3F-B844-9A16-D108E92D025C}"/>
              </a:ext>
            </a:extLst>
          </p:cNvPr>
          <p:cNvSpPr/>
          <p:nvPr userDrawn="1"/>
        </p:nvSpPr>
        <p:spPr>
          <a:xfrm rot="10800000">
            <a:off x="-9" y="-3"/>
            <a:ext cx="2515205" cy="6758075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rgbClr val="004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AC64324-5346-F24B-9A44-E82637EB58BB}"/>
              </a:ext>
            </a:extLst>
          </p:cNvPr>
          <p:cNvSpPr/>
          <p:nvPr userDrawn="1"/>
        </p:nvSpPr>
        <p:spPr>
          <a:xfrm>
            <a:off x="10395285" y="996095"/>
            <a:ext cx="1796716" cy="5861906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NOAA Fisheries logo">
            <a:extLst>
              <a:ext uri="{FF2B5EF4-FFF2-40B4-BE49-F238E27FC236}">
                <a16:creationId xmlns:a16="http://schemas.microsoft.com/office/drawing/2014/main" id="{8AA09001-D767-5B40-950E-0181716110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812" y="6075805"/>
            <a:ext cx="1497659" cy="682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1376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Boats">
  <p:cSld name="Title - Boa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Google Shape;16;p30"/>
          <p:cNvSpPr txBox="1">
            <a:spLocks noGrp="1"/>
          </p:cNvSpPr>
          <p:nvPr>
            <p:ph type="body" idx="2"/>
          </p:nvPr>
        </p:nvSpPr>
        <p:spPr>
          <a:xfrm>
            <a:off x="584205" y="3881097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1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Google Shape;17;p30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7676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No photo">
  <p:cSld name="Title - No phot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Google Shape;21;p33"/>
          <p:cNvSpPr txBox="1">
            <a:spLocks noGrp="1"/>
          </p:cNvSpPr>
          <p:nvPr>
            <p:ph type="body" idx="2"/>
          </p:nvPr>
        </p:nvSpPr>
        <p:spPr>
          <a:xfrm>
            <a:off x="584205" y="3884296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1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Google Shape;22;p33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55424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urtle">
  <p:cSld name="Title - Tur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Google Shape;26;p34"/>
          <p:cNvSpPr txBox="1">
            <a:spLocks noGrp="1"/>
          </p:cNvSpPr>
          <p:nvPr>
            <p:ph type="body" idx="2"/>
          </p:nvPr>
        </p:nvSpPr>
        <p:spPr>
          <a:xfrm>
            <a:off x="584205" y="3879533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1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5205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Seafood">
  <p:cSld name="Title - Seafoo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2"/>
          </p:nvPr>
        </p:nvSpPr>
        <p:spPr>
          <a:xfrm>
            <a:off x="584205" y="3880667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1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3764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Fish">
  <p:cSld name="Title - Fish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584205" y="3881097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400" b="1">
                <a:solidFill>
                  <a:schemeClr val="accen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2400"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81824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Dark">
  <p:cSld name="Title -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1"/>
          </p:nvPr>
        </p:nvSpPr>
        <p:spPr>
          <a:xfrm>
            <a:off x="4269317" y="2707459"/>
            <a:ext cx="7313083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Google Shape;41;p37"/>
          <p:cNvSpPr txBox="1">
            <a:spLocks noGrp="1"/>
          </p:cNvSpPr>
          <p:nvPr>
            <p:ph type="body" idx="2"/>
          </p:nvPr>
        </p:nvSpPr>
        <p:spPr>
          <a:xfrm>
            <a:off x="575738" y="3889133"/>
            <a:ext cx="1725084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Google Shape;42;p37"/>
          <p:cNvSpPr/>
          <p:nvPr/>
        </p:nvSpPr>
        <p:spPr>
          <a:xfrm>
            <a:off x="995510" y="4242243"/>
            <a:ext cx="11216245" cy="2680563"/>
          </a:xfrm>
          <a:custGeom>
            <a:avLst/>
            <a:gdLst/>
            <a:ahLst/>
            <a:cxnLst/>
            <a:rect l="l" t="t" r="r" b="b"/>
            <a:pathLst>
              <a:path w="9170674" h="2502055" extrusionOk="0">
                <a:moveTo>
                  <a:pt x="2888" y="2436286"/>
                </a:moveTo>
                <a:cubicBezTo>
                  <a:pt x="23549" y="2432957"/>
                  <a:pt x="7344316" y="2502055"/>
                  <a:pt x="9170674" y="0"/>
                </a:cubicBezTo>
                <a:cubicBezTo>
                  <a:pt x="9168092" y="819774"/>
                  <a:pt x="9157767" y="1631807"/>
                  <a:pt x="9155185" y="2451581"/>
                </a:cubicBezTo>
                <a:lnTo>
                  <a:pt x="9154521" y="2452105"/>
                </a:lnTo>
                <a:lnTo>
                  <a:pt x="1" y="2457785"/>
                </a:lnTo>
                <a:cubicBezTo>
                  <a:pt x="0" y="2415623"/>
                  <a:pt x="2889" y="2478448"/>
                  <a:pt x="2888" y="24362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3"/>
          </p:nvPr>
        </p:nvSpPr>
        <p:spPr>
          <a:xfrm>
            <a:off x="4269317" y="4282304"/>
            <a:ext cx="7313083" cy="57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2400">
                <a:solidFill>
                  <a:srgbClr val="FFFFFF"/>
                </a:solidFill>
              </a:defRPr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29122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9EDC-C638-4850-B80C-68CEA7B7052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641-2FFC-4B6E-A7C9-30D42B85B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462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9EDC-C638-4850-B80C-68CEA7B7052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95641-2FFC-4B6E-A7C9-30D42B85B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127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" preserve="1">
  <p:cSld name="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2"/>
          <p:cNvSpPr txBox="1">
            <a:spLocks noGrp="1"/>
          </p:cNvSpPr>
          <p:nvPr>
            <p:ph type="title"/>
          </p:nvPr>
        </p:nvSpPr>
        <p:spPr>
          <a:xfrm>
            <a:off x="609600" y="457202"/>
            <a:ext cx="10972800" cy="67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body" idx="1"/>
          </p:nvPr>
        </p:nvSpPr>
        <p:spPr>
          <a:xfrm>
            <a:off x="609600" y="120729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5878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Char char="•"/>
              <a:defRPr sz="4000">
                <a:solidFill>
                  <a:schemeClr val="dk2"/>
                </a:solidFill>
              </a:defRPr>
            </a:lvl1pPr>
            <a:lvl2pPr marL="1219170" lvl="1" indent="-524920" algn="l">
              <a:lnSpc>
                <a:spcPct val="100000"/>
              </a:lnSpc>
              <a:spcBef>
                <a:spcPts val="693"/>
              </a:spcBef>
              <a:spcAft>
                <a:spcPts val="0"/>
              </a:spcAft>
              <a:buClr>
                <a:schemeClr val="dk2"/>
              </a:buClr>
              <a:buSzPts val="2600"/>
              <a:buFont typeface="Noto Sans Symbols"/>
              <a:buChar char="▪"/>
              <a:defRPr sz="3467">
                <a:solidFill>
                  <a:schemeClr val="dk2"/>
                </a:solidFill>
              </a:defRPr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3200">
                <a:solidFill>
                  <a:schemeClr val="dk2"/>
                </a:solidFill>
              </a:defRPr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667">
                <a:solidFill>
                  <a:schemeClr val="dk2"/>
                </a:solidFill>
              </a:defRPr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2400">
                <a:solidFill>
                  <a:schemeClr val="dk2"/>
                </a:solidFill>
              </a:defRPr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4" name="Google Shape;54;p32"/>
          <p:cNvSpPr txBox="1">
            <a:spLocks noGrp="1"/>
          </p:cNvSpPr>
          <p:nvPr>
            <p:ph type="sldNum" idx="12"/>
          </p:nvPr>
        </p:nvSpPr>
        <p:spPr>
          <a:xfrm>
            <a:off x="3048004" y="6355083"/>
            <a:ext cx="85344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r>
              <a:rPr lang="en-US"/>
              <a:t>U.S. Department of Commerce | National Oceanic and Atmospheric Administration | National Marine Fisheries Service | Page </a:t>
            </a:r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7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1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3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54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58.xml"/><Relationship Id="rId9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2437" y="1798797"/>
            <a:ext cx="10070512" cy="177279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2438" y="3777557"/>
            <a:ext cx="10070513" cy="942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reeform 12"/>
          <p:cNvSpPr/>
          <p:nvPr/>
        </p:nvSpPr>
        <p:spPr>
          <a:xfrm rot="5400000" flipH="1">
            <a:off x="3089281" y="-2685623"/>
            <a:ext cx="3350194" cy="8700984"/>
          </a:xfrm>
          <a:custGeom>
            <a:avLst/>
            <a:gdLst>
              <a:gd name="connsiteX0" fmla="*/ 2196089 w 2196089"/>
              <a:gd name="connsiteY0" fmla="*/ 0 h 6849789"/>
              <a:gd name="connsiteX1" fmla="*/ 2196089 w 2196089"/>
              <a:gd name="connsiteY1" fmla="*/ 6849789 h 6849789"/>
              <a:gd name="connsiteX2" fmla="*/ 0 w 2196089"/>
              <a:gd name="connsiteY2" fmla="*/ 6849789 h 6849789"/>
              <a:gd name="connsiteX3" fmla="*/ 169765 w 2196089"/>
              <a:gd name="connsiteY3" fmla="*/ 6755526 h 6849789"/>
              <a:gd name="connsiteX4" fmla="*/ 2161421 w 2196089"/>
              <a:gd name="connsiteY4" fmla="*/ 408410 h 6849789"/>
              <a:gd name="connsiteX5" fmla="*/ 2196089 w 2196089"/>
              <a:gd name="connsiteY5" fmla="*/ 0 h 684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089" h="6849789">
                <a:moveTo>
                  <a:pt x="2196089" y="0"/>
                </a:moveTo>
                <a:lnTo>
                  <a:pt x="2196089" y="6849789"/>
                </a:lnTo>
                <a:lnTo>
                  <a:pt x="0" y="6849789"/>
                </a:lnTo>
                <a:lnTo>
                  <a:pt x="169765" y="6755526"/>
                </a:lnTo>
                <a:cubicBezTo>
                  <a:pt x="1099958" y="6063006"/>
                  <a:pt x="1854601" y="3617105"/>
                  <a:pt x="2161421" y="408410"/>
                </a:cubicBezTo>
                <a:lnTo>
                  <a:pt x="2196089" y="0"/>
                </a:lnTo>
                <a:close/>
              </a:path>
            </a:pathLst>
          </a:custGeom>
          <a:gradFill flip="none" rotWithShape="1">
            <a:gsLst>
              <a:gs pos="78000">
                <a:schemeClr val="bg1"/>
              </a:gs>
              <a:gs pos="0">
                <a:schemeClr val="accent1">
                  <a:lumMod val="78063"/>
                  <a:lumOff val="21938"/>
                  <a:alpha val="78555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946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77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98" r:id="rId6"/>
    <p:sldLayoutId id="2147483699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spc="-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403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96" r:id="rId5"/>
    <p:sldLayoutId id="2147483697" r:id="rId6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spc="-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2437" y="2685195"/>
            <a:ext cx="10070512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Divider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2438" y="3777557"/>
            <a:ext cx="10070513" cy="942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88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95" r:id="rId5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6315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1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0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8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701" r:id="rId3"/>
    <p:sldLayoutId id="2147483702" r:id="rId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22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19" r:id="rId6"/>
    <p:sldLayoutId id="2147483720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spc="-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84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21" r:id="rId5"/>
    <p:sldLayoutId id="2147483722" r:id="rId6"/>
    <p:sldLayoutId id="2147483841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 spc="-51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1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02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15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28" indent="-182875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960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53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945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38" indent="-228594" algn="l" defTabSz="914377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2437" y="2685195"/>
            <a:ext cx="10070512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dirty="0"/>
              <a:t>Click to edit Divider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2438" y="3777557"/>
            <a:ext cx="10070513" cy="942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344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tx2"/>
          </a:solidFill>
          <a:latin typeface="Cambria" charset="0"/>
          <a:ea typeface="Cambria" charset="0"/>
          <a:cs typeface="Cambria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3600" b="0" i="0" kern="1200">
          <a:solidFill>
            <a:schemeClr val="accent1">
              <a:lumMod val="20000"/>
              <a:lumOff val="80000"/>
            </a:schemeClr>
          </a:solidFill>
          <a:latin typeface="Cambria" charset="0"/>
          <a:ea typeface="Cambria" charset="0"/>
          <a:cs typeface="Cambria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268909" y="1141667"/>
            <a:ext cx="7313491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268914" y="2707605"/>
            <a:ext cx="7313489" cy="127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/>
          <p:nvPr/>
        </p:nvSpPr>
        <p:spPr>
          <a:xfrm>
            <a:off x="995510" y="4242243"/>
            <a:ext cx="11216245" cy="2680563"/>
          </a:xfrm>
          <a:custGeom>
            <a:avLst/>
            <a:gdLst/>
            <a:ahLst/>
            <a:cxnLst/>
            <a:rect l="l" t="t" r="r" b="b"/>
            <a:pathLst>
              <a:path w="9170674" h="2502055" extrusionOk="0">
                <a:moveTo>
                  <a:pt x="2888" y="2436286"/>
                </a:moveTo>
                <a:cubicBezTo>
                  <a:pt x="23549" y="2432957"/>
                  <a:pt x="7344316" y="2502055"/>
                  <a:pt x="9170674" y="0"/>
                </a:cubicBezTo>
                <a:cubicBezTo>
                  <a:pt x="9168092" y="819774"/>
                  <a:pt x="9157767" y="1631807"/>
                  <a:pt x="9155185" y="2451581"/>
                </a:cubicBezTo>
                <a:lnTo>
                  <a:pt x="9154521" y="2452105"/>
                </a:lnTo>
                <a:lnTo>
                  <a:pt x="1" y="2457785"/>
                </a:lnTo>
                <a:cubicBezTo>
                  <a:pt x="0" y="2415623"/>
                  <a:pt x="2889" y="2478448"/>
                  <a:pt x="2888" y="243628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4785209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</p:sldLayoutIdLst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 advClick="0" advTm="5000">
        <p:push dir="u"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6" name="Google Shape;46;p31"/>
          <p:cNvSpPr txBox="1">
            <a:spLocks noGrp="1"/>
          </p:cNvSpPr>
          <p:nvPr>
            <p:ph type="title"/>
          </p:nvPr>
        </p:nvSpPr>
        <p:spPr>
          <a:xfrm>
            <a:off x="609600" y="457202"/>
            <a:ext cx="10972800" cy="67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 Narrow"/>
              <a:buNone/>
              <a:defRPr sz="36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1"/>
          </p:nvPr>
        </p:nvSpPr>
        <p:spPr>
          <a:xfrm>
            <a:off x="609600" y="120729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3048004" y="6355083"/>
            <a:ext cx="85344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 Narrow"/>
              <a:buNone/>
              <a:defRPr sz="1067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r>
              <a:rPr lang="en-US"/>
              <a:t>U.S. Department of Commerce | National Oceanic and Atmospheric Administration | National Marine Fisheries Service | Page </a:t>
            </a:r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Google Shape;49;p3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0" name="Google Shape;50;p31" descr="NOAA-Fisheries-horizont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2" y="6414349"/>
            <a:ext cx="1701401" cy="402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65063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Western GOA </a:t>
            </a:r>
            <a:r>
              <a:rPr lang="en-US" dirty="0" err="1"/>
              <a:t>Pcod</a:t>
            </a:r>
            <a:r>
              <a:rPr lang="en-US" dirty="0"/>
              <a:t> assessment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September 2026 Plan Team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E65DFC-5AB7-48BC-A7F3-F89405E3B2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031" y="1840903"/>
            <a:ext cx="2010623" cy="201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8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0" y="1208088"/>
            <a:ext cx="10972800" cy="45259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What is </a:t>
            </a:r>
            <a:r>
              <a:rPr lang="en-US" sz="2800" dirty="0" err="1"/>
              <a:t>SPoRC</a:t>
            </a:r>
            <a:r>
              <a:rPr lang="en-US" sz="28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Model/Data set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Model/Data scenarios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Data exploration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Next steps/timeline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i="1" dirty="0">
                <a:solidFill>
                  <a:schemeClr val="accent4">
                    <a:lumMod val="50000"/>
                  </a:schemeClr>
                </a:solidFill>
              </a:rPr>
              <a:t>Things to consider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45718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What is </a:t>
            </a:r>
            <a:r>
              <a:rPr lang="en-US" dirty="0" err="1"/>
              <a:t>SPoRC</a:t>
            </a:r>
            <a:r>
              <a:rPr lang="en-US" dirty="0"/>
              <a:t>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5242561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100" dirty="0"/>
              <a:t>Stochastic (S) Population (P) over (o) Regional (R) Components (C)</a:t>
            </a:r>
          </a:p>
          <a:p>
            <a:r>
              <a:rPr lang="en-US" sz="2100" dirty="0"/>
              <a:t>Stock assessment platform written in R and RTMB</a:t>
            </a:r>
          </a:p>
          <a:p>
            <a:r>
              <a:rPr lang="en-US" sz="2100" dirty="0"/>
              <a:t>Statistical catch-at-age model w/ </a:t>
            </a:r>
            <a:r>
              <a:rPr lang="en-US" sz="2100" i="1" u="sng" dirty="0"/>
              <a:t>spatial</a:t>
            </a:r>
            <a:r>
              <a:rPr lang="en-US" sz="2100" dirty="0"/>
              <a:t>, sex, and fleet-structure</a:t>
            </a:r>
          </a:p>
          <a:p>
            <a:pPr lvl="1"/>
            <a:r>
              <a:rPr lang="en-US" sz="2100" dirty="0"/>
              <a:t>Supports random effects (Laplace Approximation) and Bayesian inference (</a:t>
            </a:r>
            <a:r>
              <a:rPr lang="en-US" sz="2100" dirty="0" err="1"/>
              <a:t>rstan</a:t>
            </a:r>
            <a:r>
              <a:rPr lang="en-US" sz="2100" dirty="0"/>
              <a:t>)</a:t>
            </a:r>
          </a:p>
          <a:p>
            <a:r>
              <a:rPr lang="en-US" sz="2100" dirty="0"/>
              <a:t>R package that includes model fitting, comprehensive stock assessment model diagnostics, and simulation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4207D-C88A-71B6-F749-A51316711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72" y="110871"/>
            <a:ext cx="5718048" cy="32164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4E7BCF-FB65-F5B1-1E77-C84366F14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736" y="3429000"/>
            <a:ext cx="3322320" cy="13938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56128C-363F-205A-92E9-6DD0BD656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744" y="4924574"/>
            <a:ext cx="2633472" cy="13759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3A592C-9758-5D78-5103-3A02D14B2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5010912"/>
            <a:ext cx="1897159" cy="11919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455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5120641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700" dirty="0"/>
              <a:t>How do we think about populations and sub-populations?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700" dirty="0"/>
              <a:t>Where do we draw the lines?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BBC310-1160-974D-9468-27C64721D510}"/>
              </a:ext>
            </a:extLst>
          </p:cNvPr>
          <p:cNvGrpSpPr/>
          <p:nvPr/>
        </p:nvGrpSpPr>
        <p:grpSpPr>
          <a:xfrm>
            <a:off x="5486400" y="1053962"/>
            <a:ext cx="5001768" cy="4431098"/>
            <a:chOff x="3595116" y="1717749"/>
            <a:chExt cx="5001768" cy="44310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3ECF76-E308-BA76-A45A-A8F0BB2F3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980948-CE9C-AFDE-E854-24ADA2503324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73BB7A-7F65-C75D-85A1-8AFA3263EE60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CC96803-32E1-855B-99E2-8139231BFF5B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AAA11C-7D77-F5B2-35E0-90AF70AEAF25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5F0BAA-C3BE-CBC5-8BD9-B65428208AA1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ABE1FC41-1E4F-2792-5123-2570DC6147A6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895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BF11-23A8-FB24-B07B-30EF7296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3CFE9-1969-BDB4-2542-28F41B5A93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77603E-DAE6-5EBF-EEE9-B017EE4F099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How do we think about populations and sub-populations? </a:t>
            </a:r>
            <a:r>
              <a:rPr lang="en-US" sz="2400" b="1" dirty="0"/>
              <a:t>Genetics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C21D0F9-5667-56A6-72B6-270A05AE7E6B}"/>
              </a:ext>
            </a:extLst>
          </p:cNvPr>
          <p:cNvGrpSpPr/>
          <p:nvPr/>
        </p:nvGrpSpPr>
        <p:grpSpPr>
          <a:xfrm>
            <a:off x="5823543" y="1717749"/>
            <a:ext cx="5001768" cy="4431098"/>
            <a:chOff x="3595116" y="1717749"/>
            <a:chExt cx="5001768" cy="44310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ECA466-632C-0307-E6A7-682E682DB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73BA3E-034D-E8F4-18B0-40D0E3F07493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C173AA-503A-7D2D-4C47-54392B64DC32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EF29D4-A060-BCCA-79D5-36117F7BC283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D09BB9-D2A0-1E76-B5F3-16BCE56DA673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04FDD22-D171-8EB3-FE45-43229D67E99F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60C29DD2-A732-B467-B842-1B5D6F9A885B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6C0E07FB-17B4-07CF-AFD7-A3EC60CD9193}"/>
              </a:ext>
            </a:extLst>
          </p:cNvPr>
          <p:cNvSpPr/>
          <p:nvPr/>
        </p:nvSpPr>
        <p:spPr>
          <a:xfrm>
            <a:off x="6306564" y="2369564"/>
            <a:ext cx="3991825" cy="2938949"/>
          </a:xfrm>
          <a:prstGeom prst="ellipse">
            <a:avLst/>
          </a:prstGeom>
          <a:solidFill>
            <a:srgbClr val="008998">
              <a:alpha val="2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89D8D4-61A9-402B-A43D-191408BCCD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12"/>
          <a:stretch/>
        </p:blipFill>
        <p:spPr bwMode="auto">
          <a:xfrm>
            <a:off x="559896" y="4720994"/>
            <a:ext cx="2613645" cy="1540263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EE42D2-8B03-D18D-3DFC-BF3DAA557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03" y="1717749"/>
            <a:ext cx="2768725" cy="2057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9A64133D-D58B-E741-3AB0-D3EB4B42D3FB}"/>
              </a:ext>
            </a:extLst>
          </p:cNvPr>
          <p:cNvSpPr/>
          <p:nvPr/>
        </p:nvSpPr>
        <p:spPr>
          <a:xfrm rot="20376422">
            <a:off x="10381275" y="2042152"/>
            <a:ext cx="1342731" cy="2360058"/>
          </a:xfrm>
          <a:prstGeom prst="ellipse">
            <a:avLst/>
          </a:prstGeom>
          <a:solidFill>
            <a:srgbClr val="008998">
              <a:alpha val="2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549CFA-BFE3-9654-2548-050AFDBBABDE}"/>
              </a:ext>
            </a:extLst>
          </p:cNvPr>
          <p:cNvSpPr/>
          <p:nvPr/>
        </p:nvSpPr>
        <p:spPr>
          <a:xfrm rot="3841149">
            <a:off x="5283583" y="4409885"/>
            <a:ext cx="1257374" cy="1347640"/>
          </a:xfrm>
          <a:prstGeom prst="ellipse">
            <a:avLst/>
          </a:prstGeom>
          <a:solidFill>
            <a:srgbClr val="008998">
              <a:alpha val="2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2EBC20-8970-3628-B009-812A67B66353}"/>
              </a:ext>
            </a:extLst>
          </p:cNvPr>
          <p:cNvSpPr/>
          <p:nvPr/>
        </p:nvSpPr>
        <p:spPr>
          <a:xfrm rot="3841149">
            <a:off x="5555628" y="1501888"/>
            <a:ext cx="1501238" cy="1439458"/>
          </a:xfrm>
          <a:prstGeom prst="ellipse">
            <a:avLst/>
          </a:prstGeom>
          <a:solidFill>
            <a:srgbClr val="008998">
              <a:alpha val="23137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486E8D9-78FE-F711-C167-AC5B975FA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08" y="3507636"/>
            <a:ext cx="1779993" cy="12919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5A459FC8-781C-490C-96C0-5A5069832D64}"/>
              </a:ext>
            </a:extLst>
          </p:cNvPr>
          <p:cNvSpPr/>
          <p:nvPr/>
        </p:nvSpPr>
        <p:spPr>
          <a:xfrm>
            <a:off x="3826933" y="3211672"/>
            <a:ext cx="1688424" cy="960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1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29C0-0A35-C3C5-3AC4-12A35FF0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3CC2A7-4CD5-A4BE-85D7-D25EB2CF0C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DEF19E-7411-0DF2-9B2E-1011247F856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How do we think about populations and sub-populations? </a:t>
            </a:r>
            <a:r>
              <a:rPr lang="en-US" sz="2400" b="1" dirty="0"/>
              <a:t>Movement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C6C3D5-0188-D2CE-C8AB-51CE52E08629}"/>
              </a:ext>
            </a:extLst>
          </p:cNvPr>
          <p:cNvGrpSpPr/>
          <p:nvPr/>
        </p:nvGrpSpPr>
        <p:grpSpPr>
          <a:xfrm>
            <a:off x="5842357" y="2212954"/>
            <a:ext cx="4567428" cy="4134411"/>
            <a:chOff x="3595116" y="1717749"/>
            <a:chExt cx="5001768" cy="44310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2ADE30A-51AD-E09A-0469-EBF1DA997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378A0CB-EE72-9F07-928F-8E25D78778D5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4B9C3F-18DA-F919-BA48-0D53A9533CBE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ED9EAC-D101-2E71-8C17-006AC6FCAFED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92AC14-2F89-EF17-BFFF-9FB48C8009C3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288C8B-27CB-A7B0-99B8-FB3AECB862A9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F995A164-9196-FF77-5D75-D647979CF618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FA9392-C751-AB57-D9E0-3787DE08F907}"/>
              </a:ext>
            </a:extLst>
          </p:cNvPr>
          <p:cNvGrpSpPr/>
          <p:nvPr/>
        </p:nvGrpSpPr>
        <p:grpSpPr>
          <a:xfrm>
            <a:off x="822114" y="2212954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96354E5-7498-55D8-7E80-1F4309C75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19CC00-3660-E412-4BCB-28630BD2FAAE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9BC3B9F-8DF2-87F2-11AE-8A06F1E27FE2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05E468-653E-A4AA-3B72-13F037E54D5A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440A26-2913-8140-09BF-EE9549961044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F72F118-597E-81EB-EA14-12E894DB4798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8436FED7-0AFA-F916-83BD-1BCB66E5E5F7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F507FE4D-CC0C-F32A-6A2C-02F9745AD755}"/>
              </a:ext>
            </a:extLst>
          </p:cNvPr>
          <p:cNvSpPr/>
          <p:nvPr/>
        </p:nvSpPr>
        <p:spPr>
          <a:xfrm>
            <a:off x="1122901" y="2451306"/>
            <a:ext cx="1853184" cy="3329788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BC5CF83-572F-803B-6F35-8ECBA0DC688F}"/>
              </a:ext>
            </a:extLst>
          </p:cNvPr>
          <p:cNvSpPr/>
          <p:nvPr/>
        </p:nvSpPr>
        <p:spPr>
          <a:xfrm rot="3193980">
            <a:off x="3383479" y="3068876"/>
            <a:ext cx="1410934" cy="242256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21681AE-A1D9-4C7C-68C8-EB7E47846FE5}"/>
              </a:ext>
            </a:extLst>
          </p:cNvPr>
          <p:cNvSpPr/>
          <p:nvPr/>
        </p:nvSpPr>
        <p:spPr>
          <a:xfrm rot="20301145">
            <a:off x="6222398" y="3066404"/>
            <a:ext cx="1853184" cy="1415937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8ACC5E7-DE6C-9B51-CA35-0E32C7A3CFEC}"/>
              </a:ext>
            </a:extLst>
          </p:cNvPr>
          <p:cNvSpPr/>
          <p:nvPr/>
        </p:nvSpPr>
        <p:spPr>
          <a:xfrm rot="20301145">
            <a:off x="6372370" y="4494811"/>
            <a:ext cx="1853184" cy="1415937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9E29B91-4DE2-300A-1FC8-0EC2DF814320}"/>
              </a:ext>
            </a:extLst>
          </p:cNvPr>
          <p:cNvSpPr/>
          <p:nvPr/>
        </p:nvSpPr>
        <p:spPr>
          <a:xfrm rot="3193980">
            <a:off x="8386709" y="3139658"/>
            <a:ext cx="1410934" cy="242256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D3C985-6446-EF1D-9438-5C0ACB708D39}"/>
              </a:ext>
            </a:extLst>
          </p:cNvPr>
          <p:cNvSpPr txBox="1"/>
          <p:nvPr/>
        </p:nvSpPr>
        <p:spPr>
          <a:xfrm>
            <a:off x="1222347" y="1659389"/>
            <a:ext cx="371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Case 1</a:t>
            </a:r>
            <a:r>
              <a:rPr lang="en-US" sz="1400" dirty="0"/>
              <a:t>: 2 Sub-populations based upon overall movement exchange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FAF2CF-3406-A1D8-33F3-B4FB21BD1D27}"/>
              </a:ext>
            </a:extLst>
          </p:cNvPr>
          <p:cNvSpPr txBox="1"/>
          <p:nvPr/>
        </p:nvSpPr>
        <p:spPr>
          <a:xfrm>
            <a:off x="6451709" y="1659389"/>
            <a:ext cx="3348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Case 2</a:t>
            </a:r>
            <a:r>
              <a:rPr lang="en-US" sz="1400" dirty="0"/>
              <a:t>: 3 Sub-populations based upon seasonal movement exchange</a:t>
            </a:r>
          </a:p>
        </p:txBody>
      </p:sp>
    </p:spTree>
    <p:extLst>
      <p:ext uri="{BB962C8B-B14F-4D97-AF65-F5344CB8AC3E}">
        <p14:creationId xmlns:p14="http://schemas.microsoft.com/office/powerpoint/2010/main" val="176449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E990-198E-FBA4-AB4E-A09DBE64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7B0CCB-AAF4-C0D5-0E1D-041FF09A5A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24E39F-6230-5FC7-C3CB-3E6B042FAF1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E4F9B7-C2B3-46DB-013E-B36CDC042C38}"/>
              </a:ext>
            </a:extLst>
          </p:cNvPr>
          <p:cNvGrpSpPr/>
          <p:nvPr/>
        </p:nvGrpSpPr>
        <p:grpSpPr>
          <a:xfrm>
            <a:off x="3812286" y="1874287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7993062-EADD-EE26-1ED8-5F000BEFF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415E4B6-578B-EA6E-FF27-E3DB78CB055A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39F857-4DAC-E152-EF7E-F65DCE563350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D9F775-617F-AEBA-0837-9F9601B00846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9104F1-C3A5-FF1A-F508-4643440B38FD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153804-B9D8-B72C-3244-46FD7FB8EF62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AD35CA77-2627-ADD9-B8A2-CCA83B6899C8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156DA688-9DCD-F0BF-0067-0C8B9592505E}"/>
              </a:ext>
            </a:extLst>
          </p:cNvPr>
          <p:cNvSpPr/>
          <p:nvPr/>
        </p:nvSpPr>
        <p:spPr>
          <a:xfrm>
            <a:off x="5952588" y="3587484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96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2397-241F-7BF4-E9AD-50F10975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3AAE39-7740-E752-140B-2F95D07D50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732914-BBEB-3C5B-33CA-853D94F293A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 </a:t>
            </a:r>
            <a:r>
              <a:rPr lang="en-US" sz="2400" b="1" dirty="0"/>
              <a:t>Fishery data (Rebecca Howard)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1269B9-DD3D-E080-1953-AC4E8E6CA06A}"/>
              </a:ext>
            </a:extLst>
          </p:cNvPr>
          <p:cNvGrpSpPr/>
          <p:nvPr/>
        </p:nvGrpSpPr>
        <p:grpSpPr>
          <a:xfrm>
            <a:off x="344339" y="1820101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8682373-91F7-6BD0-B700-40F7E9B5E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0DAD96B-5A2E-D650-47FE-D003F0691C85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3327AE-ABFA-55B0-4D05-F9E4EE25FA05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9271482-A916-9831-DD21-2353E127B3FC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105396-7E6E-3487-C1CF-94BFB84369E6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D7B9B9-28EC-2698-CDDA-42759D3D4825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7A382B48-41EF-75FC-8D24-DE860602D0C3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60CA56C-74E7-3065-2AE5-4F4620D7330E}"/>
              </a:ext>
            </a:extLst>
          </p:cNvPr>
          <p:cNvSpPr/>
          <p:nvPr/>
        </p:nvSpPr>
        <p:spPr>
          <a:xfrm>
            <a:off x="2473212" y="3504823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44B700-7286-5912-C9C3-3D7307E25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379" y="2492508"/>
            <a:ext cx="3346082" cy="258726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821118-5EFE-EB91-3F48-56FF79BEC91B}"/>
              </a:ext>
            </a:extLst>
          </p:cNvPr>
          <p:cNvGrpSpPr/>
          <p:nvPr/>
        </p:nvGrpSpPr>
        <p:grpSpPr>
          <a:xfrm>
            <a:off x="8910450" y="1923042"/>
            <a:ext cx="2532559" cy="3752634"/>
            <a:chOff x="655018" y="45396"/>
            <a:chExt cx="4249429" cy="681260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0EC382-5856-D6EB-ECE8-856E98467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18" y="45396"/>
              <a:ext cx="4249429" cy="34318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34486FD-D59C-3F0B-FCAE-F40542932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18" y="3426145"/>
              <a:ext cx="4249429" cy="3431855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F0E04E-B3D1-AA00-5C22-A015288F7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5675" y="3788807"/>
              <a:ext cx="0" cy="2592943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54EADDB-61E9-B757-5B70-BD9D43FE2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4150" y="445532"/>
              <a:ext cx="0" cy="2592943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128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23FE-E63A-248C-2031-E1060D20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C8DBB4-3C8A-CC65-2F48-5A69DAA321D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01F4AD-BE1D-4B7E-5A75-F5CB6F2C61D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 </a:t>
            </a:r>
            <a:r>
              <a:rPr lang="en-US" sz="2400" b="1" dirty="0"/>
              <a:t>Tagging data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C3DC12-87B8-DABA-656A-F0C89D7D1980}"/>
              </a:ext>
            </a:extLst>
          </p:cNvPr>
          <p:cNvGrpSpPr/>
          <p:nvPr/>
        </p:nvGrpSpPr>
        <p:grpSpPr>
          <a:xfrm>
            <a:off x="344339" y="1820101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12CF07-1E98-605F-5097-BF2891BF5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0C265E-0387-C2C4-4F6B-98CE642FBF3D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FB98B4-D775-0122-DF9A-8AD9E6652F60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DA8F901-E179-6B86-3BA5-BB101E9D1E4B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7B329D-148B-2E82-55C7-24F4FF203F5D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139547-0494-62DA-A9E6-8385AAC87D67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2429A944-A50A-CF6D-1538-E08FDD599A10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0695AB32-2FD7-3772-C507-F23879C5735D}"/>
              </a:ext>
            </a:extLst>
          </p:cNvPr>
          <p:cNvSpPr/>
          <p:nvPr/>
        </p:nvSpPr>
        <p:spPr>
          <a:xfrm>
            <a:off x="2473212" y="3504823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770BD-375C-C907-A32C-53FDD2E6F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9" b="19789"/>
          <a:stretch>
            <a:fillRect/>
          </a:stretch>
        </p:blipFill>
        <p:spPr>
          <a:xfrm>
            <a:off x="5084628" y="1820101"/>
            <a:ext cx="6842493" cy="41344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865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C664-2E4A-60C8-6816-16AC3E88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F7272D-A8D7-F0A0-5886-2289D9FE3B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41D5F-5025-055D-E435-3D3DF28FD1F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 </a:t>
            </a:r>
            <a:r>
              <a:rPr lang="en-US" sz="2400" b="1" dirty="0"/>
              <a:t>Tagging data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8452E8-35AB-43F4-9069-1601574A5E49}"/>
              </a:ext>
            </a:extLst>
          </p:cNvPr>
          <p:cNvGrpSpPr/>
          <p:nvPr/>
        </p:nvGrpSpPr>
        <p:grpSpPr>
          <a:xfrm>
            <a:off x="344339" y="1820101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C69153B-A9B4-42A4-64A6-D81EB8C3E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27DD83-500E-4007-22E7-DE475DB50CA5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91B87D-4127-4AD6-C71D-77D9DCD17CC9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0B51CF-5D3C-E3D6-D32B-B36870F6D693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A694E5-B5CC-306A-2946-5439D77DFEE4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B4B4839-D0F7-8739-4E5B-EEC66FED707E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E3D4F02B-7665-6583-E8AB-4B7C369A340D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133EA66-4426-9836-9352-F90F389D9053}"/>
              </a:ext>
            </a:extLst>
          </p:cNvPr>
          <p:cNvSpPr/>
          <p:nvPr/>
        </p:nvSpPr>
        <p:spPr>
          <a:xfrm>
            <a:off x="2473212" y="3504823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DEFA22-42F5-1F0C-8751-198D4A2E84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9" b="19789"/>
          <a:stretch>
            <a:fillRect/>
          </a:stretch>
        </p:blipFill>
        <p:spPr>
          <a:xfrm>
            <a:off x="5100785" y="1820101"/>
            <a:ext cx="6858000" cy="4143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858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0CB1-CC01-FAAA-C0B5-652C8223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7771B-31B4-02DB-E0FC-9D994527AA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517A47-30BC-7F0E-253B-22ED5498DBC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 </a:t>
            </a:r>
            <a:r>
              <a:rPr lang="en-US" sz="2400" b="1" dirty="0"/>
              <a:t>Tagging data</a:t>
            </a:r>
            <a:endParaRPr lang="en-US" sz="2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FEF2B2-237B-D2D9-095B-AED2920408CE}"/>
              </a:ext>
            </a:extLst>
          </p:cNvPr>
          <p:cNvGrpSpPr/>
          <p:nvPr/>
        </p:nvGrpSpPr>
        <p:grpSpPr>
          <a:xfrm>
            <a:off x="344339" y="1820101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6CEED5A-E14F-C159-69BA-259464E25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1E3BEB-6923-D4AD-4BC5-22CBCB2AFFDB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BB33394-F593-12A7-64D3-2B1AE59CB28E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AA935F-C017-8039-6EFA-A92382D57976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4992706-17DD-2904-51F5-57C2D115B1D7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DD7E8F-2691-FCB6-87E5-A9823B64A85D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39448FFA-0D58-3392-EE67-05A77A329DD3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527DD630-90DD-519F-DBBE-5ADDF042A34C}"/>
              </a:ext>
            </a:extLst>
          </p:cNvPr>
          <p:cNvSpPr/>
          <p:nvPr/>
        </p:nvSpPr>
        <p:spPr>
          <a:xfrm>
            <a:off x="2473212" y="3504823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E9B3E-AAAB-7EB8-5B8C-34C83B344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8" b="19926"/>
          <a:stretch>
            <a:fillRect/>
          </a:stretch>
        </p:blipFill>
        <p:spPr>
          <a:xfrm>
            <a:off x="5100785" y="1820100"/>
            <a:ext cx="6858000" cy="41344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272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9A92F-F3EE-77F0-D327-A60B1FC4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52323A-8D57-860E-7C39-9338E0A5F3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set 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07D6AC-DBD2-C792-CE09-C1E2108B392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184833"/>
            <a:ext cx="640247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Where do we draw the lines?</a:t>
            </a:r>
          </a:p>
          <a:p>
            <a:r>
              <a:rPr lang="en-US" sz="2400" dirty="0"/>
              <a:t>Hard to know what to do with 620, and where to draw line defining the edge of the Central GOA sub-populations</a:t>
            </a:r>
          </a:p>
          <a:p>
            <a:r>
              <a:rPr lang="en-US" sz="2400" dirty="0"/>
              <a:t>2 cases for defining regions:</a:t>
            </a:r>
          </a:p>
          <a:p>
            <a:pPr lvl="1"/>
            <a:r>
              <a:rPr lang="en-US" sz="2200" dirty="0"/>
              <a:t>Case 1: Define 620 &amp; 630 as Central GOA, 610 as Western GOA (status quo)</a:t>
            </a:r>
          </a:p>
          <a:p>
            <a:pPr lvl="1"/>
            <a:r>
              <a:rPr lang="en-US" sz="2200" dirty="0"/>
              <a:t>Case 2: Define 630 as Central GOA, 610 &amp; 620 as Western GOA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D52927-B740-836B-5B86-F366C1B20BC6}"/>
              </a:ext>
            </a:extLst>
          </p:cNvPr>
          <p:cNvGrpSpPr/>
          <p:nvPr/>
        </p:nvGrpSpPr>
        <p:grpSpPr>
          <a:xfrm>
            <a:off x="7083805" y="1806554"/>
            <a:ext cx="4567428" cy="4134411"/>
            <a:chOff x="3595116" y="1717749"/>
            <a:chExt cx="5001768" cy="443109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6A312FC-AA71-53E2-32F6-2F71BA96C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0F2B7BF-02ED-1BEA-CC9F-86A42A9E0441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711436-16B4-E86A-4318-FBFF8552FA8B}"/>
                </a:ext>
              </a:extLst>
            </p:cNvPr>
            <p:cNvSpPr txBox="1"/>
            <p:nvPr/>
          </p:nvSpPr>
          <p:spPr>
            <a:xfrm>
              <a:off x="4877994" y="4667326"/>
              <a:ext cx="74892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0801CCD-FC0B-824F-7FBE-9B26D2A506DA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2B20B2-31B0-376B-C8C3-81CF97A7F706}"/>
                </a:ext>
              </a:extLst>
            </p:cNvPr>
            <p:cNvSpPr txBox="1"/>
            <p:nvPr/>
          </p:nvSpPr>
          <p:spPr>
            <a:xfrm>
              <a:off x="6226954" y="4162736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6E834E-6FA9-70F4-C575-64C82BD0E2D4}"/>
                </a:ext>
              </a:extLst>
            </p:cNvPr>
            <p:cNvSpPr txBox="1"/>
            <p:nvPr/>
          </p:nvSpPr>
          <p:spPr>
            <a:xfrm>
              <a:off x="7377550" y="3538957"/>
              <a:ext cx="47320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29E9405B-02C8-0D12-73C9-20F6297095E9}"/>
                </a:ext>
              </a:extLst>
            </p:cNvPr>
            <p:cNvSpPr/>
            <p:nvPr/>
          </p:nvSpPr>
          <p:spPr>
            <a:xfrm rot="3470843">
              <a:off x="7048015" y="4035806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AB2610B7-5459-E851-181C-E263852FF6FB}"/>
              </a:ext>
            </a:extLst>
          </p:cNvPr>
          <p:cNvSpPr/>
          <p:nvPr/>
        </p:nvSpPr>
        <p:spPr>
          <a:xfrm>
            <a:off x="9224107" y="3580348"/>
            <a:ext cx="980045" cy="157495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CF14-3550-77AD-E211-D05A8D2A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AB5CE5-2707-78B4-D6B4-5426B9F2CF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16942F-080D-5D45-7A20-C4493434F6D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Combination of 4 cases: 2 sub-population x 2 regional</a:t>
            </a:r>
            <a:endParaRPr lang="en-US" sz="2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B36852-8E73-3BD0-6815-AA3E80C030B5}"/>
              </a:ext>
            </a:extLst>
          </p:cNvPr>
          <p:cNvGrpSpPr/>
          <p:nvPr/>
        </p:nvGrpSpPr>
        <p:grpSpPr>
          <a:xfrm>
            <a:off x="100137" y="2016527"/>
            <a:ext cx="3032040" cy="2474194"/>
            <a:chOff x="3595116" y="1717749"/>
            <a:chExt cx="5001768" cy="44310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59B65E9-800A-AEF7-F282-40928F587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31DF74-9826-8C3D-CD2E-C38000164237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15920B-E532-5085-214A-7521069F7921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3371E5-4948-F43E-BF3F-D4D04B8E5EEF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3FB052-E151-6DCE-33CD-6E40C93ACDDA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E3E85F-BB08-A063-5F3E-A007FB8F802C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9E809B78-31DF-70DB-0D34-E49168454250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7E6A74C3-B343-35FB-A986-8E399888AFF2}"/>
              </a:ext>
            </a:extLst>
          </p:cNvPr>
          <p:cNvSpPr/>
          <p:nvPr/>
        </p:nvSpPr>
        <p:spPr>
          <a:xfrm rot="21123598">
            <a:off x="463424" y="2075280"/>
            <a:ext cx="1004473" cy="2216279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C28BC5-23CF-C4CA-A791-C5FDF7BEC3AB}"/>
              </a:ext>
            </a:extLst>
          </p:cNvPr>
          <p:cNvSpPr/>
          <p:nvPr/>
        </p:nvSpPr>
        <p:spPr>
          <a:xfrm rot="3534554">
            <a:off x="1712378" y="2627709"/>
            <a:ext cx="878592" cy="150033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735DF67-734B-68E4-E35F-242E3240A906}"/>
              </a:ext>
            </a:extLst>
          </p:cNvPr>
          <p:cNvSpPr/>
          <p:nvPr/>
        </p:nvSpPr>
        <p:spPr>
          <a:xfrm>
            <a:off x="366809" y="2287913"/>
            <a:ext cx="980045" cy="127174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B6CEDE-5C67-E46B-21D3-A44A3C532109}"/>
              </a:ext>
            </a:extLst>
          </p:cNvPr>
          <p:cNvSpPr/>
          <p:nvPr/>
        </p:nvSpPr>
        <p:spPr>
          <a:xfrm>
            <a:off x="602628" y="3379783"/>
            <a:ext cx="980045" cy="962395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CD9C77-B77E-1141-1C3F-D3E5DF2EC9D6}"/>
              </a:ext>
            </a:extLst>
          </p:cNvPr>
          <p:cNvSpPr/>
          <p:nvPr/>
        </p:nvSpPr>
        <p:spPr>
          <a:xfrm rot="19879802">
            <a:off x="1474232" y="2970507"/>
            <a:ext cx="1354884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A6ADFB-83CD-58AA-1C14-979D33DA9CB6}"/>
              </a:ext>
            </a:extLst>
          </p:cNvPr>
          <p:cNvGrpSpPr/>
          <p:nvPr/>
        </p:nvGrpSpPr>
        <p:grpSpPr>
          <a:xfrm>
            <a:off x="2987672" y="3559654"/>
            <a:ext cx="3032040" cy="2474194"/>
            <a:chOff x="3595116" y="1717749"/>
            <a:chExt cx="5001768" cy="443109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955F69E-1D76-7FEC-F6BD-93D2725A3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D3059D-8690-B1FA-64C2-802DACE25F87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69C5E1-4A2A-CF1F-21B4-AD1844854E4D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B9A93B-54A6-0800-E6C7-432164D37832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0045BD-7E40-C5FF-DAE7-52747A071CF2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3F49A6E-DDAD-D6C0-0910-F80EEB82F2CD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F7E450AE-01BE-1130-CF53-1DDE6E205A9A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90320C-FC50-F419-723A-42C8AB5E7FC1}"/>
              </a:ext>
            </a:extLst>
          </p:cNvPr>
          <p:cNvGrpSpPr/>
          <p:nvPr/>
        </p:nvGrpSpPr>
        <p:grpSpPr>
          <a:xfrm>
            <a:off x="5875206" y="2016527"/>
            <a:ext cx="3032040" cy="2474194"/>
            <a:chOff x="3595116" y="1717749"/>
            <a:chExt cx="5001768" cy="44310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1633A89-935D-AC57-AAAC-C310C76B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84784E-CBA1-DE03-A2CB-78E6E0D7E4D8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5D22BB5-51D1-5010-BF49-BDD53F677446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C18D607-DDF1-08C4-5FA0-40DE5D844922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71E902-C0D1-5FD2-2DD5-1C0002964488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97FCA6-E76E-2531-F0F8-D0C97DADC37C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A16C6AA7-DC6A-E383-282D-B778AAC2BFF4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BC93BC-20A9-25CF-F519-D8EF25E7008B}"/>
              </a:ext>
            </a:extLst>
          </p:cNvPr>
          <p:cNvGrpSpPr/>
          <p:nvPr/>
        </p:nvGrpSpPr>
        <p:grpSpPr>
          <a:xfrm>
            <a:off x="8737747" y="3559654"/>
            <a:ext cx="3032040" cy="2474194"/>
            <a:chOff x="3595116" y="1717749"/>
            <a:chExt cx="5001768" cy="4431098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3F5B956C-D636-0062-C581-7035093CD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0E9A6E-FB5F-8A58-C32F-C15C3132D92F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5E994B4-DEEF-0D7F-EADF-C0A92FF8EC85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CA0A943-79F9-FC2D-6053-ABA1F1860874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B6B1C3-B5A0-B7DA-731A-A509DB6E72F5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BADCA91-D191-307F-9361-24B5855738AD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52" name="Right Brace 51">
              <a:extLst>
                <a:ext uri="{FF2B5EF4-FFF2-40B4-BE49-F238E27FC236}">
                  <a16:creationId xmlns:a16="http://schemas.microsoft.com/office/drawing/2014/main" id="{A2E00F8E-33A4-A3FB-6543-A3BA31349CAD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A2CE2F22-E197-2CF9-10BF-6EEF93013F7F}"/>
              </a:ext>
            </a:extLst>
          </p:cNvPr>
          <p:cNvSpPr/>
          <p:nvPr/>
        </p:nvSpPr>
        <p:spPr>
          <a:xfrm rot="21123598">
            <a:off x="3381262" y="3575837"/>
            <a:ext cx="1620818" cy="2216279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6CD1885-41BB-6802-E550-A4A48A975C4C}"/>
              </a:ext>
            </a:extLst>
          </p:cNvPr>
          <p:cNvSpPr/>
          <p:nvPr/>
        </p:nvSpPr>
        <p:spPr>
          <a:xfrm rot="3534554">
            <a:off x="4998767" y="4288622"/>
            <a:ext cx="878592" cy="896805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17039F8-DDF5-D5C5-27AD-34B9D0AC133B}"/>
              </a:ext>
            </a:extLst>
          </p:cNvPr>
          <p:cNvSpPr/>
          <p:nvPr/>
        </p:nvSpPr>
        <p:spPr>
          <a:xfrm>
            <a:off x="3287601" y="3831040"/>
            <a:ext cx="980045" cy="127174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193C88C-6727-4A0F-F5C9-7FA9D8CE7C3A}"/>
              </a:ext>
            </a:extLst>
          </p:cNvPr>
          <p:cNvSpPr/>
          <p:nvPr/>
        </p:nvSpPr>
        <p:spPr>
          <a:xfrm rot="20181641">
            <a:off x="3555394" y="4843124"/>
            <a:ext cx="1539220" cy="787886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5526DE2-880A-DA43-972F-D2D2111E5709}"/>
              </a:ext>
            </a:extLst>
          </p:cNvPr>
          <p:cNvSpPr/>
          <p:nvPr/>
        </p:nvSpPr>
        <p:spPr>
          <a:xfrm rot="19879802">
            <a:off x="5061527" y="4365214"/>
            <a:ext cx="711586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F1AAEC1-6527-4837-4D29-3773C13F5BD0}"/>
              </a:ext>
            </a:extLst>
          </p:cNvPr>
          <p:cNvSpPr/>
          <p:nvPr/>
        </p:nvSpPr>
        <p:spPr>
          <a:xfrm rot="21123598">
            <a:off x="6181349" y="2133610"/>
            <a:ext cx="1004473" cy="1305440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C0D483C-27ED-5F3C-A2A3-CF72D42E34CA}"/>
              </a:ext>
            </a:extLst>
          </p:cNvPr>
          <p:cNvSpPr/>
          <p:nvPr/>
        </p:nvSpPr>
        <p:spPr>
          <a:xfrm rot="3534554">
            <a:off x="7553829" y="2619282"/>
            <a:ext cx="878592" cy="150033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23E77D67-6F08-F309-2D04-DEFEB6645413}"/>
              </a:ext>
            </a:extLst>
          </p:cNvPr>
          <p:cNvSpPr/>
          <p:nvPr/>
        </p:nvSpPr>
        <p:spPr>
          <a:xfrm>
            <a:off x="6260757" y="2195918"/>
            <a:ext cx="839087" cy="118082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BAFD4CA-CABD-CA8C-6854-CF574AA068D3}"/>
              </a:ext>
            </a:extLst>
          </p:cNvPr>
          <p:cNvSpPr/>
          <p:nvPr/>
        </p:nvSpPr>
        <p:spPr>
          <a:xfrm>
            <a:off x="6444079" y="3371356"/>
            <a:ext cx="980045" cy="962395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AC9DAF7-F70A-F842-7EC9-FB491E7CB310}"/>
              </a:ext>
            </a:extLst>
          </p:cNvPr>
          <p:cNvSpPr/>
          <p:nvPr/>
        </p:nvSpPr>
        <p:spPr>
          <a:xfrm rot="19879802">
            <a:off x="7315683" y="2962080"/>
            <a:ext cx="1354884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4925075-EBF9-347D-929C-B460C032B8B9}"/>
              </a:ext>
            </a:extLst>
          </p:cNvPr>
          <p:cNvSpPr/>
          <p:nvPr/>
        </p:nvSpPr>
        <p:spPr>
          <a:xfrm rot="21123598">
            <a:off x="6347846" y="3351036"/>
            <a:ext cx="1097421" cy="1119778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DE36D5C-F7C9-002D-12C4-ECEDEAAE4BC8}"/>
              </a:ext>
            </a:extLst>
          </p:cNvPr>
          <p:cNvSpPr/>
          <p:nvPr/>
        </p:nvSpPr>
        <p:spPr>
          <a:xfrm rot="3534554">
            <a:off x="10702021" y="4246559"/>
            <a:ext cx="878592" cy="949445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CF08EC3-1344-2D57-4654-95E5FC4114E0}"/>
              </a:ext>
            </a:extLst>
          </p:cNvPr>
          <p:cNvSpPr/>
          <p:nvPr/>
        </p:nvSpPr>
        <p:spPr>
          <a:xfrm rot="21123598">
            <a:off x="9128292" y="3681031"/>
            <a:ext cx="1004473" cy="1305440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4A36FE1-2B3B-4A00-CF9E-F36AFA62EB8B}"/>
              </a:ext>
            </a:extLst>
          </p:cNvPr>
          <p:cNvSpPr/>
          <p:nvPr/>
        </p:nvSpPr>
        <p:spPr>
          <a:xfrm>
            <a:off x="9207700" y="3743339"/>
            <a:ext cx="839087" cy="118082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E9E8F14-34AC-D1D8-28D2-41D06D99BC39}"/>
              </a:ext>
            </a:extLst>
          </p:cNvPr>
          <p:cNvSpPr/>
          <p:nvPr/>
        </p:nvSpPr>
        <p:spPr>
          <a:xfrm rot="20181641">
            <a:off x="9250779" y="4860582"/>
            <a:ext cx="1539220" cy="787886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62A7E1F-01D0-DEC0-B5AE-E5473C0B7765}"/>
              </a:ext>
            </a:extLst>
          </p:cNvPr>
          <p:cNvSpPr/>
          <p:nvPr/>
        </p:nvSpPr>
        <p:spPr>
          <a:xfrm rot="19879802">
            <a:off x="10782640" y="4362955"/>
            <a:ext cx="711586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0A19A09-B973-98E2-0D77-CF3CBC3B36AC}"/>
              </a:ext>
            </a:extLst>
          </p:cNvPr>
          <p:cNvSpPr/>
          <p:nvPr/>
        </p:nvSpPr>
        <p:spPr>
          <a:xfrm rot="3907502">
            <a:off x="9598743" y="4404481"/>
            <a:ext cx="878592" cy="1732778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0E5FE5-B8AA-1671-CCBB-E0A1AD741217}"/>
              </a:ext>
            </a:extLst>
          </p:cNvPr>
          <p:cNvSpPr txBox="1"/>
          <p:nvPr/>
        </p:nvSpPr>
        <p:spPr>
          <a:xfrm>
            <a:off x="3581237" y="2263173"/>
            <a:ext cx="1798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2 sub-</a:t>
            </a:r>
            <a:r>
              <a:rPr lang="en-US" sz="2100" dirty="0" err="1"/>
              <a:t>pop’n</a:t>
            </a:r>
            <a:r>
              <a:rPr lang="en-US" sz="2100" dirty="0"/>
              <a:t>, 3 region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A78BA6E-185E-3120-A4DF-5E6ED8B651D0}"/>
              </a:ext>
            </a:extLst>
          </p:cNvPr>
          <p:cNvSpPr txBox="1"/>
          <p:nvPr/>
        </p:nvSpPr>
        <p:spPr>
          <a:xfrm>
            <a:off x="9464147" y="2287913"/>
            <a:ext cx="1798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3 sub-</a:t>
            </a:r>
            <a:r>
              <a:rPr lang="en-US" sz="2100" dirty="0" err="1"/>
              <a:t>pop’n</a:t>
            </a:r>
            <a:r>
              <a:rPr lang="en-US" sz="2100" dirty="0"/>
              <a:t>, 3 region</a:t>
            </a:r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3276E6B4-AE8E-4145-80AA-8F3850241A39}"/>
              </a:ext>
            </a:extLst>
          </p:cNvPr>
          <p:cNvSpPr/>
          <p:nvPr/>
        </p:nvSpPr>
        <p:spPr>
          <a:xfrm rot="5400000">
            <a:off x="4134445" y="3136506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27F97CBD-80E6-2775-1036-63F66809950F}"/>
              </a:ext>
            </a:extLst>
          </p:cNvPr>
          <p:cNvSpPr/>
          <p:nvPr/>
        </p:nvSpPr>
        <p:spPr>
          <a:xfrm rot="10800000">
            <a:off x="3174112" y="2528615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D8B3B079-6265-9B69-49A7-C0967A2174B0}"/>
              </a:ext>
            </a:extLst>
          </p:cNvPr>
          <p:cNvSpPr/>
          <p:nvPr/>
        </p:nvSpPr>
        <p:spPr>
          <a:xfrm rot="10800000">
            <a:off x="8985951" y="2553355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row: Right 115">
            <a:extLst>
              <a:ext uri="{FF2B5EF4-FFF2-40B4-BE49-F238E27FC236}">
                <a16:creationId xmlns:a16="http://schemas.microsoft.com/office/drawing/2014/main" id="{D6718BDC-7A67-6471-BE98-E8D95CE63E64}"/>
              </a:ext>
            </a:extLst>
          </p:cNvPr>
          <p:cNvSpPr/>
          <p:nvPr/>
        </p:nvSpPr>
        <p:spPr>
          <a:xfrm rot="5400000">
            <a:off x="9942183" y="3190142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0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4AC8-FC42-EA77-C4C2-ED91918A5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165154-C239-6F87-5F87-6FC21308E1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Model/Data scenarios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71114D-AEB0-0470-0B49-DDC71B1B8E1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Combination of 4 cases: 2 sub-population x 2 regional</a:t>
            </a:r>
            <a:endParaRPr lang="en-US" sz="2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3723B6-A8EC-0DB7-A0B9-37A203B2E8F3}"/>
              </a:ext>
            </a:extLst>
          </p:cNvPr>
          <p:cNvGrpSpPr/>
          <p:nvPr/>
        </p:nvGrpSpPr>
        <p:grpSpPr>
          <a:xfrm>
            <a:off x="100137" y="2016527"/>
            <a:ext cx="3032040" cy="2474194"/>
            <a:chOff x="3595116" y="1717749"/>
            <a:chExt cx="5001768" cy="44310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F08783-0D07-E888-9D14-FD7836838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37DD9F-41D4-8132-11D5-7C7F81260A9E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BEF048-A845-AA32-D086-6C0F75778B2C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71F1F42-BA78-0B73-5C68-013F91B1C35C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6AEF01-FAD8-196C-4114-A8409EED6FA8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62AB0B-320C-4DF8-4BAC-CA9B4BFAB356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D3F7E615-920A-6EF8-F657-C9757C0B0FFB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3B107941-E4E2-175A-4295-8D566E53583A}"/>
              </a:ext>
            </a:extLst>
          </p:cNvPr>
          <p:cNvSpPr/>
          <p:nvPr/>
        </p:nvSpPr>
        <p:spPr>
          <a:xfrm rot="21123598">
            <a:off x="463424" y="2075280"/>
            <a:ext cx="1004473" cy="2216279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CA2C40-2AF7-EF50-D140-391314E9EC92}"/>
              </a:ext>
            </a:extLst>
          </p:cNvPr>
          <p:cNvSpPr/>
          <p:nvPr/>
        </p:nvSpPr>
        <p:spPr>
          <a:xfrm rot="3534554">
            <a:off x="1712378" y="2627709"/>
            <a:ext cx="878592" cy="150033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6DC3247-45A6-0769-0016-4FBA070F3D03}"/>
              </a:ext>
            </a:extLst>
          </p:cNvPr>
          <p:cNvSpPr/>
          <p:nvPr/>
        </p:nvSpPr>
        <p:spPr>
          <a:xfrm>
            <a:off x="366809" y="2287913"/>
            <a:ext cx="980045" cy="127174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AE25067-ECA2-86B9-8DB1-A43B6711E194}"/>
              </a:ext>
            </a:extLst>
          </p:cNvPr>
          <p:cNvSpPr/>
          <p:nvPr/>
        </p:nvSpPr>
        <p:spPr>
          <a:xfrm>
            <a:off x="602628" y="3379783"/>
            <a:ext cx="980045" cy="962395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CD698B-3040-CDE8-3B8F-1B34C1A5548A}"/>
              </a:ext>
            </a:extLst>
          </p:cNvPr>
          <p:cNvSpPr/>
          <p:nvPr/>
        </p:nvSpPr>
        <p:spPr>
          <a:xfrm rot="19879802">
            <a:off x="1474232" y="2970507"/>
            <a:ext cx="1354884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EF1B30-D8C8-AFC7-6960-E88F7E48B288}"/>
              </a:ext>
            </a:extLst>
          </p:cNvPr>
          <p:cNvGrpSpPr/>
          <p:nvPr/>
        </p:nvGrpSpPr>
        <p:grpSpPr>
          <a:xfrm>
            <a:off x="2987672" y="3559654"/>
            <a:ext cx="3032040" cy="2474194"/>
            <a:chOff x="3595116" y="1717749"/>
            <a:chExt cx="5001768" cy="443109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97E06D1-1F31-A13C-1F7C-A18862D29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583CF4-863E-6DDD-BE67-350D98ADB4C8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050EF0-3852-7F94-44B0-DB837A644A7B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84646CB-86AC-2DBF-D635-3DB4748DBA69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09FCF7-1A51-2997-BE10-60B06FD97C86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0D045B2-9031-DFEF-F156-29581A3B14C8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2434F765-72C8-D484-9670-973FD50E3061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24E63D-533E-674F-E98C-5A37C53CC7DC}"/>
              </a:ext>
            </a:extLst>
          </p:cNvPr>
          <p:cNvGrpSpPr/>
          <p:nvPr/>
        </p:nvGrpSpPr>
        <p:grpSpPr>
          <a:xfrm>
            <a:off x="5875206" y="2016527"/>
            <a:ext cx="3032040" cy="2474194"/>
            <a:chOff x="3595116" y="1717749"/>
            <a:chExt cx="5001768" cy="443109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1217C9F-19FF-2B9C-43F4-4D671B341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49C609-EF5E-C754-C3E3-CFCA55B44F2C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FB062F-EEA9-7F0C-F8DA-7FE17921B108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D1A659A-CA7C-9BCD-DC70-BB2D7A0C96BC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E86C03-9D5F-3EEA-3DF0-C2F0D97B1C58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DDB180-6800-8D70-32A5-C37D79152B76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0CDA257B-7164-0171-B31A-9C63D6A6DA75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5948C0-034C-B5D4-231E-F621CE4E9DF7}"/>
              </a:ext>
            </a:extLst>
          </p:cNvPr>
          <p:cNvGrpSpPr/>
          <p:nvPr/>
        </p:nvGrpSpPr>
        <p:grpSpPr>
          <a:xfrm>
            <a:off x="8737747" y="3559654"/>
            <a:ext cx="3032040" cy="2474194"/>
            <a:chOff x="3595116" y="1717749"/>
            <a:chExt cx="5001768" cy="4431098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02E0038-5D8C-085F-67D6-5852BE2F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73" b="4436"/>
            <a:stretch>
              <a:fillRect/>
            </a:stretch>
          </p:blipFill>
          <p:spPr>
            <a:xfrm>
              <a:off x="3595116" y="1717749"/>
              <a:ext cx="5001768" cy="443109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662B72F-0973-523E-CE0D-62E850D2CA4F}"/>
                </a:ext>
              </a:extLst>
            </p:cNvPr>
            <p:cNvSpPr txBox="1"/>
            <p:nvPr/>
          </p:nvSpPr>
          <p:spPr>
            <a:xfrm>
              <a:off x="4708717" y="3192538"/>
              <a:ext cx="5437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EBS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0AEA81-C673-BB69-6FB5-B03981B2655A}"/>
                </a:ext>
              </a:extLst>
            </p:cNvPr>
            <p:cNvSpPr txBox="1"/>
            <p:nvPr/>
          </p:nvSpPr>
          <p:spPr>
            <a:xfrm>
              <a:off x="4532839" y="4670692"/>
              <a:ext cx="74892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WGOA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0FA3405-E7B3-0A35-FEDF-8F9847E43619}"/>
                </a:ext>
              </a:extLst>
            </p:cNvPr>
            <p:cNvSpPr txBox="1"/>
            <p:nvPr/>
          </p:nvSpPr>
          <p:spPr>
            <a:xfrm>
              <a:off x="7146717" y="5241859"/>
              <a:ext cx="704039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CGOA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3A63BE7-8BF9-A642-93C9-99FA7124352A}"/>
                </a:ext>
              </a:extLst>
            </p:cNvPr>
            <p:cNvSpPr txBox="1"/>
            <p:nvPr/>
          </p:nvSpPr>
          <p:spPr>
            <a:xfrm>
              <a:off x="6096000" y="4033135"/>
              <a:ext cx="4732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620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BE3509A-E8AF-9C71-63D6-0C68D03F9053}"/>
                </a:ext>
              </a:extLst>
            </p:cNvPr>
            <p:cNvSpPr txBox="1"/>
            <p:nvPr/>
          </p:nvSpPr>
          <p:spPr>
            <a:xfrm flipH="1">
              <a:off x="7146717" y="3664586"/>
              <a:ext cx="940411" cy="537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630</a:t>
              </a:r>
            </a:p>
          </p:txBody>
        </p:sp>
        <p:sp>
          <p:nvSpPr>
            <p:cNvPr id="52" name="Right Brace 51">
              <a:extLst>
                <a:ext uri="{FF2B5EF4-FFF2-40B4-BE49-F238E27FC236}">
                  <a16:creationId xmlns:a16="http://schemas.microsoft.com/office/drawing/2014/main" id="{E91F0F3D-44F8-C475-D44C-10BEB79069D6}"/>
                </a:ext>
              </a:extLst>
            </p:cNvPr>
            <p:cNvSpPr/>
            <p:nvPr/>
          </p:nvSpPr>
          <p:spPr>
            <a:xfrm rot="3798570">
              <a:off x="7048014" y="4035805"/>
              <a:ext cx="518160" cy="1850983"/>
            </a:xfrm>
            <a:prstGeom prst="rightBrace">
              <a:avLst>
                <a:gd name="adj1" fmla="val 87315"/>
                <a:gd name="adj2" fmla="val 505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0557F947-86EB-3BDF-02C1-345A90792BDC}"/>
              </a:ext>
            </a:extLst>
          </p:cNvPr>
          <p:cNvSpPr/>
          <p:nvPr/>
        </p:nvSpPr>
        <p:spPr>
          <a:xfrm rot="21123598">
            <a:off x="3381262" y="3575837"/>
            <a:ext cx="1620818" cy="2216279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3132A77-623C-5569-8A81-2CF6F9C1703E}"/>
              </a:ext>
            </a:extLst>
          </p:cNvPr>
          <p:cNvSpPr/>
          <p:nvPr/>
        </p:nvSpPr>
        <p:spPr>
          <a:xfrm rot="3534554">
            <a:off x="4998767" y="4288622"/>
            <a:ext cx="878592" cy="896805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FA6882F-9880-039E-80F4-518CC4FE3A4D}"/>
              </a:ext>
            </a:extLst>
          </p:cNvPr>
          <p:cNvSpPr/>
          <p:nvPr/>
        </p:nvSpPr>
        <p:spPr>
          <a:xfrm>
            <a:off x="3287601" y="3831040"/>
            <a:ext cx="980045" cy="127174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322CD92-9AFB-58D4-D3D8-EFD855335415}"/>
              </a:ext>
            </a:extLst>
          </p:cNvPr>
          <p:cNvSpPr/>
          <p:nvPr/>
        </p:nvSpPr>
        <p:spPr>
          <a:xfrm rot="20181641">
            <a:off x="3555394" y="4843124"/>
            <a:ext cx="1539220" cy="787886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D2B576F-2B24-70A5-58D8-228D14A4065C}"/>
              </a:ext>
            </a:extLst>
          </p:cNvPr>
          <p:cNvSpPr/>
          <p:nvPr/>
        </p:nvSpPr>
        <p:spPr>
          <a:xfrm rot="19879802">
            <a:off x="5061527" y="4365214"/>
            <a:ext cx="711586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B5668DB-DAEA-B8D2-893E-BAAC18BB9916}"/>
              </a:ext>
            </a:extLst>
          </p:cNvPr>
          <p:cNvSpPr/>
          <p:nvPr/>
        </p:nvSpPr>
        <p:spPr>
          <a:xfrm rot="21123598">
            <a:off x="6181349" y="2133610"/>
            <a:ext cx="1004473" cy="1305440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D8F655C-66E1-7062-450F-EA92803F2C01}"/>
              </a:ext>
            </a:extLst>
          </p:cNvPr>
          <p:cNvSpPr/>
          <p:nvPr/>
        </p:nvSpPr>
        <p:spPr>
          <a:xfrm rot="3534554">
            <a:off x="7553829" y="2619282"/>
            <a:ext cx="878592" cy="1500333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E4CBE9E-BFDD-D63F-A54A-8782827A7249}"/>
              </a:ext>
            </a:extLst>
          </p:cNvPr>
          <p:cNvSpPr/>
          <p:nvPr/>
        </p:nvSpPr>
        <p:spPr>
          <a:xfrm>
            <a:off x="6260757" y="2195918"/>
            <a:ext cx="839087" cy="118082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7F2CC04-24C2-7109-1207-3AA829B961DE}"/>
              </a:ext>
            </a:extLst>
          </p:cNvPr>
          <p:cNvSpPr/>
          <p:nvPr/>
        </p:nvSpPr>
        <p:spPr>
          <a:xfrm>
            <a:off x="6444079" y="3371356"/>
            <a:ext cx="980045" cy="962395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C095E4D-8312-D24A-4D51-ED3172998D7A}"/>
              </a:ext>
            </a:extLst>
          </p:cNvPr>
          <p:cNvSpPr/>
          <p:nvPr/>
        </p:nvSpPr>
        <p:spPr>
          <a:xfrm rot="19879802">
            <a:off x="7315683" y="2962080"/>
            <a:ext cx="1354884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AE02074E-FEC3-2D51-271B-CC21ACC7B90E}"/>
              </a:ext>
            </a:extLst>
          </p:cNvPr>
          <p:cNvSpPr/>
          <p:nvPr/>
        </p:nvSpPr>
        <p:spPr>
          <a:xfrm rot="21123598">
            <a:off x="6347846" y="3351036"/>
            <a:ext cx="1097421" cy="1119778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35209D6-248C-9B9A-7134-AB104FC6CAD0}"/>
              </a:ext>
            </a:extLst>
          </p:cNvPr>
          <p:cNvSpPr/>
          <p:nvPr/>
        </p:nvSpPr>
        <p:spPr>
          <a:xfrm rot="3534554">
            <a:off x="10702021" y="4246559"/>
            <a:ext cx="878592" cy="949445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53B1FE1-186E-A50C-6974-492EC9E98626}"/>
              </a:ext>
            </a:extLst>
          </p:cNvPr>
          <p:cNvSpPr/>
          <p:nvPr/>
        </p:nvSpPr>
        <p:spPr>
          <a:xfrm rot="21123598">
            <a:off x="9128292" y="3681031"/>
            <a:ext cx="1004473" cy="1305440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8DE3598-0159-FF48-A094-7CE23498A26E}"/>
              </a:ext>
            </a:extLst>
          </p:cNvPr>
          <p:cNvSpPr/>
          <p:nvPr/>
        </p:nvSpPr>
        <p:spPr>
          <a:xfrm>
            <a:off x="9207700" y="3743339"/>
            <a:ext cx="839087" cy="1180824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9D17201-71DF-B555-EE40-9F974476195D}"/>
              </a:ext>
            </a:extLst>
          </p:cNvPr>
          <p:cNvSpPr/>
          <p:nvPr/>
        </p:nvSpPr>
        <p:spPr>
          <a:xfrm rot="20181641">
            <a:off x="9250779" y="4860582"/>
            <a:ext cx="1539220" cy="787886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23E5BC2-941C-7C9C-E316-C6F6EF97807F}"/>
              </a:ext>
            </a:extLst>
          </p:cNvPr>
          <p:cNvSpPr/>
          <p:nvPr/>
        </p:nvSpPr>
        <p:spPr>
          <a:xfrm rot="19879802">
            <a:off x="10782640" y="4362955"/>
            <a:ext cx="711586" cy="785791"/>
          </a:xfrm>
          <a:prstGeom prst="ellipse">
            <a:avLst/>
          </a:prstGeom>
          <a:solidFill>
            <a:schemeClr val="accent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7BFDB94-0140-E2BB-7763-2576C5C76B7C}"/>
              </a:ext>
            </a:extLst>
          </p:cNvPr>
          <p:cNvSpPr/>
          <p:nvPr/>
        </p:nvSpPr>
        <p:spPr>
          <a:xfrm rot="3907502">
            <a:off x="9598743" y="4404481"/>
            <a:ext cx="878592" cy="1732778"/>
          </a:xfrm>
          <a:prstGeom prst="ellipse">
            <a:avLst/>
          </a:prstGeom>
          <a:solidFill>
            <a:schemeClr val="tx2">
              <a:lumMod val="60000"/>
              <a:lumOff val="40000"/>
              <a:alpha val="2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A4F45E1-D680-BE25-6AE6-AFAE73C259E0}"/>
              </a:ext>
            </a:extLst>
          </p:cNvPr>
          <p:cNvSpPr txBox="1"/>
          <p:nvPr/>
        </p:nvSpPr>
        <p:spPr>
          <a:xfrm>
            <a:off x="3581237" y="2263173"/>
            <a:ext cx="1798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2 sub-</a:t>
            </a:r>
            <a:r>
              <a:rPr lang="en-US" sz="2100" dirty="0" err="1"/>
              <a:t>pop’n</a:t>
            </a:r>
            <a:r>
              <a:rPr lang="en-US" sz="2100" dirty="0"/>
              <a:t>, 3 region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4AF19FB-31B5-828E-43DC-4810067E32C9}"/>
              </a:ext>
            </a:extLst>
          </p:cNvPr>
          <p:cNvSpPr txBox="1"/>
          <p:nvPr/>
        </p:nvSpPr>
        <p:spPr>
          <a:xfrm>
            <a:off x="9464147" y="2287913"/>
            <a:ext cx="1798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3 sub-</a:t>
            </a:r>
            <a:r>
              <a:rPr lang="en-US" sz="2100" dirty="0" err="1"/>
              <a:t>pop’n</a:t>
            </a:r>
            <a:r>
              <a:rPr lang="en-US" sz="2100" dirty="0"/>
              <a:t>, 3 region</a:t>
            </a:r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485C591B-E4D8-9EC5-AC9A-AD4AED5C7545}"/>
              </a:ext>
            </a:extLst>
          </p:cNvPr>
          <p:cNvSpPr/>
          <p:nvPr/>
        </p:nvSpPr>
        <p:spPr>
          <a:xfrm rot="5400000">
            <a:off x="4134445" y="3136506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row: Right 111">
            <a:extLst>
              <a:ext uri="{FF2B5EF4-FFF2-40B4-BE49-F238E27FC236}">
                <a16:creationId xmlns:a16="http://schemas.microsoft.com/office/drawing/2014/main" id="{5F6E65ED-2905-C544-463A-494FD9849730}"/>
              </a:ext>
            </a:extLst>
          </p:cNvPr>
          <p:cNvSpPr/>
          <p:nvPr/>
        </p:nvSpPr>
        <p:spPr>
          <a:xfrm rot="10800000">
            <a:off x="3174112" y="2528615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Right 113">
            <a:extLst>
              <a:ext uri="{FF2B5EF4-FFF2-40B4-BE49-F238E27FC236}">
                <a16:creationId xmlns:a16="http://schemas.microsoft.com/office/drawing/2014/main" id="{81FD27EE-6227-B36D-9C06-BA4291678BFA}"/>
              </a:ext>
            </a:extLst>
          </p:cNvPr>
          <p:cNvSpPr/>
          <p:nvPr/>
        </p:nvSpPr>
        <p:spPr>
          <a:xfrm rot="10800000">
            <a:off x="8985951" y="2553355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row: Right 115">
            <a:extLst>
              <a:ext uri="{FF2B5EF4-FFF2-40B4-BE49-F238E27FC236}">
                <a16:creationId xmlns:a16="http://schemas.microsoft.com/office/drawing/2014/main" id="{7FA6D632-F02C-4890-A5A0-2807F77A16FC}"/>
              </a:ext>
            </a:extLst>
          </p:cNvPr>
          <p:cNvSpPr/>
          <p:nvPr/>
        </p:nvSpPr>
        <p:spPr>
          <a:xfrm rot="5400000">
            <a:off x="9942183" y="3190142"/>
            <a:ext cx="399491" cy="20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C21FC285-DC00-4F27-023E-F541318BA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693" y="2483262"/>
            <a:ext cx="1540724" cy="154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8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333A-3CF8-C6BE-7FE8-C8A4A58C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E7F537-9023-BCF7-A5E8-9EB87C4D68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4B78AA-CB53-7290-FCF5-90EA51EA3C0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/>
              <a:t>Fitted data sources:</a:t>
            </a:r>
          </a:p>
          <a:p>
            <a:pPr lvl="1"/>
            <a:r>
              <a:rPr lang="en-US" sz="2600" dirty="0"/>
              <a:t>Catch: by season (A – Jan-Mar, B – Apr-Dec) and region (EBS, WGOA, CGOA)</a:t>
            </a:r>
          </a:p>
          <a:p>
            <a:pPr lvl="2"/>
            <a:r>
              <a:rPr lang="en-US" sz="2400" dirty="0"/>
              <a:t>Note: can only split back to 1991, set as model start year</a:t>
            </a:r>
          </a:p>
          <a:p>
            <a:pPr lvl="1"/>
            <a:r>
              <a:rPr lang="en-US" sz="2600" dirty="0"/>
              <a:t>Index: Summer bottom trawl survey by region</a:t>
            </a:r>
          </a:p>
          <a:p>
            <a:pPr lvl="2"/>
            <a:r>
              <a:rPr lang="en-US" sz="2200" dirty="0"/>
              <a:t>Note: Plan to add longline survey for GOA, mix of model-based (EBS) and design-based (GOA)</a:t>
            </a:r>
          </a:p>
          <a:p>
            <a:pPr lvl="1"/>
            <a:r>
              <a:rPr lang="en-US" sz="2400" dirty="0"/>
              <a:t>Composition: Age and length (when age not available) for fishery (seasonal) and survey (summer/B season)</a:t>
            </a:r>
          </a:p>
          <a:p>
            <a:pPr lvl="2"/>
            <a:r>
              <a:rPr lang="en-US" sz="2200" dirty="0"/>
              <a:t>Note: plus age-10+, 5 cm length bins</a:t>
            </a:r>
          </a:p>
        </p:txBody>
      </p:sp>
    </p:spTree>
    <p:extLst>
      <p:ext uri="{BB962C8B-B14F-4D97-AF65-F5344CB8AC3E}">
        <p14:creationId xmlns:p14="http://schemas.microsoft.com/office/powerpoint/2010/main" val="9017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5A89-370A-B243-DFDB-0BAD5DAE0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060528-E361-9252-2DF3-362FF4C0DC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0002AB-BB3C-737E-5F97-36EBAC66EB7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/>
              <a:t>Other data sources:</a:t>
            </a:r>
          </a:p>
          <a:p>
            <a:pPr lvl="1"/>
            <a:r>
              <a:rPr lang="en-US" sz="2600" dirty="0"/>
              <a:t>Growth: empirical weight/size-at-age, seasonal and regional</a:t>
            </a:r>
          </a:p>
          <a:p>
            <a:pPr lvl="2"/>
            <a:r>
              <a:rPr lang="en-US" sz="2000" dirty="0"/>
              <a:t>Notes: </a:t>
            </a:r>
          </a:p>
          <a:p>
            <a:pPr marL="1280140" lvl="3" indent="-457200">
              <a:buFont typeface="+mj-lt"/>
              <a:buAutoNum type="arabicPeriod"/>
            </a:pPr>
            <a:r>
              <a:rPr lang="en-US" sz="2000" dirty="0"/>
              <a:t>Time-invariant, looking into time-dependent for EBS</a:t>
            </a:r>
          </a:p>
          <a:p>
            <a:pPr marL="1280140" lvl="3" indent="-457200">
              <a:buFont typeface="+mj-lt"/>
              <a:buAutoNum type="arabicPeriod"/>
            </a:pPr>
            <a:r>
              <a:rPr lang="en-US" sz="2000" dirty="0"/>
              <a:t>Little data available in A season to inform growth, particularly in GOA. Used SS3 beginning of year estimate from operational assessments to offset summer (mid-year) data from survey</a:t>
            </a:r>
          </a:p>
          <a:p>
            <a:pPr lvl="1"/>
            <a:r>
              <a:rPr lang="en-US" sz="2600" dirty="0"/>
              <a:t>Maturity: taken directly from operational assessments (regional, WGOA = CGOA)</a:t>
            </a:r>
          </a:p>
          <a:p>
            <a:pPr lvl="1"/>
            <a:r>
              <a:rPr lang="en-US" sz="2600" dirty="0"/>
              <a:t>Ageing error: taken from assessments</a:t>
            </a:r>
          </a:p>
          <a:p>
            <a:pPr lvl="2"/>
            <a:r>
              <a:rPr lang="en-US" sz="2000" dirty="0"/>
              <a:t>Note: Ageing bias also implemented as in operational assessment, will discuss/explore regionally aggregated ageing error with collaborators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8552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EC90E-27A5-D730-DA44-F55A672E5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6B7FF1-DEBC-A2BE-4124-0278BC5161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12290E-3B31-DB2B-91C1-02BB4807595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Catch (by season):</a:t>
            </a:r>
            <a:endParaRPr lang="en-US" sz="22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EB4B480-0476-1C01-6C89-FF096A455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990"/>
            <a:ext cx="6543675" cy="443865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54747EC-BAF6-0E5B-69E0-EAF967B3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472" y="1678990"/>
            <a:ext cx="65436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4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0FD4-3232-ECC1-2246-57365DCE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01D86B-9BAB-ACBD-8400-4D7EEE275C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6BF800-7973-3315-EB9B-089B9E9DF6D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Bottom trawl survey index:</a:t>
            </a:r>
            <a:endParaRPr lang="en-US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5804C1-26C7-0B34-0B8D-3A22F26FF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62756"/>
            <a:ext cx="6543675" cy="4438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CDC785-35EB-3769-6858-D0DC96FA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62756"/>
            <a:ext cx="65436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7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DB85-B721-4EA2-44C7-AF58313F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5F0EFA-A9FA-4F12-7D34-EA1E26B379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77953A-514C-B16D-E5BB-36D9A6F447C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Fishery age comps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128E1A-28CE-79D1-2EF7-D19945E72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69" y="1769848"/>
            <a:ext cx="6543675" cy="44386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60547B-A662-7D42-A803-DBA0EA3AD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0" y="373191"/>
            <a:ext cx="4517168" cy="30640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527975-FB4B-81BD-1F03-997E71574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70" y="3231764"/>
            <a:ext cx="4517168" cy="306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7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5C0E-B349-BFBB-207C-0ACB8CEC3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64C640-94DD-6E11-6E3E-9746D55999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D2BCD6-E557-D3DB-4F2B-2E170E389E7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Survey age comps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B2D47-A7FC-854A-8D75-287457CD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1" y="1638042"/>
            <a:ext cx="6543675" cy="4438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AE4CF4-A0D5-1292-73D5-C20B01FB5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065" y="1638042"/>
            <a:ext cx="65436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2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449C9-9B22-B38C-78C1-F9254126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BF380B-30BB-CD27-C5E0-9FF4E3B19C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Data explorations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52A326-3F62-25C1-4913-FFAD2580E8A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Growth (survey)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160FE0-F135-EC0D-68CD-D104F8898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3946"/>
            <a:ext cx="6543675" cy="4438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7F1EA1-1242-C298-53EA-C7FED2326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03946"/>
            <a:ext cx="65436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2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34AF-E336-E6D4-AD4A-7350F967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8B1325-E035-2F29-5BBD-04B9032972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Next steps/Timeline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034970-B9D1-F370-86EC-008B0E5BF0C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700" dirty="0"/>
              <a:t>Next steps:</a:t>
            </a:r>
          </a:p>
          <a:p>
            <a:pPr lvl="1"/>
            <a:r>
              <a:rPr lang="en-US" sz="2400" dirty="0"/>
              <a:t>Continue to refine model/data assumptions</a:t>
            </a:r>
          </a:p>
          <a:p>
            <a:pPr lvl="1"/>
            <a:r>
              <a:rPr lang="en-US" sz="2400" dirty="0"/>
              <a:t>Build and evaluate cases of sub-populations/regions</a:t>
            </a:r>
          </a:p>
          <a:p>
            <a:pPr lvl="1"/>
            <a:r>
              <a:rPr lang="en-US" sz="2400" dirty="0"/>
              <a:t>Understand and explore results in comparison with operational assessments</a:t>
            </a:r>
          </a:p>
          <a:p>
            <a:pPr lvl="1"/>
            <a:r>
              <a:rPr lang="en-US" sz="2400" dirty="0"/>
              <a:t>Ultimate goal: construct MSE to explore consequences of alternative and status quo ABC/TAC apportionment between EBS/WGOA</a:t>
            </a:r>
          </a:p>
          <a:p>
            <a:r>
              <a:rPr lang="en-US" sz="3700" dirty="0"/>
              <a:t>Timeline</a:t>
            </a:r>
          </a:p>
          <a:p>
            <a:pPr lvl="1"/>
            <a:r>
              <a:rPr lang="en-US" sz="2400" dirty="0"/>
              <a:t>Present spatial model results 2027 Sept Plan Team</a:t>
            </a:r>
          </a:p>
          <a:p>
            <a:pPr lvl="1"/>
            <a:r>
              <a:rPr lang="en-US" sz="2400" dirty="0"/>
              <a:t>Conduct CIE review of spatial model and apportionment alternatives in Spring 2028</a:t>
            </a:r>
          </a:p>
          <a:p>
            <a:pPr lvl="1"/>
            <a:r>
              <a:rPr lang="en-US" sz="2400" dirty="0"/>
              <a:t>Present CIE results and potential apportionment alternatives in Fall 2028</a:t>
            </a:r>
          </a:p>
        </p:txBody>
      </p:sp>
    </p:spTree>
    <p:extLst>
      <p:ext uri="{BB962C8B-B14F-4D97-AF65-F5344CB8AC3E}">
        <p14:creationId xmlns:p14="http://schemas.microsoft.com/office/powerpoint/2010/main" val="310418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4590-C9AA-123E-80AE-7E42F236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FFD958-B3BE-7C95-2E62-62291D9FC0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Things to consider</a:t>
            </a:r>
            <a:br>
              <a:rPr lang="en-US" b="1" i="1" dirty="0">
                <a:solidFill>
                  <a:schemeClr val="accent4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8699D8-6481-4329-4EEB-C7E643A54160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91429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700" dirty="0"/>
              <a:t>Data limitations:</a:t>
            </a:r>
          </a:p>
          <a:p>
            <a:pPr lvl="1"/>
            <a:r>
              <a:rPr lang="en-US" sz="2400" dirty="0"/>
              <a:t>We have </a:t>
            </a:r>
            <a:r>
              <a:rPr lang="en-US" sz="2400" b="1" u="sng" dirty="0"/>
              <a:t>NO</a:t>
            </a:r>
            <a:r>
              <a:rPr lang="en-US" sz="2400" dirty="0"/>
              <a:t> index of abundance in the A season. Past explorations into fishery CPUE (particularly in WGOA) have proved fruitless. A season abundance is </a:t>
            </a:r>
            <a:r>
              <a:rPr lang="en-US" sz="2400" i="1" dirty="0"/>
              <a:t>inferred</a:t>
            </a:r>
            <a:r>
              <a:rPr lang="en-US" sz="2400" dirty="0"/>
              <a:t> from fits to tagging and fishery composition/catch data.</a:t>
            </a:r>
          </a:p>
          <a:p>
            <a:pPr lvl="1"/>
            <a:r>
              <a:rPr lang="en-US" sz="2400" dirty="0"/>
              <a:t>We have limited tagging data, both across space and time. </a:t>
            </a:r>
            <a:r>
              <a:rPr lang="en-US" sz="2400" b="1" u="sng" dirty="0"/>
              <a:t>NEED</a:t>
            </a:r>
            <a:r>
              <a:rPr lang="en-US" sz="2400" dirty="0"/>
              <a:t> consistent and reliable source of tagging data, particularly if we want to understand environmental influence on movement</a:t>
            </a:r>
          </a:p>
          <a:p>
            <a:r>
              <a:rPr lang="en-US" sz="3700" dirty="0"/>
              <a:t>Management conundrums</a:t>
            </a:r>
          </a:p>
          <a:p>
            <a:pPr lvl="1"/>
            <a:r>
              <a:rPr lang="en-US" sz="2400" dirty="0"/>
              <a:t>If operational model used to set ABC and spatial model used to inform apportionment: GOA TAC &gt; ABC? Increase in TAC </a:t>
            </a:r>
            <a:r>
              <a:rPr lang="en-US" sz="2400" u="sng" dirty="0"/>
              <a:t>must</a:t>
            </a:r>
            <a:r>
              <a:rPr lang="en-US" sz="2400" dirty="0"/>
              <a:t> be seasonal</a:t>
            </a:r>
          </a:p>
          <a:p>
            <a:pPr lvl="1"/>
            <a:r>
              <a:rPr lang="en-US" sz="2400" dirty="0"/>
              <a:t>Alternatively: if WGOA recommended to be incorporated within EBS assessment, cross-FMP complications to consider</a:t>
            </a:r>
          </a:p>
        </p:txBody>
      </p:sp>
    </p:spTree>
    <p:extLst>
      <p:ext uri="{BB962C8B-B14F-4D97-AF65-F5344CB8AC3E}">
        <p14:creationId xmlns:p14="http://schemas.microsoft.com/office/powerpoint/2010/main" val="416582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457200"/>
            <a:ext cx="10972800" cy="67627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chemeClr val="accent4">
                    <a:lumMod val="50000"/>
                  </a:schemeClr>
                </a:solidFill>
              </a:rPr>
              <a:t>Things to consider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idx="4294967295"/>
          </p:nvPr>
        </p:nvSpPr>
        <p:spPr>
          <a:xfrm>
            <a:off x="-1" y="1184833"/>
            <a:ext cx="11784933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800" dirty="0"/>
              <a:t>Range of options, from complex to simple:</a:t>
            </a:r>
          </a:p>
          <a:p>
            <a:pPr marL="731514" lvl="1" indent="-457200">
              <a:buFont typeface="+mj-lt"/>
              <a:buAutoNum type="arabicPeriod"/>
            </a:pP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Spatially and seasonally-explicit model that estimates movement</a:t>
            </a:r>
          </a:p>
          <a:p>
            <a:pPr marL="731514" lvl="1" indent="-457200">
              <a:buFont typeface="+mj-lt"/>
              <a:buAutoNum type="arabicPeriod"/>
            </a:pP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Single area BS|WGOA integrated model (w or w/o seasonality)</a:t>
            </a:r>
          </a:p>
          <a:p>
            <a:pPr marL="731514" lvl="1" indent="-457200">
              <a:buFont typeface="+mj-lt"/>
              <a:buAutoNum type="arabicPeriod"/>
            </a:pPr>
            <a:r>
              <a:rPr lang="en-US" sz="2400" b="1" dirty="0"/>
              <a:t>Ad hoc adjustment to current methodology informed by tagging</a:t>
            </a:r>
          </a:p>
          <a:p>
            <a:r>
              <a:rPr lang="en-US" sz="2600" dirty="0"/>
              <a:t>Simple example to get a feel for what magnitude we’re talking about: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24EDEF-603F-4FFC-944D-A0053499E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78723"/>
              </p:ext>
            </p:extLst>
          </p:nvPr>
        </p:nvGraphicFramePr>
        <p:xfrm>
          <a:off x="2443095" y="3606526"/>
          <a:ext cx="6898740" cy="2617470"/>
        </p:xfrm>
        <a:graphic>
          <a:graphicData uri="http://schemas.openxmlformats.org/drawingml/2006/table">
            <a:tbl>
              <a:tblPr/>
              <a:tblGrid>
                <a:gridCol w="1724685">
                  <a:extLst>
                    <a:ext uri="{9D8B030D-6E8A-4147-A177-3AD203B41FA5}">
                      <a16:colId xmlns:a16="http://schemas.microsoft.com/office/drawing/2014/main" val="2325942198"/>
                    </a:ext>
                  </a:extLst>
                </a:gridCol>
                <a:gridCol w="1724685">
                  <a:extLst>
                    <a:ext uri="{9D8B030D-6E8A-4147-A177-3AD203B41FA5}">
                      <a16:colId xmlns:a16="http://schemas.microsoft.com/office/drawing/2014/main" val="3741947748"/>
                    </a:ext>
                  </a:extLst>
                </a:gridCol>
                <a:gridCol w="1724685">
                  <a:extLst>
                    <a:ext uri="{9D8B030D-6E8A-4147-A177-3AD203B41FA5}">
                      <a16:colId xmlns:a16="http://schemas.microsoft.com/office/drawing/2014/main" val="2232932020"/>
                    </a:ext>
                  </a:extLst>
                </a:gridCol>
                <a:gridCol w="1724685">
                  <a:extLst>
                    <a:ext uri="{9D8B030D-6E8A-4147-A177-3AD203B41FA5}">
                      <a16:colId xmlns:a16="http://schemas.microsoft.com/office/drawing/2014/main" val="1126339039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% of BS biomass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Movement rate from WGOA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9852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% of BS biomass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014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2578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4.5%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6.7%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254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3.7%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5.7%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8.6%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3706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Avg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4.5%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6.8%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59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29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theme/theme1.xml><?xml version="1.0" encoding="utf-8"?>
<a:theme xmlns:a="http://schemas.openxmlformats.org/drawingml/2006/main" name="1_Custom Design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F5C8FAA9-5EB7-3D46-BE81-8455EDCF7A66}"/>
    </a:ext>
  </a:extLst>
</a:theme>
</file>

<file path=ppt/theme/theme2.xml><?xml version="1.0" encoding="utf-8"?>
<a:theme xmlns:a="http://schemas.openxmlformats.org/drawingml/2006/main" name="1_View">
  <a:themeElements>
    <a:clrScheme name="Fish-3-0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73F2B18F-E8E8-5A45-964F-331F96ECB487}"/>
    </a:ext>
  </a:extLst>
</a:theme>
</file>

<file path=ppt/theme/theme3.xml><?xml version="1.0" encoding="utf-8"?>
<a:theme xmlns:a="http://schemas.openxmlformats.org/drawingml/2006/main" name="6_View">
  <a:themeElements>
    <a:clrScheme name="Fish-3-0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822E0056-6089-D64B-89A5-96CDCA5B438C}"/>
    </a:ext>
  </a:extLst>
</a:theme>
</file>

<file path=ppt/theme/theme4.xml><?xml version="1.0" encoding="utf-8"?>
<a:theme xmlns:a="http://schemas.openxmlformats.org/drawingml/2006/main" name="2_Custom Design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CEF96C93-C78F-FF4A-9B9E-163920A75DC1}"/>
    </a:ext>
  </a:extLst>
</a:theme>
</file>

<file path=ppt/theme/theme5.xml><?xml version="1.0" encoding="utf-8"?>
<a:theme xmlns:a="http://schemas.openxmlformats.org/drawingml/2006/main" name="NOAA Title Option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2_View">
  <a:themeElements>
    <a:clrScheme name="Fish-3-0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73F2B18F-E8E8-5A45-964F-331F96ECB487}"/>
    </a:ext>
  </a:extLst>
</a:theme>
</file>

<file path=ppt/theme/theme9.xml><?xml version="1.0" encoding="utf-8"?>
<a:theme xmlns:a="http://schemas.openxmlformats.org/drawingml/2006/main" name="7_View">
  <a:themeElements>
    <a:clrScheme name="Fish-3-0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822E0056-6089-D64B-89A5-96CDCA5B438C}"/>
    </a:ext>
  </a:extLst>
</a:theme>
</file>

<file path=ppt/theme/theme10.xml><?xml version="1.0" encoding="utf-8"?>
<a:theme xmlns:a="http://schemas.openxmlformats.org/drawingml/2006/main" name="3_Custom Design">
  <a:themeElements>
    <a:clrScheme name="FISHERIES">
      <a:dk1>
        <a:srgbClr val="000000"/>
      </a:dk1>
      <a:lt1>
        <a:srgbClr val="FFFFFF"/>
      </a:lt1>
      <a:dk2>
        <a:srgbClr val="00467F"/>
      </a:dk2>
      <a:lt2>
        <a:srgbClr val="D3EAED"/>
      </a:lt2>
      <a:accent1>
        <a:srgbClr val="008998"/>
      </a:accent1>
      <a:accent2>
        <a:srgbClr val="4C9C2E"/>
      </a:accent2>
      <a:accent3>
        <a:srgbClr val="FF8300"/>
      </a:accent3>
      <a:accent4>
        <a:srgbClr val="615BC3"/>
      </a:accent4>
      <a:accent5>
        <a:srgbClr val="0093D0"/>
      </a:accent5>
      <a:accent6>
        <a:srgbClr val="FF4438"/>
      </a:accent6>
      <a:hlink>
        <a:srgbClr val="7F7FFF"/>
      </a:hlink>
      <a:folHlink>
        <a:srgbClr val="1ECAD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HERIES Slides Widescreen" id="{58E0E56D-1DB3-354A-951C-4F0649471FA2}" vid="{CEF96C93-C78F-FF4A-9B9E-163920A75DC1}"/>
    </a:ext>
  </a:extLst>
</a:theme>
</file>

<file path=ppt/theme/theme11.xml><?xml version="1.0" encoding="utf-8"?>
<a:theme xmlns:a="http://schemas.openxmlformats.org/drawingml/2006/main" name="1_NOAA Title Options">
  <a:themeElements>
    <a:clrScheme name="Custom 11">
      <a:dk1>
        <a:srgbClr val="000000"/>
      </a:dk1>
      <a:lt1>
        <a:srgbClr val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_NOAA Fisheries Content Slides">
  <a:themeElements>
    <a:clrScheme name="Custom 11">
      <a:dk1>
        <a:srgbClr val="000000"/>
      </a:dk1>
      <a:lt1>
        <a:srgbClr val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FISHERIES Slides Widescreen (1)</Template>
  <TotalTime>22240</TotalTime>
  <Words>995</Words>
  <Application>Microsoft Office PowerPoint</Application>
  <PresentationFormat>Widescreen</PresentationFormat>
  <Paragraphs>209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24</vt:i4>
      </vt:variant>
    </vt:vector>
  </HeadingPairs>
  <TitlesOfParts>
    <vt:vector size="41" baseType="lpstr">
      <vt:lpstr>Arial</vt:lpstr>
      <vt:lpstr>Arial Narrow</vt:lpstr>
      <vt:lpstr>Cambria</vt:lpstr>
      <vt:lpstr>Noto Sans Symbols</vt:lpstr>
      <vt:lpstr>Wingdings 2</vt:lpstr>
      <vt:lpstr>1_Custom Design</vt:lpstr>
      <vt:lpstr>1_View</vt:lpstr>
      <vt:lpstr>6_View</vt:lpstr>
      <vt:lpstr>2_Custom Design</vt:lpstr>
      <vt:lpstr>NOAA Title Options</vt:lpstr>
      <vt:lpstr>NOAA Fisheries Content Slides</vt:lpstr>
      <vt:lpstr>NOAA Divider Slides</vt:lpstr>
      <vt:lpstr>2_View</vt:lpstr>
      <vt:lpstr>7_View</vt:lpstr>
      <vt:lpstr>3_Custom Design</vt:lpstr>
      <vt:lpstr>1_NOAA Title Options</vt:lpstr>
      <vt:lpstr>1_NOAA Fisheries Content Slides</vt:lpstr>
      <vt:lpstr>Western GOA Pcod assessment research</vt:lpstr>
      <vt:lpstr>Outline</vt:lpstr>
      <vt:lpstr>What is SPoRC?</vt:lpstr>
      <vt:lpstr>Model/Data set up</vt:lpstr>
      <vt:lpstr>Model/Data set up</vt:lpstr>
      <vt:lpstr>Model/Data set up</vt:lpstr>
      <vt:lpstr>Model/Data set up</vt:lpstr>
      <vt:lpstr>Model/Data set up</vt:lpstr>
      <vt:lpstr>Model/Data set up</vt:lpstr>
      <vt:lpstr>Model/Data set up</vt:lpstr>
      <vt:lpstr>Model/Data set up</vt:lpstr>
      <vt:lpstr>Model/Data set up</vt:lpstr>
      <vt:lpstr>Model/Data scenarios</vt:lpstr>
      <vt:lpstr>Model/Data scenarios</vt:lpstr>
      <vt:lpstr>Data explorations</vt:lpstr>
      <vt:lpstr>Data explorations</vt:lpstr>
      <vt:lpstr>Data explorations</vt:lpstr>
      <vt:lpstr>Data explorations</vt:lpstr>
      <vt:lpstr>Data explorations</vt:lpstr>
      <vt:lpstr>Data explorations</vt:lpstr>
      <vt:lpstr>Data explorations</vt:lpstr>
      <vt:lpstr>Next steps/Timeline</vt:lpstr>
      <vt:lpstr>Things to consider </vt:lpstr>
      <vt:lpstr>Things to consider</vt:lpstr>
    </vt:vector>
  </TitlesOfParts>
  <Company>NOAA AFSC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differences</dc:title>
  <dc:creator>Pete.Hulson</dc:creator>
  <cp:lastModifiedBy>Pete.Hulson</cp:lastModifiedBy>
  <cp:revision>260</cp:revision>
  <dcterms:created xsi:type="dcterms:W3CDTF">2024-07-30T16:00:11Z</dcterms:created>
  <dcterms:modified xsi:type="dcterms:W3CDTF">2026-09-08T20:39:57Z</dcterms:modified>
</cp:coreProperties>
</file>